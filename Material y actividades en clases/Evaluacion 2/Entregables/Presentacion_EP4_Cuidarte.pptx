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Issues</c:v>
                </c:pt>
              </c:strCache>
            </c:strRef>
          </c:tx>
          <c:spPr>
            <a:solidFill>
              <a:srgbClr val="A9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2A25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3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8A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C6D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A9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</c:v>
                  </c:pt>
                  <c:pt idx="1">
                    <c:v>Major</c:v>
                  </c:pt>
                  <c:pt idx="2">
                    <c:v>Minor</c:v>
                  </c:pt>
                  <c:pt idx="3">
                    <c:v>Info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32</c:v>
                </c:pt>
                <c:pt idx="2">
                  <c:v>32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2A25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6D6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00:00–00:20 · Portada.
Buenos días. Somos Benjamín Ibáñez y Gerardo Vera González. Presentamos la auditoría de calidad, seguridad y cumplimiento normativo de Cuidarte+, ejecutada sobre el módulo de pacientes y los controles que protegen los datos clínicos.
El resultado central está a la vista: ocho casos ejecutados, siete aprobados y un fallo reproducible. La línea que cruza la portada no es decorativa: es la evidencia del CP006, un token que sigue funcionando después del logout.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00:20–00:55 · El caso.
Cuidarte+ es una plataforma para centros de salud: pacientes, exámenes y documentos clínicos. No auditamos toda la plataforma: priorizamos el registro de pacientes y la cadena de controles que lo rodea.
Los tres roles del ERS son la base del modelo de autorización: admin con acceso total, médico con información clínica y paciente solo lectura. Si un control de rol falla, falla la separación entre esos mundos.
Dato para preguntas: el alcance se declara explícitamente para no convertir una prueba acotada en una promesa de seguridad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00:55–01:55 · Estrategia.
La estrategia no fue probar todo: fue ordenar por riesgo. La matriz cruza impacto y probabilidad. Los riesgos del Plan Maestro son RS-01 escalación de JWT, RS-02 fuga de datos clínicos, RS-03 lentitud por el delay de cinco segundos y RS-04 auditoría incompleta.
Ese orden explica por qué seguridad e integridad pesan más que una cobertura funcional amplia: Cuidarte+ trata datos sensibles de salud, y la Ley 19.628 exige confidencialidad mientras la Ley 20.584 exige control y trazabilidad de la ficha. La ejecución combina revisión manual contra OWASP, análisis estático y evidencia reproducible en Docker con PostgreSQL.
Si preguntan por carga: no se simularon 200 usuarios; se declara como trabajo futuro, no se inventa.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01:55–02:50 · Tipos de prueba, primera parte.
Este slide responde al 38% de la rúbrica: qué tipos se aplicaron, de dónde salen y qué impacto tienen. No elegimos técnicas al azar: cada bloque nace de un requisito y de un riesgo.
Funcional: cuatro casos sobre el registro de pacientes, con positivo, negativo, duplicado y borde. Seguridad: tres casos sobre JWT, logout y RBAC. Integridad: un caso de carga y descarga con SHA-256. Estático: SonarQube sobre 10.133 líneas.
La frase final es importante: no vendemos cobertura total; vendemos cobertura priorizada y declarada.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02:50–03:45 · Tipos de prueba, segunda parte.
Aquí está el impacto real de cada tipo. Funcional detecta datos inválidos antes de que lleguen a la base. Seguridad detecta que un token reutilizado sigue dando 200 y que un paciente no puede modificar un examen, que sí funciona con 403. Integridad demuestra que el archivo subido y el descargado tienen el mismo SHA-256. Estático encuentra 73 issues, ocho críticos.
También declaro lo que no se probó: carga, usabilidad y DAST. Y lo digo con una frase que vale para toda la defensa: no probado no es aprobado.
Pregunta probable: ¿por qué los tiempos son de cinco segundos? Por el middleware delay de cinco segundos del backend, que se aplica a pacientes, exámenes y documentos. Por eso no los uso como aprobación de rendimiento.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03:45–04:30 · Trazabilidad.
Este es el slide que responde a la cobertura: siete requisitos priorizados del ERS, ocho casos y evidencia archivada para los cuatro casos formales. Hay una distinción honesta: cuatro RQ tienen caso formal y tres se verificaron por observación, revisión de código o prueba manual.
RQ-04, tiempos, se observa con CP007 y CP008. RQ-05, auditoría, se revisa en el código (insert en pacientes.js) y se apoya en CP001. RQ-06, RUT, se prueba manualmente y se documenta como H-03, sin captura archivada.
Cobertura de requisitos no es cobertura de código. SonarQube marca 0,0% de cobertura automatizada y eso también es un hallazgo de calidad.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04:30–05:10 · Herramientas.
Cada herramienta tiene una función distinta. Docker Compose permite reproducir el entorno; Swagger/OpenAPI da el contrato; curl y Postman capturan la evidencia; PostgreSQL permite verificar el efecto real, por ejemplo que el intento de CP007 no cambió la base; SonarQube hace el análisis estático.
No usamos ZAP. Lo digo antes de que lo pregunten: no se ejecutó y queda como trabajo futuro. Es más honesto declararlo que presentar un escaneo que no existe.
Si preguntan por SonarQube: versión 9.9.8, perfil OWASP, 10.133 líneas, Quality Gate OK, aunque el gate no tenía condiciones configuradas.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05:10–06:00 · Ejecución.
Dos jornadas. El 6 de octubre ejecutamos CP001 a CP004: registro válido, email inválido, duplicado y borde de nombre. Cuatro pass. El 16 de octubre ejecutamos CP005 a CP008: login, reuso de token, RBAC e integridad documental, más SonarQube. Tres pass y un fail.
La captura de la izquierda es CP003: el formulario muestra el error y la red confirma 400. La tarjeta roja es CP006: después del logout, el token anterior sigue devolviendo 200 con la lista completa de pacientes. Ese es el fallo que sostiene el veredicto condicionado.
Pregunta probable: ¿el fail es del cliente o del servidor? Del servidor: no hay lista de revocación ni invalidación del token; el logout solo elimina el token del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06:00–07:10 · Hallazgos.
Siete hallazgos, clasificados con una escala explícita: crítico, grave, moderado y leve. El crítico es H-01: las contraseñas se guardan y comparan en texto plano en auth.js, líneas 21 y 110. Eso incumple la Ley 19.628 y OWASP A02.
H-02 es el JWT sin revocación y con secreto por defecto; CP006 lo confirma. H-03 es el RUT sin dígito verificador: acepta 21.437.351-4 aunque el DV real es 3. H-04 es latente: express.static sirve /files/documentos sin autenticación.
H-05, H-06 y H-07 son moderados y leve: delay de cinco segundos, CORS abierto y mensajes internos expuestos. La clasificación no es decorativa: define qué se corrige antes de producción.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07:10–08:00 · SonarQube frente al marco legal.</a:t>
            </a:r>
          </a:p>
          <a:p/>
          <a:p>
            <a:r>
              <a:t>El Quality Gate está en verde, aunque el gate no tenía condiciones configuradas: ese verde certifica que el análisis corrió, no que se superaran umbrales. Eso suele leerse como "todo bien", pero el propio SonarQube muestra 73 issues, ocho críticos, 0,0% de cobertura y 465 minutos de deuda. Y no ve las contraseñas en texto plano ni la revocación de sesión, porque son fallos de diseño, no patrones que su motor detecte.</a:t>
            </a:r>
          </a:p>
          <a:p/>
          <a:p>
            <a:r>
              <a:t>Por eso el slide cruza cada hallazgo con la norma: H-01 y H-02 con OWASP A02/A07 y la Ley 19.628; H-03 con la Ley 20.584; H-04 con OWASP A01 y la Ley 19.628. La ausencia de cobertura se cruza con ISO 25010.</a:t>
            </a:r>
          </a:p>
          <a:p/>
          <a:p>
            <a:r>
              <a:t>La frase final es la tesis: SonarQube mide patrones; la ley exige deberes.</a:t>
            </a:r>
          </a:p>
          <a:p/>
          <a:p>
            <a:r>
              <a:t>PUNTERO (no leer completo): las 25 incidencias priorizadas (SQ-01 a SQ-25) están en la secc. 5.4 y el Anexo B del informe; mencionar la cifra y ofrecer el informe si se pide detalle; solo nombrar top 3 si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08:00–08:50 · Reflexiones.
Este slide separa lo que funcionó de lo que no. En calidad, RBAC, validaciones y auditoría responden; la brecha es deuda técnica: 73 issues y 14,5% de duplicación. En seguridad, JWT y roles bloquean accesos indebidos; la brecha es H-01 y CP006. En lo normativo, la auditoría y la trazabilidad existen; la Ley 19.628 se incumple en H-01, H-02 y H-04. En lo ético, reportamos el fail y declaramos lo que no probamos.
La frase de cierre es la que quiero dejar: una auditoría se mide por lo que revela, no por lo que confirma.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08:50–09:20 · Veredicto y cierre de la presentación.
El veredicto es GO CONDICIONADO. El sistema puede seguir en desarrollo y puede usarse en un entorno controlado, pero no pasa a producción con datos reales hasta corregir cuatro cosas: hash de contraseñas, revocación de JWT y secreto por entorno, validación del dígito verificador del RUT y autenticación en /files/documentos.
Cada acción tiene un criterio de aceptación verificable. No decimos "mejorar la seguridad"; decimos qué se corrige y cómo se comprueba.
Si H-01 a H-04 no se corrigen, el veredicto cambia a NO-GO. Con datos clínicos, la seguridad es un deber de cuidado, no un ítem de checklist.
[Cierre a los 09:40, con 20 segundos de margen. Los anexos quedan para preguntas.]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09:20–09:40 · Cierre. Agradecer y abrir preguntas. Si la pregunta es de detalle, saltar al anexo correspondiente: A casos, B SonarQube, C normativa, D evidencias.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A. Detalle de los ocho casos, su requisito, tipo, resultado y archivo de evidencia. Usar si preguntan por un caso específico o por la nomenclatura.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Anexo B. Métricas completas de SonarQube y los ocho issues críticos S3776 con su complejidad. Si preguntan por qué el gate pasa con 0% de cobertura: el proyecto no tenía condiciones configuradas en el gate, así que el verde no equivale a una auditoría integral; la cobertura ausente se reporta como brecha.</a:t>
            </a:r>
          </a:p>
          <a:p/>
          <a:p>
            <a:r>
              <a:t>PUNTERO: la tabla muestra solo las 8 críticas con su ID SQ del informe; el resto de las 25 priorizadas está fichado en el Anexo B del informe (código y JSON). Detalle completo de las 73 en Grupo1_SonarQube_issues.json.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C. Marco normativo y mapeo con los hallazgos. La aclaración final es importante: somos estudiantes de ingeniería, no abogados; esto es una lectura técnica, no asesoría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D. Inventario de evidencias: 28 archivos, 6 capturas PNG, 15 JSON, 6 TXT y 1 PDF. La convención permite ubicar caso, vista y resultado sin abrir la bitácora. Si preguntan por una evidencia puntual, se puede mostrar el archivo en el explorador.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82296" cy="82296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93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ISY1102 · EVALUACIÓN PARCIAL 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9052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Verificando la calidad,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seguridad y el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9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cumplimiento normativo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63931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DC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técnica de Cuidarte+ · Módulo de pacientes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566928" y="437083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spc="15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566928" y="4590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Ibáñez · Gerardo Vera González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21608" y="437083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spc="15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FECHA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3721608" y="4590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76288" y="437083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spc="15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ALCANCE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876288" y="4590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· 7 pass · 1 fail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48840" y="50109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b="1" spc="90" kern="0" dirty="0">
                <a:solidFill>
                  <a:srgbClr val="E07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CP006 · SESIÓN NO REVOCADA</a:t>
            </a:r>
            <a:endParaRPr lang="en-US" sz="740" dirty="0"/>
          </a:p>
        </p:txBody>
      </p:sp>
      <p:pic>
        <p:nvPicPr>
          <p:cNvPr id="13" name="Image 0" descr="C:\Users\ibane\AppData\Local\Temp\opencode\ec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376672"/>
            <a:ext cx="11055096" cy="84124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17</a:t>
            </a:r>
            <a:endParaRPr lang="en-US" sz="7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CONTEXTO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Cuidarte+ concentra datos clínicos; la auditoría se enfocó en la puerta de entrada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17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566928" y="1664208"/>
            <a:ext cx="5806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Cuidarte+ gestiona pacientes, exámenes y documentos clínicos. El módulo auditado fue el registro de pacientes (POST /pacientes), junto con los controles que protegen esos datos: autenticación, autorización, validación e integridad.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1488"/>
            <a:ext cx="566928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1178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</a:t>
            </a:r>
            <a:endParaRPr lang="en-US" sz="740" dirty="0"/>
          </a:p>
        </p:txBody>
      </p:sp>
      <p:sp>
        <p:nvSpPr>
          <p:cNvPr id="10" name="Shape 8"/>
          <p:cNvSpPr/>
          <p:nvPr/>
        </p:nvSpPr>
        <p:spPr>
          <a:xfrm>
            <a:off x="1243584" y="2761488"/>
            <a:ext cx="658368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2811780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RBAC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2011680" y="2761488"/>
            <a:ext cx="1508760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3976" y="2811780"/>
            <a:ext cx="1344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/pacientes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3630168" y="2761488"/>
            <a:ext cx="960120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2811780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Exámenes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4700016" y="2761488"/>
            <a:ext cx="1078992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28117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Documentos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566928" y="3127248"/>
            <a:ext cx="932688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" y="317754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Auditoría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1609344" y="3127248"/>
            <a:ext cx="1078992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31775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2798064" y="3127248"/>
            <a:ext cx="1371600" cy="265176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80360" y="3177540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566928" y="367588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SUPERFICIE AUDITADA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566928" y="39502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10.133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566928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código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029968" y="39502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2029968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93008" y="39502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3493008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56048" y="39502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500" dirty="0"/>
          </a:p>
        </p:txBody>
      </p:sp>
      <p:sp>
        <p:nvSpPr>
          <p:cNvPr id="32" name="Text 30"/>
          <p:cNvSpPr/>
          <p:nvPr/>
        </p:nvSpPr>
        <p:spPr>
          <a:xfrm>
            <a:off x="4956048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5074920"/>
            <a:ext cx="5806440" cy="960120"/>
          </a:xfrm>
          <a:prstGeom prst="roundRect">
            <a:avLst>
              <a:gd name="adj" fmla="val 2381"/>
            </a:avLst>
          </a:prstGeom>
          <a:solidFill>
            <a:srgbClr val="F6E8CD"/>
          </a:solidFill>
          <a:ln w="7620">
            <a:solidFill>
              <a:srgbClr val="F6E8C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31520" y="51937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2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ALCANCE DECLARADO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731520" y="5422392"/>
            <a:ext cx="5468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Docker del equipo, datos de prueba y módulo de pacientes. No es una auditoría de infraestructura ni de dispositivos médicos.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20840" y="16276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TRES ROLES, TRES LÍMITES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6720840" y="1901952"/>
            <a:ext cx="4892040" cy="118872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903720" y="2066544"/>
            <a:ext cx="402336" cy="402336"/>
          </a:xfrm>
          <a:prstGeom prst="ellipse">
            <a:avLst/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037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43216" y="2048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43216" y="232257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RB-2 · acceso total</a:t>
            </a:r>
            <a:endParaRPr lang="en-US" sz="710" dirty="0"/>
          </a:p>
        </p:txBody>
      </p:sp>
      <p:sp>
        <p:nvSpPr>
          <p:cNvPr id="42" name="Text 40"/>
          <p:cNvSpPr/>
          <p:nvPr/>
        </p:nvSpPr>
        <p:spPr>
          <a:xfrm>
            <a:off x="7443216" y="25603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2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usuarios y ve todos los módulos.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720840" y="3227832"/>
            <a:ext cx="4892040" cy="118872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903720" y="3392424"/>
            <a:ext cx="402336" cy="402336"/>
          </a:xfrm>
          <a:prstGeom prst="ellipse">
            <a:avLst/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03720" y="345643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443216" y="3374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43216" y="364845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RB-3 · información clínica</a:t>
            </a:r>
            <a:endParaRPr lang="en-US" sz="710" dirty="0"/>
          </a:p>
        </p:txBody>
      </p:sp>
      <p:sp>
        <p:nvSpPr>
          <p:cNvPr id="48" name="Text 46"/>
          <p:cNvSpPr/>
          <p:nvPr/>
        </p:nvSpPr>
        <p:spPr>
          <a:xfrm>
            <a:off x="7443216" y="3886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2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exámenes y documentos de sus pacientes.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6720840" y="4553712"/>
            <a:ext cx="4892040" cy="118872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903720" y="4718304"/>
            <a:ext cx="402336" cy="402336"/>
          </a:xfrm>
          <a:prstGeom prst="ellipse">
            <a:avLst/>
          </a:prstGeom>
          <a:solidFill>
            <a:srgbClr val="DCEBE5"/>
          </a:solidFill>
          <a:ln w="12700">
            <a:solidFill>
              <a:srgbClr val="DCEB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03720" y="47823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7443216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Paciente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443216" y="497433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RB-1 · solo lectura</a:t>
            </a:r>
            <a:endParaRPr lang="en-US" sz="710" dirty="0"/>
          </a:p>
        </p:txBody>
      </p:sp>
      <p:sp>
        <p:nvSpPr>
          <p:cNvPr id="54" name="Text 52"/>
          <p:cNvSpPr/>
          <p:nvPr/>
        </p:nvSpPr>
        <p:spPr>
          <a:xfrm>
            <a:off x="7443216" y="52120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2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únicamente su propia información.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ESTRATEGIA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Priorizar por riesgo, no por cobertura aparente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17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PROBABILIDAD ↑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4160520" y="5486400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IMPACTO →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566928" y="1847088"/>
            <a:ext cx="3099816" cy="1760220"/>
          </a:xfrm>
          <a:prstGeom prst="rect">
            <a:avLst/>
          </a:prstGeom>
          <a:solidFill>
            <a:srgbClr val="F6E8CD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193852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MONITOREAR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666744" y="1847088"/>
            <a:ext cx="3099816" cy="1760220"/>
          </a:xfrm>
          <a:prstGeom prst="rect">
            <a:avLst/>
          </a:prstGeom>
          <a:solidFill>
            <a:srgbClr val="F5DD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193852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CRÍTICO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66928" y="3607308"/>
            <a:ext cx="3099816" cy="1760220"/>
          </a:xfrm>
          <a:prstGeom prst="rect">
            <a:avLst/>
          </a:prstGeom>
          <a:solidFill>
            <a:srgbClr val="EDF4F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" y="369874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ACEPTAR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66744" y="3607308"/>
            <a:ext cx="3099816" cy="1760220"/>
          </a:xfrm>
          <a:prstGeom prst="rect">
            <a:avLst/>
          </a:prstGeom>
          <a:solidFill>
            <a:srgbClr val="DCEBE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6472" y="369874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VIGILAR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675888" y="2103120"/>
            <a:ext cx="157276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2157984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30" kern="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RS-01 · Escalación JWT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3767328" y="2688336"/>
            <a:ext cx="157276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2743200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30" kern="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RS-02 · Fuga de datos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1600200" y="2834640"/>
            <a:ext cx="148132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73352" y="2889504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30" kern="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RS-03 · Lentitud 5 s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2734056" y="3877056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3931920"/>
            <a:ext cx="115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30" kern="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RS-04 · Auditoría</a:t>
            </a:r>
            <a:endParaRPr lang="en-US" sz="710" dirty="0"/>
          </a:p>
        </p:txBody>
      </p:sp>
      <p:sp>
        <p:nvSpPr>
          <p:cNvPr id="25" name="Text 23"/>
          <p:cNvSpPr/>
          <p:nvPr/>
        </p:nvSpPr>
        <p:spPr>
          <a:xfrm>
            <a:off x="7315200" y="16642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4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EJECUTÓ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7315200" y="193852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54112" y="19202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 contra OWASP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754112" y="21579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Contrato, validaciones y controles de acceso.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265176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54112" y="26334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con SonarQube 9.9.8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54112" y="28712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10.133 líneas, perfil OWASP, Quality Gate.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336499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54112" y="3346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reproducible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754112" y="35844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PostgreSQL + request/response.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315200" y="4224528"/>
            <a:ext cx="4279392" cy="786384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461504" y="430682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b="1" spc="10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CRITERIO DE ENTRADA</a:t>
            </a:r>
            <a:endParaRPr lang="en-US" sz="690" dirty="0"/>
          </a:p>
        </p:txBody>
      </p:sp>
      <p:sp>
        <p:nvSpPr>
          <p:cNvPr id="37" name="Text 35"/>
          <p:cNvSpPr/>
          <p:nvPr/>
        </p:nvSpPr>
        <p:spPr>
          <a:xfrm>
            <a:off x="7461504" y="451713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levantado, datos de prueba y token por rol.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315200" y="5102352"/>
            <a:ext cx="4279392" cy="786384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61504" y="518464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b="1" spc="10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CRITERIO DE SALIDA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7461504" y="53949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ejecutados, evidencia archivada y 7 hallazgos clasificados.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TIPOS DE PRUEBA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tipo nace de un requisito y de un riesgo concreto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17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5358384" cy="1975104"/>
          </a:xfrm>
          <a:prstGeom prst="roundRect">
            <a:avLst>
              <a:gd name="adj" fmla="val 115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" y="1883664"/>
            <a:ext cx="1737360" cy="228600"/>
          </a:xfrm>
          <a:prstGeom prst="roundRect">
            <a:avLst>
              <a:gd name="adj" fmla="val 16000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2024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FUNCIONAL · 4 CASOS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768096" y="2212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y validación de entrada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68096" y="25603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 de equivalencia y valores límite sobre los campos del paciente.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b="1" spc="4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RQ-07 · RF-2 · CP001–CP004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768096" y="3291840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3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positivo · negativo · duplicado · borde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6053328" y="1700784"/>
            <a:ext cx="5358384" cy="1975104"/>
          </a:xfrm>
          <a:prstGeom prst="roundRect">
            <a:avLst>
              <a:gd name="adj" fmla="val 115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54496" y="1883664"/>
            <a:ext cx="1737360" cy="228600"/>
          </a:xfrm>
          <a:prstGeom prst="roundRect">
            <a:avLst>
              <a:gd name="adj" fmla="val 16000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192024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SEGURIDAD · 3 CASOS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6254496" y="2212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Autenticación, sesión y autorización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254496" y="25603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revocación tras logout y control de rol sobre exámenes.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54496" y="3054096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b="1" spc="4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RQ-01/02 · NFR-SEG-4/9 · CP005–CP007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6254496" y="3291840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3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válido · revocado · rol paciente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66928" y="3858768"/>
            <a:ext cx="5358384" cy="1975104"/>
          </a:xfrm>
          <a:prstGeom prst="roundRect">
            <a:avLst>
              <a:gd name="adj" fmla="val 115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68096" y="4041648"/>
            <a:ext cx="1737360" cy="228600"/>
          </a:xfrm>
          <a:prstGeom prst="roundRect">
            <a:avLst>
              <a:gd name="adj" fmla="val 16000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4078224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INTEGRIDAD · 1 CASO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768096" y="43708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y descarga de documentos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68096" y="47183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byte a byte con SHA-256 y medición de tiempos.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68096" y="5212080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b="1" spc="4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RQ-03 · RF-4.2/4.3 · CP008</a:t>
            </a:r>
            <a:endParaRPr lang="en-US" sz="730" dirty="0"/>
          </a:p>
        </p:txBody>
      </p:sp>
      <p:sp>
        <p:nvSpPr>
          <p:cNvPr id="27" name="Text 25"/>
          <p:cNvSpPr/>
          <p:nvPr/>
        </p:nvSpPr>
        <p:spPr>
          <a:xfrm>
            <a:off x="768096" y="5449824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3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subida 201 · descarga 200 · hash igual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6053328" y="3858768"/>
            <a:ext cx="5358384" cy="1975104"/>
          </a:xfrm>
          <a:prstGeom prst="roundRect">
            <a:avLst>
              <a:gd name="adj" fmla="val 115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54496" y="4041648"/>
            <a:ext cx="1417320" cy="228600"/>
          </a:xfrm>
          <a:prstGeom prst="roundRect">
            <a:avLst>
              <a:gd name="adj" fmla="val 16000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4078224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ESTÁTICO · SAST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6254496" y="43708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estático con SonarQube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254496" y="47183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cognitiva, duplicación y malas prácticas en 10.133 líneas.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54496" y="5212080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b="1" spc="4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ISO/IEC 25010 · NFR-SEG-1…9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6254496" y="5449824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spc="3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issues · 8 críticos · QG OK</a:t>
            </a:r>
            <a:endParaRPr lang="en-US" sz="710" dirty="0"/>
          </a:p>
        </p:txBody>
      </p:sp>
      <p:sp>
        <p:nvSpPr>
          <p:cNvPr id="35" name="Text 33"/>
          <p:cNvSpPr/>
          <p:nvPr/>
        </p:nvSpPr>
        <p:spPr>
          <a:xfrm>
            <a:off x="566928" y="60167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selección fue proporcional al riesgo del módulo, no una cobertura exhaustiva de toda la plataforma.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TIPOS DE PRUEBA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detecta cada tipo — y qué quedó fuera de alcance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17</a:t>
            </a:r>
            <a:endParaRPr lang="en-US" sz="7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77266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148840"/>
                <a:gridCol w="2240280"/>
                <a:gridCol w="1920240"/>
              </a:tblGrid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8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Defecto que detecta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Evidencia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Funcional</a:t>
                      </a:r>
                      <a:endParaRPr lang="en-US" sz="88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 inválidos, duplicados y límites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CP002/003/004 → 400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 registros corruptos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Seguridad</a:t>
                      </a:r>
                      <a:endParaRPr lang="en-US" sz="88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reutilizable y rol indebido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CP006 → 200 · CP007 → 403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no autorizado a datos clínicos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Integridad</a:t>
                      </a:r>
                      <a:endParaRPr lang="en-US" sz="88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Pérdida o alteración de archivos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CP008 → SHA-256 idéntico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 clínico no confiable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Estático</a:t>
                      </a:r>
                      <a:endParaRPr lang="en-US" sz="88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Complejidad, duplicación y malas prácticas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issues · 8 críticos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y riesgo de mantenimiento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737360"/>
            <a:ext cx="3072384" cy="2084832"/>
          </a:xfrm>
          <a:prstGeom prst="roundRect">
            <a:avLst>
              <a:gd name="adj" fmla="val 1096"/>
            </a:avLst>
          </a:prstGeom>
          <a:solidFill>
            <a:srgbClr val="F6E8CD"/>
          </a:solidFill>
          <a:ln w="7620">
            <a:solidFill>
              <a:srgbClr val="F6E8C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05088" y="18653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FUERA DE ALCANCE</a:t>
            </a:r>
            <a:endParaRPr lang="en-US" sz="710" dirty="0"/>
          </a:p>
        </p:txBody>
      </p:sp>
      <p:sp>
        <p:nvSpPr>
          <p:cNvPr id="10" name="Text 7"/>
          <p:cNvSpPr/>
          <p:nvPr/>
        </p:nvSpPr>
        <p:spPr>
          <a:xfrm>
            <a:off x="8705088" y="21031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Carga con 200 usuarios</a:t>
            </a:r>
            <a:endParaRPr lang="en-US" sz="92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Usabilidad con pacientes reales</a:t>
            </a:r>
            <a:endParaRPr lang="en-US" sz="92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DAST con OWASP ZAP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8705088" y="3072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8A5E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probado ≠ aprobado.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549640" y="4005072"/>
            <a:ext cx="3072384" cy="141732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705088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TIEMPOS OBSERVADOS</a:t>
            </a:r>
            <a:endParaRPr lang="en-US" sz="710" dirty="0"/>
          </a:p>
        </p:txBody>
      </p:sp>
      <p:sp>
        <p:nvSpPr>
          <p:cNvPr id="14" name="Text 11"/>
          <p:cNvSpPr/>
          <p:nvPr/>
        </p:nvSpPr>
        <p:spPr>
          <a:xfrm>
            <a:off x="8705088" y="4343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CP007 · 5.036 ms</a:t>
            </a:r>
            <a:endParaRPr lang="en-US" sz="78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CP008 · 5.050 ms subida</a:t>
            </a:r>
            <a:endParaRPr lang="en-US" sz="78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ms descarga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8705088" y="5047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delay de 5 s distorsiona la medición.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549640" y="55961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tiempos no se usan como criterio de aprobación: se reportan como observación.</a:t>
            </a:r>
            <a:endParaRPr lang="en-US" sz="8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TRAZABILIDAD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requisitos priorizados, ocho casos: cobertura completa con distinto nivel de evidencia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17</a:t>
            </a:r>
            <a:endParaRPr lang="en-US" sz="73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8156448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468880"/>
                <a:gridCol w="267004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de evidencia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RQ-01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 y sesión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formal · CP005–CP006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RF-1, NFR-SEG-9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RQ-02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acceso por rol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formal · CP007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RB-1..3, NFR-SEG-4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RQ-03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Exámenes y documentos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formal · CP008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RF-3, RF-4.3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RQ-04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y concurrencia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· CP007/CP008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NFR-PERF-1..3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RQ-05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de acciones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840">
                          <a:solidFill>
                            <a:srgbClr val="1A2A25"/>
                          </a:solidFill>
                          <a:latin typeface="Calibri"/>
                        </a:rPr>
                        <a:t>Revisión + CP001</a:t>
                      </a: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RF-5.1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RQ-06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 con dígito verificador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840">
                          <a:solidFill>
                            <a:srgbClr val="1A2A25"/>
                          </a:solidFill>
                          <a:latin typeface="Calibri"/>
                        </a:rPr>
                        <a:t>Prueba manual · H-03</a:t>
                      </a: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 RUT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123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RQ-07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pacientes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formal · CP001–CP004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RF-2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942832" y="1810512"/>
            <a:ext cx="2679192" cy="786384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089136" y="1920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00584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con caso formal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8942832" y="2743200"/>
            <a:ext cx="2679192" cy="786384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089136" y="28529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0058400" y="29260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con verificación directa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8942832" y="3675888"/>
            <a:ext cx="2679192" cy="786384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089136" y="378561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0058400" y="385876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cubiertos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8942832" y="4681728"/>
            <a:ext cx="2679192" cy="1280160"/>
          </a:xfrm>
          <a:prstGeom prst="roundRect">
            <a:avLst>
              <a:gd name="adj" fmla="val 1786"/>
            </a:avLst>
          </a:prstGeom>
          <a:solidFill>
            <a:srgbClr val="F6E8CD"/>
          </a:solidFill>
          <a:ln w="7620">
            <a:solidFill>
              <a:srgbClr val="F6E8C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079992" y="4800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DE REQUISITOS,</a:t>
            </a:r>
            <a:endParaRPr lang="en-US" sz="680" dirty="0"/>
          </a:p>
          <a:p>
            <a:pPr algn="l" indent="0" marL="0">
              <a:buNone/>
            </a:pPr>
            <a:r>
              <a:rPr lang="en-US" sz="68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DE CÓDIGO</a:t>
            </a:r>
            <a:endParaRPr lang="en-US" sz="680" dirty="0"/>
          </a:p>
        </p:txBody>
      </p:sp>
      <p:sp>
        <p:nvSpPr>
          <p:cNvPr id="19" name="Text 16"/>
          <p:cNvSpPr/>
          <p:nvPr/>
        </p:nvSpPr>
        <p:spPr>
          <a:xfrm>
            <a:off x="9079992" y="5266944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6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reporta 0,0% de cobertura automatizada.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566928" y="58064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RQ sin caso formal se verificaron por revisión de código o prueba manual: RQ-05 con CP001 y RQ-06 sin captura archivada.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HERRAMIENTAS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herramientas, una razón por cada una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17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566928" y="1792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" y="17373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999232" y="17556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el entorno completo: frontend, backend y PostgreSQL.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6928" y="261518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78992" y="2560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 / OpenAPI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999232" y="257860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el contrato real de cada endpoint antes de probarlo.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566928" y="343814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8992" y="33832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curl / Postman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99232" y="34015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request y response como evidencia reproducible.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426110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78992" y="4206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99232" y="42245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el efecto real de una petición en la base de datos.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66928" y="508406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8992" y="5029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SonarQube 9.9.8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2999232" y="504748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con perfil OWASP sobre 10.133 líneas de código.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001000" y="1737360"/>
            <a:ext cx="3621024" cy="2029968"/>
          </a:xfrm>
          <a:prstGeom prst="roundRect">
            <a:avLst>
              <a:gd name="adj" fmla="val 1126"/>
            </a:avLst>
          </a:prstGeom>
          <a:solidFill>
            <a:srgbClr val="F6E8CD"/>
          </a:solidFill>
          <a:ln w="7620">
            <a:solidFill>
              <a:srgbClr val="F6E8C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56448" y="186537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NO ZAP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8156448" y="2103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ZAP no se ejecutó en esta iteración. Se declara como trabajo futuro, no como resultado.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156448" y="30815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0" i="1" dirty="0">
                <a:solidFill>
                  <a:srgbClr val="8A5E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hallazgo no observado no se convierte en un hallazgo inexistente.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8001000" y="3968496"/>
            <a:ext cx="3621024" cy="1298448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56448" y="40873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ENTORNO</a:t>
            </a:r>
            <a:endParaRPr lang="en-US" sz="710" dirty="0"/>
          </a:p>
        </p:txBody>
      </p:sp>
      <p:sp>
        <p:nvSpPr>
          <p:cNvPr id="28" name="Text 26"/>
          <p:cNvSpPr/>
          <p:nvPr/>
        </p:nvSpPr>
        <p:spPr>
          <a:xfrm>
            <a:off x="8156448" y="431596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</a:t>
            </a:r>
            <a:endParaRPr lang="en-US" sz="82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15</a:t>
            </a:r>
            <a:endParaRPr lang="en-US" sz="82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A2A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SonarQube 9.9.8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8001000" y="5559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evidencia quedó archivada con nombre, caso y resultado.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EJECUCIÓN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jornadas, ocho casos y evidencia por cada 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17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566928" y="162763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9848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28416" y="162763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83133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89904" y="162763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9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51392" y="162763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354312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bloqueados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2331720"/>
            <a:ext cx="5394960" cy="841248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24505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OCT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09928" y="2432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CP001–CP004 · 4 Pass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09928" y="26974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pacientes y validación de entrada.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989320" y="2331720"/>
            <a:ext cx="5632704" cy="841248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53912" y="24505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OCT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32320" y="243230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CP005–CP008 · 3 Pass / 1 Fail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69748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Sesión, RBAC, integridad y análisis estático.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21208" y="3456432"/>
            <a:ext cx="5138928" cy="2651760"/>
          </a:xfrm>
          <a:prstGeom prst="roundRect">
            <a:avLst>
              <a:gd name="adj" fmla="val 862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pic>
        <p:nvPicPr>
          <p:cNvPr id="24" name="Image 0" descr="C:\Users\ibane\Desktop\Seg. y Calidad\cuidarte-plus-calidad-seguridad-isy1102\Mis_Entregables\U2.3_Ejecucion\Evidencias\Grupo1_CP003_Duplicado_400_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502152"/>
            <a:ext cx="5047488" cy="2560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66928" y="61447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spc="6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CP003 · duplicado → 400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5989320" y="3456432"/>
            <a:ext cx="5632704" cy="1371600"/>
          </a:xfrm>
          <a:prstGeom prst="roundRect">
            <a:avLst>
              <a:gd name="adj" fmla="val 1667"/>
            </a:avLst>
          </a:prstGeom>
          <a:solidFill>
            <a:srgbClr val="F5DDD9"/>
          </a:solidFill>
          <a:ln w="7620">
            <a:solidFill>
              <a:srgbClr val="F5DDD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144768" y="35661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spc="11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CP006 · FAIL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6144768" y="3767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token sobrevive al logout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144768" y="409651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" spc="2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endpoint de logout · token previo aceptado (200) · esperado: 401</a:t>
            </a:r>
            <a:endParaRPr lang="en-US" sz="740" dirty="0"/>
          </a:p>
        </p:txBody>
      </p:sp>
      <p:sp>
        <p:nvSpPr>
          <p:cNvPr id="30" name="Text 27"/>
          <p:cNvSpPr/>
          <p:nvPr/>
        </p:nvSpPr>
        <p:spPr>
          <a:xfrm>
            <a:off x="6144768" y="437083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sesión solo borra el token en el navegador; el servidor lo sigue aceptando.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5989320" y="4956048"/>
            <a:ext cx="5632704" cy="1133856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144768" y="5056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IMPLICA</a:t>
            </a:r>
            <a:endParaRPr lang="en-US" sz="710" dirty="0"/>
          </a:p>
        </p:txBody>
      </p:sp>
      <p:sp>
        <p:nvSpPr>
          <p:cNvPr id="33" name="Text 30"/>
          <p:cNvSpPr/>
          <p:nvPr/>
        </p:nvSpPr>
        <p:spPr>
          <a:xfrm>
            <a:off x="6144768" y="5276088"/>
            <a:ext cx="5230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atacante con un token robado conserva acceso a la lista de pacientes después de que la víctima cierre sesión. Incumple NFR-SEG-9 y OWASP A07.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HALLAZGOS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hallazgos: 1 crítico, 3 graves, 2 moderados y 1 leve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17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2670048" cy="566928"/>
          </a:xfrm>
          <a:prstGeom prst="roundRect">
            <a:avLst>
              <a:gd name="adj" fmla="val 4032"/>
            </a:avLst>
          </a:prstGeom>
          <a:solidFill>
            <a:srgbClr val="F5DDD9"/>
          </a:solidFill>
          <a:ln w="7620">
            <a:solidFill>
              <a:srgbClr val="F5DDD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4088" y="1737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2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CRÍTICO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578608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2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55848" y="1645920"/>
            <a:ext cx="2670048" cy="566928"/>
          </a:xfrm>
          <a:prstGeom prst="roundRect">
            <a:avLst>
              <a:gd name="adj" fmla="val 4032"/>
            </a:avLst>
          </a:prstGeom>
          <a:solidFill>
            <a:srgbClr val="F6E8CD"/>
          </a:solidFill>
          <a:ln w="7620">
            <a:solidFill>
              <a:srgbClr val="F6E8C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93008" y="1737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2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67528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A5E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44768" y="1645920"/>
            <a:ext cx="2670048" cy="566928"/>
          </a:xfrm>
          <a:prstGeom prst="roundRect">
            <a:avLst>
              <a:gd name="adj" fmla="val 4032"/>
            </a:avLst>
          </a:prstGeom>
          <a:solidFill>
            <a:srgbClr val="DCEBE5"/>
          </a:solidFill>
          <a:ln w="7620">
            <a:solidFill>
              <a:srgbClr val="DCEBE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81928" y="1737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2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MODERADO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56448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33688" y="1645920"/>
            <a:ext cx="2670048" cy="566928"/>
          </a:xfrm>
          <a:prstGeom prst="roundRect">
            <a:avLst>
              <a:gd name="adj" fmla="val 4032"/>
            </a:avLst>
          </a:prstGeom>
          <a:solidFill>
            <a:srgbClr val="EDF4F0"/>
          </a:solidFill>
          <a:ln w="7620">
            <a:solidFill>
              <a:srgbClr val="EDF4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0848" y="17373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945368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C6D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2395728"/>
            <a:ext cx="5358384" cy="1225296"/>
          </a:xfrm>
          <a:prstGeom prst="roundRect">
            <a:avLst>
              <a:gd name="adj" fmla="val 1866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25146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b="1" spc="110" kern="0" dirty="0">
                <a:solidFill>
                  <a:srgbClr val="B2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CRÍTICO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731520" y="27249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H-01 · Contraseñas en texto plano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731520" y="30540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spc="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auth.js:21 · auth.js:110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731520" y="32918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Cualquiera con acceso a la base de datos obtiene credenciales legibles.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6053328" y="2395728"/>
            <a:ext cx="5358384" cy="1225296"/>
          </a:xfrm>
          <a:prstGeom prst="roundRect">
            <a:avLst>
              <a:gd name="adj" fmla="val 1866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17920" y="25146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b="1" spc="11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GRAVE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6217920" y="27249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H-02 · JWT sin revocación ni secreto propio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6217920" y="30540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spc="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auth.js:8, :44–55 · docker-compose.yml:35</a:t>
            </a:r>
            <a:endParaRPr lang="en-US" sz="690" dirty="0"/>
          </a:p>
        </p:txBody>
      </p:sp>
      <p:sp>
        <p:nvSpPr>
          <p:cNvPr id="28" name="Text 26"/>
          <p:cNvSpPr/>
          <p:nvPr/>
        </p:nvSpPr>
        <p:spPr>
          <a:xfrm>
            <a:off x="6217920" y="32918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robado sigue vivo después del logout (CP006).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566928" y="3767328"/>
            <a:ext cx="5358384" cy="1225296"/>
          </a:xfrm>
          <a:prstGeom prst="roundRect">
            <a:avLst>
              <a:gd name="adj" fmla="val 1866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1520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b="1" spc="11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GRAVE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731520" y="4096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H-03 · RUT sin dígito verificador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731520" y="44256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spc="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validations/pacientes.js:8 · utils/rut.js:5–8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731520" y="46634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21.437.351-4; el dígito real es 3.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6053328" y="3767328"/>
            <a:ext cx="5358384" cy="1225296"/>
          </a:xfrm>
          <a:prstGeom prst="roundRect">
            <a:avLst>
              <a:gd name="adj" fmla="val 1866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17920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b="1" spc="11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GRAVE · LATENTE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6217920" y="4096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H-04 · Documentos servidos sin autenticación</a:t>
            </a:r>
            <a:endParaRPr lang="en-US" sz="1280" dirty="0"/>
          </a:p>
        </p:txBody>
      </p:sp>
      <p:sp>
        <p:nvSpPr>
          <p:cNvPr id="37" name="Text 35"/>
          <p:cNvSpPr/>
          <p:nvPr/>
        </p:nvSpPr>
        <p:spPr>
          <a:xfrm>
            <a:off x="6217920" y="44256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" spc="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app.js:43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6217920" y="46634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almacenaran en disco, cualquiera con la URL accedería sin sesión.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566928" y="5193792"/>
            <a:ext cx="3584448" cy="896112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04088" y="52852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10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MODERADO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704088" y="54772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H-05 · Delay de 5 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5733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middleware/delay.js:5 · aplicado a pacientes, exámenes y documentos.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4288536" y="5193792"/>
            <a:ext cx="3584448" cy="896112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425696" y="52852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10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MODERADO</a:t>
            </a:r>
            <a:endParaRPr lang="en-US" sz="660" dirty="0"/>
          </a:p>
        </p:txBody>
      </p:sp>
      <p:sp>
        <p:nvSpPr>
          <p:cNvPr id="45" name="Text 43"/>
          <p:cNvSpPr/>
          <p:nvPr/>
        </p:nvSpPr>
        <p:spPr>
          <a:xfrm>
            <a:off x="4425696" y="54772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H-06 · CORS abierto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425696" y="5733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app.js:21 · cualquier origen puede llamar la API.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8010144" y="5193792"/>
            <a:ext cx="3584448" cy="896112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52852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10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8147304" y="54772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H-07 · Errores internos expuestos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147304" y="5733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auth.js:67 · documentos.js:115 · err.message en la respuesta.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ANÁLISIS ESTÁTICO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Quality Gate está en verde; el cumplimiento legal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17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566928" y="1664208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4944" y="180136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QG OK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94944" y="223113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23744" y="1664208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51760" y="180136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23113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80560" y="1664208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08576" y="1801368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08576" y="223113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66928" y="2688336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4944" y="282549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2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4944" y="32552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23744" y="2688336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651760" y="282549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E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2552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480560" y="2688336"/>
            <a:ext cx="1828800" cy="9144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8576" y="2825496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608576" y="325526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de deuda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1627632"/>
            <a:ext cx="5221224" cy="2331720"/>
          </a:xfrm>
          <a:prstGeom prst="roundRect">
            <a:avLst>
              <a:gd name="adj" fmla="val 980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547104" y="173736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2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POR SEVERIDAD</a:t>
            </a:r>
            <a:endParaRPr lang="en-US" sz="71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510528" y="1938528"/>
          <a:ext cx="49834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33088"/>
          <a:ext cx="11055096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743200"/>
                <a:gridCol w="6894576"/>
              </a:tblGrid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Hallazgo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es un incumplimiento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H-01 / H-02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A02/A07 · Ley 19.628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Credenciales y sesiones sin protección suficiente para datos sensibles de salud.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H-03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20.584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ficha clínica se identifica con un RUT que puede ser inválido.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H-04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A01 · Ley 19.628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clínicos accesibles sin control de acceso.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0,0% cobertura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Mantenibilidad y confiabilidad no verificadas por pruebas automatizadas.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5"/>
          <p:cNvSpPr/>
          <p:nvPr/>
        </p:nvSpPr>
        <p:spPr>
          <a:xfrm>
            <a:off x="566928" y="5989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8A5E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mide patrones; la ley exige deberes. 0 vulnerabilidades automáticas no significa 0 riesgos reales.</a:t>
            </a:r>
            <a:endParaRPr lang="en-US" sz="1050" dirty="0"/>
          </a:p>
        </p:txBody>
      </p:sp>
      <p:sp>
        <p:nvSpPr>
          <p:cNvPr id="30" name="TextBox 29"/>
          <p:cNvSpPr txBox="1"/>
          <p:nvPr/>
        </p:nvSpPr>
        <p:spPr>
          <a:xfrm>
            <a:off x="6510528" y="3712463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10" b="1">
                <a:solidFill>
                  <a:srgbClr val="5C6D67"/>
                </a:solidFill>
                <a:latin typeface="Courier New"/>
              </a:rPr>
              <a:t>25 PRIORIZADAS · FICHAS EN SECC. 5.4 + ANEXO B DEL INFORME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REFLEXIONES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funcionó, lo que falló y lo que decidimos no ocultar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17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566928" y="1664208"/>
            <a:ext cx="5358384" cy="1591056"/>
          </a:xfrm>
          <a:prstGeom prst="roundRect">
            <a:avLst>
              <a:gd name="adj" fmla="val 143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1810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219456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280160" y="217627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RBAC, validaciones y auditoría responden.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68096" y="259689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BRECHA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1371600" y="25786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issues y 14,5% de duplicación.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768096" y="299008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spc="4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CP001–CP008 · SonarQube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6053328" y="1664208"/>
            <a:ext cx="5358384" cy="1591056"/>
          </a:xfrm>
          <a:prstGeom prst="roundRect">
            <a:avLst>
              <a:gd name="adj" fmla="val 143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54496" y="1810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54496" y="219456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6766560" y="217627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y roles bloquean accesos indebidos.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254496" y="259689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BRECHA</a:t>
            </a:r>
            <a:endParaRPr lang="en-US" sz="660" dirty="0"/>
          </a:p>
        </p:txBody>
      </p:sp>
      <p:sp>
        <p:nvSpPr>
          <p:cNvPr id="19" name="Text 17"/>
          <p:cNvSpPr/>
          <p:nvPr/>
        </p:nvSpPr>
        <p:spPr>
          <a:xfrm>
            <a:off x="6858000" y="25786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H-01 y CP006: credenciales y sesión.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254496" y="299008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spc="4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CP005–CP007</a:t>
            </a:r>
            <a:endParaRPr lang="en-US" sz="680" dirty="0"/>
          </a:p>
        </p:txBody>
      </p:sp>
      <p:sp>
        <p:nvSpPr>
          <p:cNvPr id="21" name="Shape 19"/>
          <p:cNvSpPr/>
          <p:nvPr/>
        </p:nvSpPr>
        <p:spPr>
          <a:xfrm>
            <a:off x="566928" y="3456432"/>
            <a:ext cx="5358384" cy="1591056"/>
          </a:xfrm>
          <a:prstGeom prst="roundRect">
            <a:avLst>
              <a:gd name="adj" fmla="val 143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Normativo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68096" y="3986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280160" y="396849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y trazabilidad de acciones.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768096" y="43891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BRECHA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371600" y="43708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19.628 incumplida en H-01/H-02/H-04.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768096" y="478231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spc="4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Ley 19.628 · Ley 20.584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6053328" y="3456432"/>
            <a:ext cx="5358384" cy="1591056"/>
          </a:xfrm>
          <a:prstGeom prst="roundRect">
            <a:avLst>
              <a:gd name="adj" fmla="val 143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54496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Ético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54496" y="3986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6766560" y="396849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Fail se reporta con evidencia.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254496" y="438912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8A5E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BRECHA</a:t>
            </a:r>
            <a:endParaRPr lang="en-US" sz="660" dirty="0"/>
          </a:p>
        </p:txBody>
      </p:sp>
      <p:sp>
        <p:nvSpPr>
          <p:cNvPr id="33" name="Text 31"/>
          <p:cNvSpPr/>
          <p:nvPr/>
        </p:nvSpPr>
        <p:spPr>
          <a:xfrm>
            <a:off x="6858000" y="43708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DAST y carga; se declara, no se omite.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6254496" y="478231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spc="4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Bitácora + 28 evidencias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66928" y="5321808"/>
            <a:ext cx="11055096" cy="749808"/>
          </a:xfrm>
          <a:prstGeom prst="roundRect">
            <a:avLst>
              <a:gd name="adj" fmla="val 3049"/>
            </a:avLst>
          </a:prstGeom>
          <a:solidFill>
            <a:srgbClr val="123B33"/>
          </a:solidFill>
          <a:ln w="7620">
            <a:solidFill>
              <a:srgbClr val="123B33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22960" y="55138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utilidad de una auditoría se mide por lo que revela, no por lo que confirma.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VEREDICTO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CONDICIONADO: cuatro correcciones antes de producción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17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4462272" cy="4315968"/>
          </a:xfrm>
          <a:prstGeom prst="roundRect">
            <a:avLst>
              <a:gd name="adj" fmla="val 530"/>
            </a:avLst>
          </a:prstGeom>
          <a:solidFill>
            <a:srgbClr val="123B33"/>
          </a:solidFill>
          <a:ln w="7620">
            <a:solidFill>
              <a:srgbClr val="123B33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0" b="1" spc="15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VEREDICTO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841248" y="22128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</a:t>
            </a:r>
            <a:endParaRPr lang="en-US" sz="28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CONDICIONADO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41248" y="3246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C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H-01 a H-04 no se corrigen, el veredicto es NO-GO.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8862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9FD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Alcance: módulo de pacientes y controles asociados.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841248" y="50749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producción, no después de un incidente.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58384" y="1700784"/>
            <a:ext cx="6263640" cy="941832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504688" y="181051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25312" y="1810512"/>
            <a:ext cx="566928" cy="201168"/>
          </a:xfrm>
          <a:prstGeom prst="roundRect">
            <a:avLst>
              <a:gd name="adj" fmla="val 18182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98464" y="1847088"/>
            <a:ext cx="420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H-01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6620256" y="179222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contraseñas con bcrypt o argon2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0256" y="21305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contraseña legible en la base de datos.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358384" y="2752344"/>
            <a:ext cx="6263640" cy="941832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04688" y="2862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25312" y="2862072"/>
            <a:ext cx="566928" cy="201168"/>
          </a:xfrm>
          <a:prstGeom prst="roundRect">
            <a:avLst>
              <a:gd name="adj" fmla="val 18182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2898648"/>
            <a:ext cx="420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H-02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6620256" y="284378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Revocación de JWT y secreto por entorno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0256" y="318211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inválido tras logout; sin secreto por defecto.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5358384" y="3803904"/>
            <a:ext cx="6263640" cy="941832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504688" y="391363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25312" y="3913632"/>
            <a:ext cx="566928" cy="201168"/>
          </a:xfrm>
          <a:prstGeom prst="roundRect">
            <a:avLst>
              <a:gd name="adj" fmla="val 18182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98464" y="3950208"/>
            <a:ext cx="420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H-03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6620256" y="389534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Dígito verificador de RUT (módulo 11)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0256" y="42336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21.437.351-4 rechazado; 21.437.351-3 aceptado.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5358384" y="4855464"/>
            <a:ext cx="6263640" cy="941832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7620">
            <a:solidFill>
              <a:srgbClr val="D7E0DB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504688" y="49651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8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925312" y="4965192"/>
            <a:ext cx="566928" cy="201168"/>
          </a:xfrm>
          <a:prstGeom prst="roundRect">
            <a:avLst>
              <a:gd name="adj" fmla="val 18182"/>
            </a:avLst>
          </a:prstGeom>
          <a:solidFill>
            <a:srgbClr val="EDF4F0"/>
          </a:solidFill>
          <a:ln w="12700">
            <a:solidFill>
              <a:srgbClr val="EDF4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98464" y="5001768"/>
            <a:ext cx="420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" b="1" spc="80" kern="0" dirty="0">
                <a:solidFill>
                  <a:srgbClr val="123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H-04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6620256" y="494690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en /files/documentos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20256" y="52852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sin sesión → 401.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5358384" y="5989320"/>
            <a:ext cx="6263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19.628 y 20.584: con datos clínicos, la seguridad es un deber de cuidado, no un ítem de checklist.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82296" cy="82296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931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calidad no termina en un gate verde.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9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 cuando el sistema protege a quien confía en él.</a:t>
            </a:r>
            <a:endParaRPr lang="en-US" sz="3200" dirty="0"/>
          </a:p>
        </p:txBody>
      </p:sp>
      <p:pic>
        <p:nvPicPr>
          <p:cNvPr id="5" name="Image 0" descr="C:\Users\ibane\AppData\Local\Temp\opencode\ec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58768"/>
            <a:ext cx="11055096" cy="841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074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 Preguntas.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66928" y="54681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C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Ibáñez · Gerardo Vera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5760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9FD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A–D disponibles para trazabilidad, métricas, normativa y evidencias.</a:t>
            </a:r>
            <a:endParaRPr lang="en-US" sz="860" dirty="0"/>
          </a:p>
        </p:txBody>
      </p:sp>
      <p:sp>
        <p:nvSpPr>
          <p:cNvPr id="9" name="Text 6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10" name="Text 7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17</a:t>
            </a:r>
            <a:endParaRPr lang="en-US" sz="7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A · CASOS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Ocho casos, un resultado por caso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17</a:t>
            </a:r>
            <a:endParaRPr lang="en-US" sz="73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11055096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68680"/>
                <a:gridCol w="1828800"/>
                <a:gridCol w="1234440"/>
                <a:gridCol w="6300216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Caso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Evidencia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RQ-07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 positivo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Grupo1_CP001_Front_201_Pass.png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CP002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RQ-07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 negativo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Grupo1_CP002_Backend_400_Pass.png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CP003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RQ-07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Duplicado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Grupo1_CP003_Duplicado_400_Pass.png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RQ-07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límite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Grupo1_CP004_Backend_400_Pass.png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CP005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· login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Grupo1_CP005_Login_200.json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CP006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· logout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B23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D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Grupo1_CP006_Reuso_token_tras_logout_200.json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RQ-02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· RBAC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Grupo1_CP007_PUT_403.json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CP008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RQ-03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Grupo1_CP008_Integridad_y_tiempo.txt</a:t>
                      </a:r>
                      <a:endParaRPr lang="en-US" sz="7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943600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archivos están en Mis_Entregables/U2.3_Ejecucion/Evidencias/.</a:t>
            </a:r>
            <a:endParaRPr lang="en-US" sz="8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B · SONARQUBE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detalle detrás del Quality Gate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17</a:t>
            </a:r>
            <a:endParaRPr lang="en-US" sz="73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4663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Líneas de código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10.133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Vulnerabilidades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0,0%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Duplicación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14,5%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técnica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8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465 min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029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</a:t>
            </a:r>
            <a:endParaRPr lang="en-US" sz="710" dirty="0"/>
          </a:p>
        </p:txBody>
      </p:sp>
      <p:sp>
        <p:nvSpPr>
          <p:cNvPr id="9" name="Text 6"/>
          <p:cNvSpPr/>
          <p:nvPr/>
        </p:nvSpPr>
        <p:spPr>
          <a:xfrm>
            <a:off x="566928" y="52303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 A · Seguridad A · Confiabilidad C</a:t>
            </a:r>
            <a:endParaRPr lang="en-US" sz="92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700784"/>
          <a:ext cx="5998464" cy="914400"/>
        </p:xfrm>
        <a:graphic>
          <a:graphicData uri="http://schemas.openxmlformats.org/drawingml/2006/table">
            <a:tbl>
              <a:tblPr/>
              <a:tblGrid>
                <a:gridCol w="4443984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Archivo:línea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Complejidad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SQ-08 · UsuarioForm.jsx:173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39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SQ-06 · ExamenForm.jsx:47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33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SQ-04 · users.js:283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27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SQ-05 · users.js:437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SQ-07 · PacienteForm.jsx:21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SQ-02 · pacientes.js:48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SQ-03 · pacientes.js:276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SQ-01 · auth.js:71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</a:t>
                      </a:r>
                      <a:endParaRPr lang="en-US" sz="84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23560" y="5257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ocho críticos (SQ-01 a SQ-08) son S3776: complejidad cognitiva alta. Top 3: SQ-08 (39), SQ-06 (33), SQ-04 (27).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23560" y="55321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5E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Quality Gate evalúa las condiciones configuradas; no equivale a una auditoría de seguridad.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566928" y="5577840"/>
            <a:ext cx="4617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C6D67"/>
                </a:solidFill>
                <a:latin typeface="Calibri"/>
              </a:rPr>
              <a:t>Las 25 incidencias priorizadas (SQ-01 a SQ-25) están documentadas en la sección 5.4 y el Anexo B del informe, con explicación en español, código real y 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C · MARCO NORMATIVO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exige la norma y dónde falla Cuidarte+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17</a:t>
            </a:r>
            <a:endParaRPr lang="en-US" sz="73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11055096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  <a:gridCol w="4745736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</a:t>
                      </a:r>
                      <a:endParaRPr lang="en-US" sz="82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exige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se incumple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Ley 19.628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Proteger datos personales sensibles, confidencialidad y seguridad.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H-01, H-02 y H-04: credenciales, sesión y documentos.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Ley 20.584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 de la ficha clínica y acceso controlado y trazado.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H-02 y H-03: sesión no revocada; RUT inválido.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OWASP A01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Controlar el acceso a recursos y funciones.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860">
                          <a:solidFill>
                            <a:srgbClr val="1A2A25"/>
                          </a:solidFill>
                          <a:latin typeface="Calibri"/>
                        </a:rPr>
                        <a:t>H-04: /files/documentos sin autenticación.</a:t>
                      </a: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OWASP A02/A07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Proteger credenciales y sesiones.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H-01/H-02: texto plano y JWT sin revocación.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b="1" dirty="0">
                          <a:solidFill>
                            <a:srgbClr val="1A2A2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ISO/IEC 25010 · NFR-SEG-8/9</a:t>
                      </a:r>
                      <a:endParaRPr lang="en-US" sz="86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verificable y cumplimiento normativo.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1A2A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0,0% cobertura y controles de sesión incompletos.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8064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no constituye asesoría legal: es una lectura técnica del ERS y de la normativa chilena aplicable.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77724" cy="77724"/>
          </a:xfrm>
          <a:prstGeom prst="rect">
            <a:avLst/>
          </a:prstGeom>
          <a:solidFill>
            <a:srgbClr val="C98A1E"/>
          </a:solidFill>
          <a:ln w="12700">
            <a:solidFill>
              <a:srgbClr val="C98A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0" kern="0" dirty="0">
                <a:solidFill>
                  <a:srgbClr val="5C6D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 D · EVIDENCIAS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11057839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2A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archivos, una convención y trazabilidad por caso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547104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Cuidarte+ · Auditoría de calidad y seguridad</a:t>
            </a:r>
            <a:endParaRPr lang="en-US" sz="730" dirty="0"/>
          </a:p>
        </p:txBody>
      </p:sp>
      <p:sp>
        <p:nvSpPr>
          <p:cNvPr id="6" name="Text 4"/>
          <p:cNvSpPr/>
          <p:nvPr/>
        </p:nvSpPr>
        <p:spPr>
          <a:xfrm>
            <a:off x="10561320" y="6547104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spc="60" kern="0" dirty="0">
                <a:solidFill>
                  <a:srgbClr val="8A9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17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566928" y="1627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07008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3328416" y="1627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968496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089904" y="1627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729984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8851392" y="1627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491472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+ PDF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66928" y="2395728"/>
            <a:ext cx="4892040" cy="2651760"/>
          </a:xfrm>
          <a:prstGeom prst="roundRect">
            <a:avLst>
              <a:gd name="adj" fmla="val 862"/>
            </a:avLst>
          </a:prstGeom>
          <a:solidFill>
            <a:srgbClr val="123B33"/>
          </a:solidFill>
          <a:ln w="7620">
            <a:solidFill>
              <a:srgbClr val="123B33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8096" y="256032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10" b="1" spc="110" kern="0" dirty="0">
                <a:solidFill>
                  <a:srgbClr val="9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CONVENCIÓN DE NOMBRE</a:t>
            </a:r>
            <a:endParaRPr lang="en-US" sz="710" dirty="0"/>
          </a:p>
        </p:txBody>
      </p:sp>
      <p:sp>
        <p:nvSpPr>
          <p:cNvPr id="17" name="Text 15"/>
          <p:cNvSpPr/>
          <p:nvPr/>
        </p:nvSpPr>
        <p:spPr>
          <a:xfrm>
            <a:off x="768096" y="28529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Grupo1_&lt;CP&gt;_&lt;vista&gt;_&lt;resultado&gt;.&lt;ext&gt;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768096" y="3310128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780" dirty="0">
                <a:solidFill>
                  <a:srgbClr val="DCEB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Grupo1_CP001_Front_201_Pass.png</a:t>
            </a:r>
            <a:endParaRPr lang="en-US" sz="78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780" dirty="0">
                <a:solidFill>
                  <a:srgbClr val="DCEB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Grupo1_CP006_Reuso_token_tras_logout_200.json</a:t>
            </a:r>
            <a:endParaRPr lang="en-US" sz="78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780" dirty="0">
                <a:solidFill>
                  <a:srgbClr val="DCEB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Grupo1_CP008_Integridad_y_tiempo.txt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768096" y="45720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40" dirty="0">
                <a:solidFill>
                  <a:srgbClr val="9FD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Caso, vista, resultado y extensión: la evidencia se puede ubicar sin abrir la bitácora.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95728"/>
          <a:ext cx="581558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11680"/>
                <a:gridCol w="2203704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Grupo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Archivos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Qué demuestra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B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CP001–CP004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6 PNG + request/response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Validación funcional y duplicado.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CP005–CP007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JSON + TXT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Login, logout y RBAC.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CP008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PDF + TXT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Integridad documental y tiempos.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SonarQube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5 JSON/TXT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2A25"/>
                          </a:solidFill>
                        </a:rPr>
                        <a:t>Análisis estático y Quality Gate.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806440" y="539496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i="1" dirty="0">
                <a:solidFill>
                  <a:srgbClr val="5C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completa está en U2.3_Ejecucion/Bitacora_Ejecucion_2.3_Cuidarte.docx.</a:t>
            </a:r>
            <a:endParaRPr lang="en-US" sz="860" dirty="0"/>
          </a:p>
        </p:txBody>
      </p:sp>
      <p:sp>
        <p:nvSpPr>
          <p:cNvPr id="22" name="Text 19"/>
          <p:cNvSpPr/>
          <p:nvPr/>
        </p:nvSpPr>
        <p:spPr>
          <a:xfrm>
            <a:off x="5806440" y="566928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23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resultado Pass o Fail tiene al menos un archivo asociado.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ISY1102 · Seguridad y Calidad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Cuidarte+ · Auditoría de calidad, seguridad y cumplimiento normativo</dc:title>
  <dc:subject>Evaluación Parcial 4 · Presentación</dc:subject>
  <dc:creator>Benjamín Ibáñez · Gerardo Vera</dc:creator>
  <cp:lastModifiedBy>Benjamín Ibáñez · Gerardo Vera</cp:lastModifiedBy>
  <cp:revision>1</cp:revision>
  <dcterms:created xsi:type="dcterms:W3CDTF">2026-10-19T23:28:02Z</dcterms:created>
  <dcterms:modified xsi:type="dcterms:W3CDTF">2026-10-19T23:28:02Z</dcterms:modified>
</cp:coreProperties>
</file>