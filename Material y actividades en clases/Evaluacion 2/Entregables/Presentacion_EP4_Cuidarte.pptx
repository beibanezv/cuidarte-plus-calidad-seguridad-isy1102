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Issues</c:v>
                </c:pt>
              </c:strCache>
            </c:strRef>
          </c:tx>
          <c:spPr>
            <a:solidFill>
              <a:srgbClr val="A93A2E"/>
            </a:solidFill>
            <a:effectLst/>
          </c:spPr>
          <c:invertIfNegative val="0"/>
          <c:dLbls>
            <c:numFmt formatCode="#,##0" sourceLinked="0"/>
            <c:txPr>
              <a:bodyPr/>
              <a:lstStyle/>
              <a:p>
                <a:pPr>
                  <a:defRPr b="0" i="0" strike="noStrike" sz="800" u="none">
                    <a:solidFill>
                      <a:srgbClr val="1A2A25"/>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A93A2E"/>
              </a:solidFill>
              <a:effectLst/>
            </c:spPr>
          </c:dPt>
          <c:dPt>
            <c:idx val="1"/>
            <c:invertIfNegative val="0"/>
            <c:bubble3D val="0"/>
            <c:spPr>
              <a:solidFill>
                <a:srgbClr val="C98A1E"/>
              </a:solidFill>
              <a:effectLst/>
            </c:spPr>
          </c:dPt>
          <c:dPt>
            <c:idx val="2"/>
            <c:invertIfNegative val="0"/>
            <c:bubble3D val="0"/>
            <c:spPr>
              <a:solidFill>
                <a:srgbClr val="5C6D67"/>
              </a:solidFill>
              <a:effectLst/>
            </c:spPr>
          </c:dPt>
          <c:dPt>
            <c:idx val="3"/>
            <c:invertIfNegative val="0"/>
            <c:bubble3D val="0"/>
            <c:spPr>
              <a:solidFill>
                <a:srgbClr val="8A9A94"/>
              </a:solidFill>
              <a:effectLst/>
            </c:spPr>
          </c:dPt>
          <c:cat>
            <c:multiLvlStrRef>
              <c:f>Sheet1!$A$2:$A$5</c:f>
              <c:multiLvlStrCache>
                <c:ptCount val="4"/>
                <c:lvl>
                  <c:pt idx="0">
                    <c:v>Crítico</c:v>
                  </c:pt>
                  <c:pt idx="1">
                    <c:v>Major</c:v>
                  </c:pt>
                  <c:pt idx="2">
                    <c:v>Minor</c:v>
                  </c:pt>
                  <c:pt idx="3">
                    <c:v>Info</c:v>
                  </c:pt>
                </c:lvl>
              </c:multiLvlStrCache>
            </c:multiLvlStrRef>
          </c:cat>
          <c:val>
            <c:numRef>
              <c:f>Sheet1!$B$2:$B$5</c:f>
              <c:numCache>
                <c:formatCode>General</c:formatCode>
                <c:ptCount val="4"/>
                <c:pt idx="0">
                  <c:v>8</c:v>
                </c:pt>
                <c:pt idx="1">
                  <c:v>32</c:v>
                </c:pt>
                <c:pt idx="2">
                  <c:v>32</c:v>
                </c:pt>
                <c:pt idx="3">
                  <c:v>1</c:v>
                </c:pt>
              </c:numCache>
            </c:numRef>
          </c:val>
        </c:ser>
        <c:dLbls>
          <c:numFmt formatCode="#,##0" sourceLinked="0"/>
          <c:txPr>
            <a:bodyPr/>
            <a:lstStyle/>
            <a:p>
              <a:pPr>
                <a:defRPr b="0" i="0" strike="noStrike" sz="800" u="none">
                  <a:solidFill>
                    <a:srgbClr val="1A2A25"/>
                  </a:solidFill>
                  <a:latin typeface="Courier New"/>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5C6D67"/>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00:00–00:20 · Portada.
Buenos días. Somos Benjamín Ibáñez y Gerardo Vera. Presentamos la auditoría de calidad, seguridad y cumplimiento normativo de Cuidarte+, ejecutada sobre el módulo de pacientes y los controles que protegen los datos clínicos.
El resultado central está a la vista: ocho casos ejecutados, siete aprobados y un fallo reproducible. La línea que cruza la portada no es decorativa: es la evidencia del CP006, un token que sigue funcionando después del logout.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00:20–01:00 · El caso.
Cuidarte+ es una plataforma para centros de salud: pacientes, exámenes y documentos clínicos. No auditamos toda la plataforma: priorizamos el registro de pacientes y la cadena de controles que lo rodea.
Los tres roles del ERS son la base del modelo de autorización: admin con acceso total, médico con información clínica y paciente solo lectura. Si un control de rol falla, falla la separación entre esos mundos.
Dato para preguntas: el alcance se declara explícitamente para no convertir una prueba acotada en una promesa de seguridad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01:00–02:00 · Estrategia.
La estrategia no fue probar todo: fue ordenar por riesgo. La matriz cruza impacto y probabilidad. Los riesgos del Plan Maestro son RS-01 escalación de JWT, RS-02 fuga de datos clínicos, RS-03 lentitud por el delay de cinco segundos y RS-04 auditoría incompleta.
Ese orden explica por qué seguridad e integridad pesan más que una cobertura funcional amplia. La ejecución combina revisión manual contra OWASP, análisis estático y evidencia reproducible en Docker con PostgreSQL.
Pregunta probable: ¿por qué no pruebas de carga? Porque el entorno y el tiempo no permitían simular 200 usuarios con validez; se declara como trabajo futuro en vez de inventar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02:00–03:00 · Tipos de prueba, primera parte.
Este slide responde al 38% de la rúbrica: qué tipos se aplicaron, de dónde salen y qué impacto tienen. No elegimos técnicas al azar: cada bloque nace de un requisito y de un riesgo.
Funcional: cuatro casos sobre el registro de pacientes, con positivo, negativo, duplicado y borde. Seguridad: tres casos sobre JWT, logout y RBAC. Integridad: un caso de carga y descarga con SHA-256. Estático: SonarQube sobre 10.133 líneas.
La frase final es importante: no vendemos cobertura total; vendemos cobertura priorizada y declarada.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03:00–04:10 · Tipos de prueba, segunda parte.
Aquí está el impacto real de cada tipo. Funcional detecta datos inválidos antes de que lleguen a la base. Seguridad detecta que un token reutilizado sigue dando 200 y que un paciente no puede modificar un examen, que sí funciona con 403. Integridad demuestra que el archivo subido y el descargado tienen el mismo SHA-256. Estático encuentra 73 issues, ocho críticos.
También declaro lo que no se probó: carga, usabilidad y DAST. Y lo digo con una frase que vale para toda la defensa: no probado no es aprobado.
Pregunta probable: ¿por qué los tiempos son de cinco segundos? Por el middleware delay de cinco segundos del backend, que se aplica a pacientes, exámenes y documentos. Por eso no los uso como aprobación de rendimiento.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04:10–05:00 · Trazabilidad.
Este es el slide que responde a la cobertura: siete requisitos del ERS, ocho casos y evidencia para todos. Pero hay una distinción honesta: cuatro RQ tienen caso formal, tres se verificaron por observación, revisión de código o prueba manual.
RQ-04, tiempos, se observa con CP007 y CP008. RQ-05, auditoría, se revisa en código y se confirma con el registro de CP001. RQ-06, RUT, se prueba manualmente y se documenta como H-03.
Cobertura de requisitos no es cobertura de código. SonarQube marca 0,0% de cobertura automatizada y eso también es un hallazgo de calidad.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05:00–05:45 · Herramientas.
Cada herramienta tiene una función distinta. Docker Compose permite reproducir el entorno; Swagger/OpenAPI da el contrato; curl y Postman capturan la evidencia; PostgreSQL permite verificar el efecto real, por ejemplo que el intento de CP007 no cambió la base; SonarQube hace el análisis estático.
No usamos ZAP. Lo digo antes de que lo pregunten: no se ejecutó y queda como trabajo futuro. Es más honesto declararlo que presentar un escaneo que no existe.
Si preguntan por SonarQube: versión 9.9.8, perfil OWASP, 10.133 líneas, Quality Gate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05:45–06:40 · Ejecución.
Dos jornadas. El 6 de octubre ejecutamos CP001 a CP004: registro válido, email inválido, duplicado y borde de nombre. Cuatro pass. El 16 de octubre ejecutamos CP005 a CP008: login, reuso de token, RBAC e integridad documental, más SonarQube. Tres pass y un fail.
La captura de la izquierda es CP003: el formulario muestra el error y la red confirma 400. La tarjeta roja es CP006: después del logout, el token anterior sigue devolviendo 200 con la lista completa de pacientes. Ese es el fallo que sostiene el veredicto condicionado.
Pregunta probable: ¿el fail es del cliente o del servidor? Del servidor: no hay lista de revocación ni invalidación del token; el logout solo elimina el token del navegador.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06:40–07:55 · Hallazgos.
Siete hallazgos, clasificados con una escala explícita: crítico, grave, moderado y leve. El crítico es H-01: las contraseñas se guardan y comparan en texto plano en auth.js, líneas 21 y 110. Eso incumple la Ley 19.628 y OWASP A02.
H-02 es el JWT sin revocación y con secreto por defecto; CP006 lo confirma. H-03 es el RUT sin dígito verificador: acepta 12.345.678-9 aunque el DV real es 5. H-04 es latente: express.static sirve /uploads sin autenticación.
H-05, H-06 y H-07 son moderados y leve: delay de cinco segundos, CORS abierto y mensajes internos expuestos. La clasificación no es decorativa: define qué se corrige antes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07:55–08:55 · SonarQube frente al marco legal.
El Quality Gate está en verde. Eso suele leerse como "todo bien", pero el propio SonarQube muestra 73 issues, ocho críticos, 0,0% de cobertura y 465 minutos de deuda. Y no ve las contraseñas en texto plano ni la revocación de sesión, porque son fallos de diseño, no patrones que su motor detecte.
Por eso el slide cruza cada hallazgo con la norma: H-01 y H-02 con OWASP A02/A07 y la Ley 19.628; H-03 con la Ley 20.584; H-04 con OWASP A01 y la Ley 19.628. La ausencia de cobertura se cruza con ISO 25010.
La frase final es la tesis: SonarQube mide patrones; la ley exige deberes.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08:55–09:40 · Reflexiones.
Este slide separa lo que funcionó de lo que no. En calidad, RBAC, validaciones y auditoría responden; la brecha es deuda técnica: 73 issues y 14,5% de duplicación. En seguridad, JWT y roles bloquean accesos indebidos; la brecha es H-01 y CP006. En lo normativo, la auditoría y la trazabilidad existen; la Ley 19.628 se incumple en H-01, H-02 y H-04. En lo ético, reportamos el fail y declaramos lo que no probamos.
La frase de cierre es la que quiero dejar: una auditoría se mide por lo que revela, no por lo que confirma.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09:40–10:00 · Veredicto y cierre de la presentación.
El veredicto es GO CONDICIONADO. El sistema puede seguir en desarrollo y puede usarse en un entorno controlado, pero no pasa a producción con datos reales hasta corregir cuatro cosas: hash de contraseñas, revocación de JWT y secreto por entorno, validación del dígito verificador del RUT y autenticación en /uploads.
Cada acción tiene un criterio de aceptación verificable. No decimos "mejorar la seguridad"; decimos qué se corrige y cómo se comprueba.
Si H-01 a H-04 no se corrigen, el veredicto cambia a NO-GO. Con datos clínicos, la seguridad es un deber de cuidado, no un ítem de checklist.
[Fin de los 10 minutos. Los anexos quedan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Agradecer y abrir preguntas. Si la pregunta es de detalle, saltar al anexo correspondiente: A casos, B SonarQube, C normativa, D evidencias.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 Detalle de los ocho casos, su requisito, tipo, resultado y archivo de evidencia. Usar si preguntan por un caso específico o por la nomenclatura.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B. Métricas completas de SonarQube y los ocho issues críticos S3776 con su complejidad. Si preguntan por qué el gate pasa con 0% de cobertura: el gate evalúa las condiciones configuradas para el proyecto, no una auditoría integral; la cobertura ausente se reporta como brecha.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C. Marco normativo y mapeo con los hallazgos. La aclaración final es importante: somos estudiantes de ingeniería, no abogados; esto es una lectura técnica, no asesoría legal.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 Inventario de evidencias: 28 archivos, 6 capturas PNG, 15 JSON, 6 TXT y 1 PDF. La convención permite ubicar caso, vista y resultado sin abrir la bitácora. Si preguntan por una evidencia puntual, se puede mostrar el archivo en el explorador.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B33"/>
        </a:solidFill>
      </p:bgPr>
    </p:bg>
    <p:spTree>
      <p:nvGrpSpPr>
        <p:cNvPr id="1" name=""/>
        <p:cNvGrpSpPr/>
        <p:nvPr/>
      </p:nvGrpSpPr>
      <p:grpSpPr>
        <a:xfrm>
          <a:off x="0" y="0"/>
          <a:ext cx="0" cy="0"/>
          <a:chOff x="0" y="0"/>
          <a:chExt cx="0" cy="0"/>
        </a:xfrm>
      </p:grpSpPr>
      <p:sp>
        <p:nvSpPr>
          <p:cNvPr id="2" name="Shape 0"/>
          <p:cNvSpPr/>
          <p:nvPr/>
        </p:nvSpPr>
        <p:spPr>
          <a:xfrm>
            <a:off x="566928" y="475488"/>
            <a:ext cx="82296" cy="82296"/>
          </a:xfrm>
          <a:prstGeom prst="rect">
            <a:avLst/>
          </a:prstGeom>
          <a:solidFill>
            <a:srgbClr val="C98A1E"/>
          </a:solidFill>
          <a:ln w="12700">
            <a:solidFill>
              <a:srgbClr val="C98A1E"/>
            </a:solidFill>
            <a:prstDash val="solid"/>
          </a:ln>
        </p:spPr>
      </p:sp>
      <p:sp>
        <p:nvSpPr>
          <p:cNvPr id="3" name="Text 1"/>
          <p:cNvSpPr/>
          <p:nvPr/>
        </p:nvSpPr>
        <p:spPr>
          <a:xfrm>
            <a:off x="749808" y="393192"/>
            <a:ext cx="7315200" cy="219456"/>
          </a:xfrm>
          <a:prstGeom prst="rect">
            <a:avLst/>
          </a:prstGeom>
          <a:noFill/>
          <a:ln/>
        </p:spPr>
        <p:txBody>
          <a:bodyPr wrap="square" lIns="0" tIns="0" rIns="0" bIns="0" rtlCol="0" anchor="t"/>
          <a:lstStyle/>
          <a:p>
            <a:pPr algn="l" indent="0" marL="0">
              <a:buNone/>
            </a:pPr>
            <a:r>
              <a:rPr lang="en-US" sz="850" b="1" spc="160" kern="0" dirty="0">
                <a:solidFill>
                  <a:srgbClr val="9FD3C7"/>
                </a:solidFill>
                <a:latin typeface="Courier New" pitchFamily="34" charset="0"/>
                <a:ea typeface="Courier New" pitchFamily="34" charset="-122"/>
                <a:cs typeface="Courier New" pitchFamily="34" charset="-120"/>
              </a:rPr>
              <a:t>ISY1102 · EVALUACIÓN PARCIAL 4</a:t>
            </a:r>
            <a:endParaRPr lang="en-US" sz="850" dirty="0"/>
          </a:p>
        </p:txBody>
      </p:sp>
      <p:sp>
        <p:nvSpPr>
          <p:cNvPr id="4" name="Text 2"/>
          <p:cNvSpPr/>
          <p:nvPr/>
        </p:nvSpPr>
        <p:spPr>
          <a:xfrm>
            <a:off x="566928" y="1078992"/>
            <a:ext cx="9052560" cy="242316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Verificando la calidad,</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la seguridad y el</a:t>
            </a:r>
            <a:endParaRPr lang="en-US" sz="4000" dirty="0"/>
          </a:p>
          <a:p>
            <a:pPr indent="0" marL="0">
              <a:lnSpc>
                <a:spcPts val="4800"/>
              </a:lnSpc>
              <a:buNone/>
            </a:pPr>
            <a:r>
              <a:rPr lang="en-US" sz="4000" b="1" dirty="0">
                <a:solidFill>
                  <a:srgbClr val="9FD3C7"/>
                </a:solidFill>
                <a:latin typeface="Cambria" pitchFamily="34" charset="0"/>
                <a:ea typeface="Cambria" pitchFamily="34" charset="-122"/>
                <a:cs typeface="Cambria" pitchFamily="34" charset="-120"/>
              </a:rPr>
              <a:t>cumplimiento normativo</a:t>
            </a:r>
            <a:endParaRPr lang="en-US" sz="4000" dirty="0"/>
          </a:p>
        </p:txBody>
      </p:sp>
      <p:sp>
        <p:nvSpPr>
          <p:cNvPr id="5" name="Text 3"/>
          <p:cNvSpPr/>
          <p:nvPr/>
        </p:nvSpPr>
        <p:spPr>
          <a:xfrm>
            <a:off x="566928" y="3639312"/>
            <a:ext cx="8686800" cy="365760"/>
          </a:xfrm>
          <a:prstGeom prst="rect">
            <a:avLst/>
          </a:prstGeom>
          <a:noFill/>
          <a:ln/>
        </p:spPr>
        <p:txBody>
          <a:bodyPr wrap="square" lIns="0" tIns="0" rIns="0" bIns="0" rtlCol="0" anchor="t"/>
          <a:lstStyle/>
          <a:p>
            <a:pPr algn="l" indent="0" marL="0">
              <a:buNone/>
            </a:pPr>
            <a:r>
              <a:rPr lang="en-US" sz="1550" dirty="0">
                <a:solidFill>
                  <a:srgbClr val="DCEBE5"/>
                </a:solidFill>
                <a:latin typeface="Calibri" pitchFamily="34" charset="0"/>
                <a:ea typeface="Calibri" pitchFamily="34" charset="-122"/>
                <a:cs typeface="Calibri" pitchFamily="34" charset="-120"/>
              </a:rPr>
              <a:t>Auditoría técnica de Cuidarte+ · Módulo de pacientes</a:t>
            </a:r>
            <a:endParaRPr lang="en-US" sz="1550" dirty="0"/>
          </a:p>
        </p:txBody>
      </p:sp>
      <p:sp>
        <p:nvSpPr>
          <p:cNvPr id="6" name="Text 4"/>
          <p:cNvSpPr/>
          <p:nvPr/>
        </p:nvSpPr>
        <p:spPr>
          <a:xfrm>
            <a:off x="566928" y="4370832"/>
            <a:ext cx="2834640" cy="182880"/>
          </a:xfrm>
          <a:prstGeom prst="rect">
            <a:avLst/>
          </a:prstGeom>
          <a:noFill/>
          <a:ln/>
        </p:spPr>
        <p:txBody>
          <a:bodyPr wrap="square" lIns="0" tIns="0" rIns="0" bIns="0" rtlCol="0" anchor="t"/>
          <a:lstStyle/>
          <a:p>
            <a:pPr algn="l" indent="0" marL="0">
              <a:buNone/>
            </a:pPr>
            <a:r>
              <a:rPr lang="en-US" sz="720" spc="150" kern="0" dirty="0">
                <a:solidFill>
                  <a:srgbClr val="9FD3C7"/>
                </a:solidFill>
                <a:latin typeface="Courier New" pitchFamily="34" charset="0"/>
                <a:ea typeface="Courier New" pitchFamily="34" charset="-122"/>
                <a:cs typeface="Courier New" pitchFamily="34" charset="-120"/>
              </a:rPr>
              <a:t>EQUIPO</a:t>
            </a:r>
            <a:endParaRPr lang="en-US" sz="720" dirty="0"/>
          </a:p>
        </p:txBody>
      </p:sp>
      <p:sp>
        <p:nvSpPr>
          <p:cNvPr id="7" name="Text 5"/>
          <p:cNvSpPr/>
          <p:nvPr/>
        </p:nvSpPr>
        <p:spPr>
          <a:xfrm>
            <a:off x="566928" y="4590288"/>
            <a:ext cx="2926080" cy="2743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Benjamín Ibáñez · Gerardo Vera</a:t>
            </a:r>
            <a:endParaRPr lang="en-US" sz="1050" dirty="0"/>
          </a:p>
        </p:txBody>
      </p:sp>
      <p:sp>
        <p:nvSpPr>
          <p:cNvPr id="8" name="Text 6"/>
          <p:cNvSpPr/>
          <p:nvPr/>
        </p:nvSpPr>
        <p:spPr>
          <a:xfrm>
            <a:off x="3721608" y="4370832"/>
            <a:ext cx="2834640" cy="182880"/>
          </a:xfrm>
          <a:prstGeom prst="rect">
            <a:avLst/>
          </a:prstGeom>
          <a:noFill/>
          <a:ln/>
        </p:spPr>
        <p:txBody>
          <a:bodyPr wrap="square" lIns="0" tIns="0" rIns="0" bIns="0" rtlCol="0" anchor="t"/>
          <a:lstStyle/>
          <a:p>
            <a:pPr algn="l" indent="0" marL="0">
              <a:buNone/>
            </a:pPr>
            <a:r>
              <a:rPr lang="en-US" sz="720" spc="150" kern="0" dirty="0">
                <a:solidFill>
                  <a:srgbClr val="9FD3C7"/>
                </a:solidFill>
                <a:latin typeface="Courier New" pitchFamily="34" charset="0"/>
                <a:ea typeface="Courier New" pitchFamily="34" charset="-122"/>
                <a:cs typeface="Courier New" pitchFamily="34" charset="-120"/>
              </a:rPr>
              <a:t>FECHA</a:t>
            </a:r>
            <a:endParaRPr lang="en-US" sz="720" dirty="0"/>
          </a:p>
        </p:txBody>
      </p:sp>
      <p:sp>
        <p:nvSpPr>
          <p:cNvPr id="9" name="Text 7"/>
          <p:cNvSpPr/>
          <p:nvPr/>
        </p:nvSpPr>
        <p:spPr>
          <a:xfrm>
            <a:off x="3721608" y="4590288"/>
            <a:ext cx="2926080" cy="2743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Octubre 2026</a:t>
            </a:r>
            <a:endParaRPr lang="en-US" sz="1050" dirty="0"/>
          </a:p>
        </p:txBody>
      </p:sp>
      <p:sp>
        <p:nvSpPr>
          <p:cNvPr id="10" name="Text 8"/>
          <p:cNvSpPr/>
          <p:nvPr/>
        </p:nvSpPr>
        <p:spPr>
          <a:xfrm>
            <a:off x="6876288" y="4370832"/>
            <a:ext cx="2834640" cy="182880"/>
          </a:xfrm>
          <a:prstGeom prst="rect">
            <a:avLst/>
          </a:prstGeom>
          <a:noFill/>
          <a:ln/>
        </p:spPr>
        <p:txBody>
          <a:bodyPr wrap="square" lIns="0" tIns="0" rIns="0" bIns="0" rtlCol="0" anchor="t"/>
          <a:lstStyle/>
          <a:p>
            <a:pPr algn="l" indent="0" marL="0">
              <a:buNone/>
            </a:pPr>
            <a:r>
              <a:rPr lang="en-US" sz="720" spc="150" kern="0" dirty="0">
                <a:solidFill>
                  <a:srgbClr val="9FD3C7"/>
                </a:solidFill>
                <a:latin typeface="Courier New" pitchFamily="34" charset="0"/>
                <a:ea typeface="Courier New" pitchFamily="34" charset="-122"/>
                <a:cs typeface="Courier New" pitchFamily="34" charset="-120"/>
              </a:rPr>
              <a:t>ALCANCE</a:t>
            </a:r>
            <a:endParaRPr lang="en-US" sz="720" dirty="0"/>
          </a:p>
        </p:txBody>
      </p:sp>
      <p:sp>
        <p:nvSpPr>
          <p:cNvPr id="11" name="Text 9"/>
          <p:cNvSpPr/>
          <p:nvPr/>
        </p:nvSpPr>
        <p:spPr>
          <a:xfrm>
            <a:off x="6876288" y="4590288"/>
            <a:ext cx="2926080" cy="2743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8 casos · 7 pass · 1 fail</a:t>
            </a:r>
            <a:endParaRPr lang="en-US" sz="1050" dirty="0"/>
          </a:p>
        </p:txBody>
      </p:sp>
      <p:sp>
        <p:nvSpPr>
          <p:cNvPr id="12" name="Text 10"/>
          <p:cNvSpPr/>
          <p:nvPr/>
        </p:nvSpPr>
        <p:spPr>
          <a:xfrm>
            <a:off x="2148840" y="5010912"/>
            <a:ext cx="3291840" cy="201168"/>
          </a:xfrm>
          <a:prstGeom prst="rect">
            <a:avLst/>
          </a:prstGeom>
          <a:noFill/>
          <a:ln/>
        </p:spPr>
        <p:txBody>
          <a:bodyPr wrap="square" lIns="0" tIns="0" rIns="0" bIns="0" rtlCol="0" anchor="t"/>
          <a:lstStyle/>
          <a:p>
            <a:pPr algn="l" indent="0" marL="0">
              <a:buNone/>
            </a:pPr>
            <a:r>
              <a:rPr lang="en-US" sz="740" b="1" spc="90" kern="0" dirty="0">
                <a:solidFill>
                  <a:srgbClr val="E07A6E"/>
                </a:solidFill>
                <a:latin typeface="Courier New" pitchFamily="34" charset="0"/>
                <a:ea typeface="Courier New" pitchFamily="34" charset="-122"/>
                <a:cs typeface="Courier New" pitchFamily="34" charset="-120"/>
              </a:rPr>
              <a:t>CP006 · SESIÓN NO REVOCADA</a:t>
            </a:r>
            <a:endParaRPr lang="en-US" sz="740" dirty="0"/>
          </a:p>
        </p:txBody>
      </p:sp>
      <p:pic>
        <p:nvPicPr>
          <p:cNvPr id="13" name="Image 0" descr="C:\Users\ibane\AppData\Local\Temp\opencode\ecg.png">    </p:cNvPr>
          <p:cNvPicPr>
            <a:picLocks noChangeAspect="1"/>
          </p:cNvPicPr>
          <p:nvPr/>
        </p:nvPicPr>
        <p:blipFill>
          <a:blip r:embed="rId1"/>
          <a:stretch>
            <a:fillRect/>
          </a:stretch>
        </p:blipFill>
        <p:spPr>
          <a:xfrm>
            <a:off x="566928" y="5376672"/>
            <a:ext cx="11055096" cy="841248"/>
          </a:xfrm>
          <a:prstGeom prst="rect">
            <a:avLst/>
          </a:prstGeom>
        </p:spPr>
      </p:pic>
      <p:sp>
        <p:nvSpPr>
          <p:cNvPr id="14" name="Text 11"/>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9FD3C7"/>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15" name="Text 12"/>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9FD3C7"/>
                </a:solidFill>
                <a:latin typeface="Courier New" pitchFamily="34" charset="0"/>
                <a:ea typeface="Courier New" pitchFamily="34" charset="-122"/>
                <a:cs typeface="Courier New" pitchFamily="34" charset="-120"/>
              </a:rPr>
              <a:t>01 / 17</a:t>
            </a:r>
            <a:endParaRPr lang="en-US" sz="73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01 · CONTEXTO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000"/>
              </a:lnSpc>
              <a:buNone/>
            </a:pPr>
            <a:r>
              <a:rPr lang="en-US" sz="2500" b="1" dirty="0">
                <a:solidFill>
                  <a:srgbClr val="1A2A25"/>
                </a:solidFill>
                <a:latin typeface="Cambria" pitchFamily="34" charset="0"/>
                <a:ea typeface="Cambria" pitchFamily="34" charset="-122"/>
                <a:cs typeface="Cambria" pitchFamily="34" charset="-120"/>
              </a:rPr>
              <a:t>Cuidarte+ concentra datos clínicos; la auditoría se enfocó en la puerta de entrada</a:t>
            </a:r>
            <a:endParaRPr lang="en-US" sz="25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02 / 17</a:t>
            </a:r>
            <a:endParaRPr lang="en-US" sz="730" dirty="0"/>
          </a:p>
        </p:txBody>
      </p:sp>
      <p:sp>
        <p:nvSpPr>
          <p:cNvPr id="7" name="Text 5"/>
          <p:cNvSpPr/>
          <p:nvPr/>
        </p:nvSpPr>
        <p:spPr>
          <a:xfrm>
            <a:off x="566928" y="1664208"/>
            <a:ext cx="5806440" cy="960120"/>
          </a:xfrm>
          <a:prstGeom prst="rect">
            <a:avLst/>
          </a:prstGeom>
          <a:noFill/>
          <a:ln/>
        </p:spPr>
        <p:txBody>
          <a:bodyPr wrap="square" lIns="0" tIns="0" rIns="0" bIns="0" rtlCol="0" anchor="t"/>
          <a:lstStyle/>
          <a:p>
            <a:pPr algn="l" indent="0" marL="0">
              <a:lnSpc>
                <a:spcPts val="1600"/>
              </a:lnSpc>
              <a:buNone/>
            </a:pPr>
            <a:r>
              <a:rPr lang="en-US" sz="1100" dirty="0">
                <a:solidFill>
                  <a:srgbClr val="1A2A25"/>
                </a:solidFill>
                <a:latin typeface="Calibri" pitchFamily="34" charset="0"/>
                <a:ea typeface="Calibri" pitchFamily="34" charset="-122"/>
                <a:cs typeface="Calibri" pitchFamily="34" charset="-120"/>
              </a:rPr>
              <a:t>Cuidarte+ gestiona pacientes, exámenes y documentos clínicos. El módulo auditado fue el registro de pacientes (POST /pacientes), junto con los controles que protegen esos datos: autenticación, autorización, validación e integridad.</a:t>
            </a:r>
            <a:endParaRPr lang="en-US" sz="1100" dirty="0"/>
          </a:p>
        </p:txBody>
      </p:sp>
      <p:sp>
        <p:nvSpPr>
          <p:cNvPr id="8" name="Shape 6"/>
          <p:cNvSpPr/>
          <p:nvPr/>
        </p:nvSpPr>
        <p:spPr>
          <a:xfrm>
            <a:off x="566928" y="2761488"/>
            <a:ext cx="566928" cy="265176"/>
          </a:xfrm>
          <a:prstGeom prst="roundRect">
            <a:avLst>
              <a:gd name="adj" fmla="val 20690"/>
            </a:avLst>
          </a:prstGeom>
          <a:solidFill>
            <a:srgbClr val="FFFFFF"/>
          </a:solidFill>
          <a:ln w="7620">
            <a:solidFill>
              <a:srgbClr val="D7E0DB"/>
            </a:solidFill>
            <a:prstDash val="solid"/>
          </a:ln>
        </p:spPr>
      </p:sp>
      <p:sp>
        <p:nvSpPr>
          <p:cNvPr id="9" name="Text 7"/>
          <p:cNvSpPr/>
          <p:nvPr/>
        </p:nvSpPr>
        <p:spPr>
          <a:xfrm>
            <a:off x="649224" y="2811780"/>
            <a:ext cx="402336"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JWT</a:t>
            </a:r>
            <a:endParaRPr lang="en-US" sz="740" dirty="0"/>
          </a:p>
        </p:txBody>
      </p:sp>
      <p:sp>
        <p:nvSpPr>
          <p:cNvPr id="10" name="Shape 8"/>
          <p:cNvSpPr/>
          <p:nvPr/>
        </p:nvSpPr>
        <p:spPr>
          <a:xfrm>
            <a:off x="1243584" y="2761488"/>
            <a:ext cx="658368" cy="265176"/>
          </a:xfrm>
          <a:prstGeom prst="roundRect">
            <a:avLst>
              <a:gd name="adj" fmla="val 20690"/>
            </a:avLst>
          </a:prstGeom>
          <a:solidFill>
            <a:srgbClr val="FFFFFF"/>
          </a:solidFill>
          <a:ln w="7620">
            <a:solidFill>
              <a:srgbClr val="D7E0DB"/>
            </a:solidFill>
            <a:prstDash val="solid"/>
          </a:ln>
        </p:spPr>
      </p:sp>
      <p:sp>
        <p:nvSpPr>
          <p:cNvPr id="11" name="Text 9"/>
          <p:cNvSpPr/>
          <p:nvPr/>
        </p:nvSpPr>
        <p:spPr>
          <a:xfrm>
            <a:off x="1325880" y="2811780"/>
            <a:ext cx="493776"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RBAC</a:t>
            </a:r>
            <a:endParaRPr lang="en-US" sz="740" dirty="0"/>
          </a:p>
        </p:txBody>
      </p:sp>
      <p:sp>
        <p:nvSpPr>
          <p:cNvPr id="12" name="Shape 10"/>
          <p:cNvSpPr/>
          <p:nvPr/>
        </p:nvSpPr>
        <p:spPr>
          <a:xfrm>
            <a:off x="2011680" y="2761488"/>
            <a:ext cx="1508760" cy="265176"/>
          </a:xfrm>
          <a:prstGeom prst="roundRect">
            <a:avLst>
              <a:gd name="adj" fmla="val 20690"/>
            </a:avLst>
          </a:prstGeom>
          <a:solidFill>
            <a:srgbClr val="FFFFFF"/>
          </a:solidFill>
          <a:ln w="7620">
            <a:solidFill>
              <a:srgbClr val="D7E0DB"/>
            </a:solidFill>
            <a:prstDash val="solid"/>
          </a:ln>
        </p:spPr>
      </p:sp>
      <p:sp>
        <p:nvSpPr>
          <p:cNvPr id="13" name="Text 11"/>
          <p:cNvSpPr/>
          <p:nvPr/>
        </p:nvSpPr>
        <p:spPr>
          <a:xfrm>
            <a:off x="2093976" y="2811780"/>
            <a:ext cx="1344168"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POST /pacientes</a:t>
            </a:r>
            <a:endParaRPr lang="en-US" sz="740" dirty="0"/>
          </a:p>
        </p:txBody>
      </p:sp>
      <p:sp>
        <p:nvSpPr>
          <p:cNvPr id="14" name="Shape 12"/>
          <p:cNvSpPr/>
          <p:nvPr/>
        </p:nvSpPr>
        <p:spPr>
          <a:xfrm>
            <a:off x="3630168" y="2761488"/>
            <a:ext cx="960120" cy="265176"/>
          </a:xfrm>
          <a:prstGeom prst="roundRect">
            <a:avLst>
              <a:gd name="adj" fmla="val 20690"/>
            </a:avLst>
          </a:prstGeom>
          <a:solidFill>
            <a:srgbClr val="FFFFFF"/>
          </a:solidFill>
          <a:ln w="7620">
            <a:solidFill>
              <a:srgbClr val="D7E0DB"/>
            </a:solidFill>
            <a:prstDash val="solid"/>
          </a:ln>
        </p:spPr>
      </p:sp>
      <p:sp>
        <p:nvSpPr>
          <p:cNvPr id="15" name="Text 13"/>
          <p:cNvSpPr/>
          <p:nvPr/>
        </p:nvSpPr>
        <p:spPr>
          <a:xfrm>
            <a:off x="3712464" y="2811780"/>
            <a:ext cx="795528"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Exámenes</a:t>
            </a:r>
            <a:endParaRPr lang="en-US" sz="740" dirty="0"/>
          </a:p>
        </p:txBody>
      </p:sp>
      <p:sp>
        <p:nvSpPr>
          <p:cNvPr id="16" name="Shape 14"/>
          <p:cNvSpPr/>
          <p:nvPr/>
        </p:nvSpPr>
        <p:spPr>
          <a:xfrm>
            <a:off x="4700016" y="2761488"/>
            <a:ext cx="1078992" cy="265176"/>
          </a:xfrm>
          <a:prstGeom prst="roundRect">
            <a:avLst>
              <a:gd name="adj" fmla="val 20690"/>
            </a:avLst>
          </a:prstGeom>
          <a:solidFill>
            <a:srgbClr val="FFFFFF"/>
          </a:solidFill>
          <a:ln w="7620">
            <a:solidFill>
              <a:srgbClr val="D7E0DB"/>
            </a:solidFill>
            <a:prstDash val="solid"/>
          </a:ln>
        </p:spPr>
      </p:sp>
      <p:sp>
        <p:nvSpPr>
          <p:cNvPr id="17" name="Text 15"/>
          <p:cNvSpPr/>
          <p:nvPr/>
        </p:nvSpPr>
        <p:spPr>
          <a:xfrm>
            <a:off x="4782312" y="2811780"/>
            <a:ext cx="914400"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Documentos</a:t>
            </a:r>
            <a:endParaRPr lang="en-US" sz="740" dirty="0"/>
          </a:p>
        </p:txBody>
      </p:sp>
      <p:sp>
        <p:nvSpPr>
          <p:cNvPr id="18" name="Shape 16"/>
          <p:cNvSpPr/>
          <p:nvPr/>
        </p:nvSpPr>
        <p:spPr>
          <a:xfrm>
            <a:off x="566928" y="3127248"/>
            <a:ext cx="932688" cy="265176"/>
          </a:xfrm>
          <a:prstGeom prst="roundRect">
            <a:avLst>
              <a:gd name="adj" fmla="val 20690"/>
            </a:avLst>
          </a:prstGeom>
          <a:solidFill>
            <a:srgbClr val="FFFFFF"/>
          </a:solidFill>
          <a:ln w="7620">
            <a:solidFill>
              <a:srgbClr val="D7E0DB"/>
            </a:solidFill>
            <a:prstDash val="solid"/>
          </a:ln>
        </p:spPr>
      </p:sp>
      <p:sp>
        <p:nvSpPr>
          <p:cNvPr id="19" name="Text 17"/>
          <p:cNvSpPr/>
          <p:nvPr/>
        </p:nvSpPr>
        <p:spPr>
          <a:xfrm>
            <a:off x="649224" y="3177540"/>
            <a:ext cx="768096"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Auditoría</a:t>
            </a:r>
            <a:endParaRPr lang="en-US" sz="740" dirty="0"/>
          </a:p>
        </p:txBody>
      </p:sp>
      <p:sp>
        <p:nvSpPr>
          <p:cNvPr id="20" name="Shape 18"/>
          <p:cNvSpPr/>
          <p:nvPr/>
        </p:nvSpPr>
        <p:spPr>
          <a:xfrm>
            <a:off x="1609344" y="3127248"/>
            <a:ext cx="1078992" cy="265176"/>
          </a:xfrm>
          <a:prstGeom prst="roundRect">
            <a:avLst>
              <a:gd name="adj" fmla="val 20690"/>
            </a:avLst>
          </a:prstGeom>
          <a:solidFill>
            <a:srgbClr val="FFFFFF"/>
          </a:solidFill>
          <a:ln w="7620">
            <a:solidFill>
              <a:srgbClr val="D7E0DB"/>
            </a:solidFill>
            <a:prstDash val="solid"/>
          </a:ln>
        </p:spPr>
      </p:sp>
      <p:sp>
        <p:nvSpPr>
          <p:cNvPr id="21" name="Text 19"/>
          <p:cNvSpPr/>
          <p:nvPr/>
        </p:nvSpPr>
        <p:spPr>
          <a:xfrm>
            <a:off x="1691640" y="3177540"/>
            <a:ext cx="914400"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PostgreSQL</a:t>
            </a:r>
            <a:endParaRPr lang="en-US" sz="740" dirty="0"/>
          </a:p>
        </p:txBody>
      </p:sp>
      <p:sp>
        <p:nvSpPr>
          <p:cNvPr id="22" name="Shape 20"/>
          <p:cNvSpPr/>
          <p:nvPr/>
        </p:nvSpPr>
        <p:spPr>
          <a:xfrm>
            <a:off x="2798064" y="3127248"/>
            <a:ext cx="1371600" cy="265176"/>
          </a:xfrm>
          <a:prstGeom prst="roundRect">
            <a:avLst>
              <a:gd name="adj" fmla="val 20690"/>
            </a:avLst>
          </a:prstGeom>
          <a:solidFill>
            <a:srgbClr val="FFFFFF"/>
          </a:solidFill>
          <a:ln w="7620">
            <a:solidFill>
              <a:srgbClr val="D7E0DB"/>
            </a:solidFill>
            <a:prstDash val="solid"/>
          </a:ln>
        </p:spPr>
      </p:sp>
      <p:sp>
        <p:nvSpPr>
          <p:cNvPr id="23" name="Text 21"/>
          <p:cNvSpPr/>
          <p:nvPr/>
        </p:nvSpPr>
        <p:spPr>
          <a:xfrm>
            <a:off x="2880360" y="3177540"/>
            <a:ext cx="1207008"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Docker Compose</a:t>
            </a:r>
            <a:endParaRPr lang="en-US" sz="740" dirty="0"/>
          </a:p>
        </p:txBody>
      </p:sp>
      <p:sp>
        <p:nvSpPr>
          <p:cNvPr id="24" name="Text 22"/>
          <p:cNvSpPr/>
          <p:nvPr/>
        </p:nvSpPr>
        <p:spPr>
          <a:xfrm>
            <a:off x="566928" y="3675888"/>
            <a:ext cx="5669280" cy="182880"/>
          </a:xfrm>
          <a:prstGeom prst="rect">
            <a:avLst/>
          </a:prstGeom>
          <a:noFill/>
          <a:ln/>
        </p:spPr>
        <p:txBody>
          <a:bodyPr wrap="square" lIns="0" tIns="0" rIns="0" bIns="0" rtlCol="0" anchor="t"/>
          <a:lstStyle/>
          <a:p>
            <a:pPr algn="l" indent="0" marL="0">
              <a:buNone/>
            </a:pPr>
            <a:r>
              <a:rPr lang="en-US" sz="720" b="1" spc="140" kern="0" dirty="0">
                <a:solidFill>
                  <a:srgbClr val="5C6D67"/>
                </a:solidFill>
                <a:latin typeface="Courier New" pitchFamily="34" charset="0"/>
                <a:ea typeface="Courier New" pitchFamily="34" charset="-122"/>
                <a:cs typeface="Courier New" pitchFamily="34" charset="-120"/>
              </a:rPr>
              <a:t>SUPERFICIE AUDITADA</a:t>
            </a:r>
            <a:endParaRPr lang="en-US" sz="720" dirty="0"/>
          </a:p>
        </p:txBody>
      </p:sp>
      <p:sp>
        <p:nvSpPr>
          <p:cNvPr id="25" name="Text 23"/>
          <p:cNvSpPr/>
          <p:nvPr/>
        </p:nvSpPr>
        <p:spPr>
          <a:xfrm>
            <a:off x="56692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10.133</a:t>
            </a:r>
            <a:endParaRPr lang="en-US" sz="2500" dirty="0"/>
          </a:p>
        </p:txBody>
      </p:sp>
      <p:sp>
        <p:nvSpPr>
          <p:cNvPr id="26" name="Text 24"/>
          <p:cNvSpPr/>
          <p:nvPr/>
        </p:nvSpPr>
        <p:spPr>
          <a:xfrm>
            <a:off x="56692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líneas de código</a:t>
            </a:r>
            <a:endParaRPr lang="en-US" sz="800" dirty="0"/>
          </a:p>
        </p:txBody>
      </p:sp>
      <p:sp>
        <p:nvSpPr>
          <p:cNvPr id="27" name="Text 25"/>
          <p:cNvSpPr/>
          <p:nvPr/>
        </p:nvSpPr>
        <p:spPr>
          <a:xfrm>
            <a:off x="202996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8</a:t>
            </a:r>
            <a:endParaRPr lang="en-US" sz="2500" dirty="0"/>
          </a:p>
        </p:txBody>
      </p:sp>
      <p:sp>
        <p:nvSpPr>
          <p:cNvPr id="28" name="Text 26"/>
          <p:cNvSpPr/>
          <p:nvPr/>
        </p:nvSpPr>
        <p:spPr>
          <a:xfrm>
            <a:off x="202996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casos ejecutados</a:t>
            </a:r>
            <a:endParaRPr lang="en-US" sz="800" dirty="0"/>
          </a:p>
        </p:txBody>
      </p:sp>
      <p:sp>
        <p:nvSpPr>
          <p:cNvPr id="29" name="Text 27"/>
          <p:cNvSpPr/>
          <p:nvPr/>
        </p:nvSpPr>
        <p:spPr>
          <a:xfrm>
            <a:off x="349300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7</a:t>
            </a:r>
            <a:endParaRPr lang="en-US" sz="2500" dirty="0"/>
          </a:p>
        </p:txBody>
      </p:sp>
      <p:sp>
        <p:nvSpPr>
          <p:cNvPr id="30" name="Text 28"/>
          <p:cNvSpPr/>
          <p:nvPr/>
        </p:nvSpPr>
        <p:spPr>
          <a:xfrm>
            <a:off x="349300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hallazgos</a:t>
            </a:r>
            <a:endParaRPr lang="en-US" sz="800" dirty="0"/>
          </a:p>
        </p:txBody>
      </p:sp>
      <p:sp>
        <p:nvSpPr>
          <p:cNvPr id="31" name="Text 29"/>
          <p:cNvSpPr/>
          <p:nvPr/>
        </p:nvSpPr>
        <p:spPr>
          <a:xfrm>
            <a:off x="495604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2</a:t>
            </a:r>
            <a:endParaRPr lang="en-US" sz="2500" dirty="0"/>
          </a:p>
        </p:txBody>
      </p:sp>
      <p:sp>
        <p:nvSpPr>
          <p:cNvPr id="32" name="Text 30"/>
          <p:cNvSpPr/>
          <p:nvPr/>
        </p:nvSpPr>
        <p:spPr>
          <a:xfrm>
            <a:off x="495604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jornadas</a:t>
            </a:r>
            <a:endParaRPr lang="en-US" sz="800" dirty="0"/>
          </a:p>
        </p:txBody>
      </p:sp>
      <p:sp>
        <p:nvSpPr>
          <p:cNvPr id="33" name="Shape 31"/>
          <p:cNvSpPr/>
          <p:nvPr/>
        </p:nvSpPr>
        <p:spPr>
          <a:xfrm>
            <a:off x="566928" y="5074920"/>
            <a:ext cx="5806440" cy="960120"/>
          </a:xfrm>
          <a:prstGeom prst="roundRect">
            <a:avLst>
              <a:gd name="adj" fmla="val 2381"/>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34" name="Text 32"/>
          <p:cNvSpPr/>
          <p:nvPr/>
        </p:nvSpPr>
        <p:spPr>
          <a:xfrm>
            <a:off x="731520" y="5193792"/>
            <a:ext cx="5394960" cy="182880"/>
          </a:xfrm>
          <a:prstGeom prst="rect">
            <a:avLst/>
          </a:prstGeom>
          <a:noFill/>
          <a:ln/>
        </p:spPr>
        <p:txBody>
          <a:bodyPr wrap="square" lIns="0" tIns="0" rIns="0" bIns="0" rtlCol="0" anchor="t"/>
          <a:lstStyle/>
          <a:p>
            <a:pPr algn="l" indent="0" marL="0">
              <a:buNone/>
            </a:pPr>
            <a:r>
              <a:rPr lang="en-US" sz="720" b="1" spc="120" kern="0" dirty="0">
                <a:solidFill>
                  <a:srgbClr val="8A5E0F"/>
                </a:solidFill>
                <a:latin typeface="Courier New" pitchFamily="34" charset="0"/>
                <a:ea typeface="Courier New" pitchFamily="34" charset="-122"/>
                <a:cs typeface="Courier New" pitchFamily="34" charset="-120"/>
              </a:rPr>
              <a:t>ALCANCE DECLARADO</a:t>
            </a:r>
            <a:endParaRPr lang="en-US" sz="720" dirty="0"/>
          </a:p>
        </p:txBody>
      </p:sp>
      <p:sp>
        <p:nvSpPr>
          <p:cNvPr id="35" name="Text 33"/>
          <p:cNvSpPr/>
          <p:nvPr/>
        </p:nvSpPr>
        <p:spPr>
          <a:xfrm>
            <a:off x="731520" y="5422392"/>
            <a:ext cx="5468112" cy="502920"/>
          </a:xfrm>
          <a:prstGeom prst="rect">
            <a:avLst/>
          </a:prstGeom>
          <a:noFill/>
          <a:ln/>
        </p:spPr>
        <p:txBody>
          <a:bodyPr wrap="square" lIns="0" tIns="0" rIns="0" bIns="0" rtlCol="0" anchor="t"/>
          <a:lstStyle/>
          <a:p>
            <a:pPr algn="l" indent="0" marL="0">
              <a:lnSpc>
                <a:spcPts val="1300"/>
              </a:lnSpc>
              <a:buNone/>
            </a:pPr>
            <a:r>
              <a:rPr lang="en-US" sz="950" dirty="0">
                <a:solidFill>
                  <a:srgbClr val="1A2A25"/>
                </a:solidFill>
                <a:latin typeface="Calibri" pitchFamily="34" charset="0"/>
                <a:ea typeface="Calibri" pitchFamily="34" charset="-122"/>
                <a:cs typeface="Calibri" pitchFamily="34" charset="-120"/>
              </a:rPr>
              <a:t>Entorno Docker del equipo, datos de prueba y módulo de pacientes. No es una auditoría de infraestructura ni de dispositivos médicos.</a:t>
            </a:r>
            <a:endParaRPr lang="en-US" sz="950" dirty="0"/>
          </a:p>
        </p:txBody>
      </p:sp>
      <p:sp>
        <p:nvSpPr>
          <p:cNvPr id="36" name="Text 34"/>
          <p:cNvSpPr/>
          <p:nvPr/>
        </p:nvSpPr>
        <p:spPr>
          <a:xfrm>
            <a:off x="6720840" y="1627632"/>
            <a:ext cx="4754880" cy="182880"/>
          </a:xfrm>
          <a:prstGeom prst="rect">
            <a:avLst/>
          </a:prstGeom>
          <a:noFill/>
          <a:ln/>
        </p:spPr>
        <p:txBody>
          <a:bodyPr wrap="square" lIns="0" tIns="0" rIns="0" bIns="0" rtlCol="0" anchor="t"/>
          <a:lstStyle/>
          <a:p>
            <a:pPr algn="l" indent="0" marL="0">
              <a:buNone/>
            </a:pPr>
            <a:r>
              <a:rPr lang="en-US" sz="720" b="1" spc="140" kern="0" dirty="0">
                <a:solidFill>
                  <a:srgbClr val="5C6D67"/>
                </a:solidFill>
                <a:latin typeface="Courier New" pitchFamily="34" charset="0"/>
                <a:ea typeface="Courier New" pitchFamily="34" charset="-122"/>
                <a:cs typeface="Courier New" pitchFamily="34" charset="-120"/>
              </a:rPr>
              <a:t>TRES ROLES, TRES LÍMITES</a:t>
            </a:r>
            <a:endParaRPr lang="en-US" sz="720" dirty="0"/>
          </a:p>
        </p:txBody>
      </p:sp>
      <p:sp>
        <p:nvSpPr>
          <p:cNvPr id="37" name="Shape 35"/>
          <p:cNvSpPr/>
          <p:nvPr/>
        </p:nvSpPr>
        <p:spPr>
          <a:xfrm>
            <a:off x="6720840" y="1901952"/>
            <a:ext cx="4892040" cy="1188720"/>
          </a:xfrm>
          <a:prstGeom prst="roundRect">
            <a:avLst>
              <a:gd name="adj" fmla="val 192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8" name="Shape 36"/>
          <p:cNvSpPr/>
          <p:nvPr/>
        </p:nvSpPr>
        <p:spPr>
          <a:xfrm>
            <a:off x="6903720" y="2066544"/>
            <a:ext cx="402336" cy="402336"/>
          </a:xfrm>
          <a:prstGeom prst="ellipse">
            <a:avLst/>
          </a:prstGeom>
          <a:solidFill>
            <a:srgbClr val="DCEBE5"/>
          </a:solidFill>
          <a:ln w="12700">
            <a:solidFill>
              <a:srgbClr val="DCEBE5"/>
            </a:solidFill>
            <a:prstDash val="solid"/>
          </a:ln>
        </p:spPr>
      </p:sp>
      <p:sp>
        <p:nvSpPr>
          <p:cNvPr id="39" name="Text 37"/>
          <p:cNvSpPr/>
          <p:nvPr/>
        </p:nvSpPr>
        <p:spPr>
          <a:xfrm>
            <a:off x="6903720" y="2130552"/>
            <a:ext cx="402336" cy="237744"/>
          </a:xfrm>
          <a:prstGeom prst="rect">
            <a:avLst/>
          </a:prstGeom>
          <a:noFill/>
          <a:ln/>
        </p:spPr>
        <p:txBody>
          <a:bodyPr wrap="square" lIns="0" tIns="0" rIns="0" bIns="0" rtlCol="0" anchor="t"/>
          <a:lstStyle/>
          <a:p>
            <a:pPr algn="ctr" indent="0" marL="0">
              <a:buNone/>
            </a:pPr>
            <a:r>
              <a:rPr lang="en-US" sz="1500" b="1" dirty="0">
                <a:solidFill>
                  <a:srgbClr val="123B33"/>
                </a:solidFill>
                <a:latin typeface="Cambria" pitchFamily="34" charset="0"/>
                <a:ea typeface="Cambria" pitchFamily="34" charset="-122"/>
                <a:cs typeface="Cambria" pitchFamily="34" charset="-120"/>
              </a:rPr>
              <a:t>A</a:t>
            </a:r>
            <a:endParaRPr lang="en-US" sz="1500" dirty="0"/>
          </a:p>
        </p:txBody>
      </p:sp>
      <p:sp>
        <p:nvSpPr>
          <p:cNvPr id="40" name="Text 38"/>
          <p:cNvSpPr/>
          <p:nvPr/>
        </p:nvSpPr>
        <p:spPr>
          <a:xfrm>
            <a:off x="7443216" y="2048256"/>
            <a:ext cx="1828800" cy="274320"/>
          </a:xfrm>
          <a:prstGeom prst="rect">
            <a:avLst/>
          </a:prstGeom>
          <a:noFill/>
          <a:ln/>
        </p:spPr>
        <p:txBody>
          <a:bodyPr wrap="square" lIns="0" tIns="0" rIns="0" bIns="0" rtlCol="0" anchor="t"/>
          <a:lstStyle/>
          <a:p>
            <a:pPr algn="l" indent="0" marL="0">
              <a:buNone/>
            </a:pPr>
            <a:r>
              <a:rPr lang="en-US" sz="1400" b="1" dirty="0">
                <a:solidFill>
                  <a:srgbClr val="1A2A25"/>
                </a:solidFill>
                <a:latin typeface="Cambria" pitchFamily="34" charset="0"/>
                <a:ea typeface="Cambria" pitchFamily="34" charset="-122"/>
                <a:cs typeface="Cambria" pitchFamily="34" charset="-120"/>
              </a:rPr>
              <a:t>Admin</a:t>
            </a:r>
            <a:endParaRPr lang="en-US" sz="1400" dirty="0"/>
          </a:p>
        </p:txBody>
      </p:sp>
      <p:sp>
        <p:nvSpPr>
          <p:cNvPr id="41" name="Text 39"/>
          <p:cNvSpPr/>
          <p:nvPr/>
        </p:nvSpPr>
        <p:spPr>
          <a:xfrm>
            <a:off x="7443216" y="2322576"/>
            <a:ext cx="3931920" cy="182880"/>
          </a:xfrm>
          <a:prstGeom prst="rect">
            <a:avLst/>
          </a:prstGeom>
          <a:noFill/>
          <a:ln/>
        </p:spPr>
        <p:txBody>
          <a:bodyPr wrap="square" lIns="0" tIns="0" rIns="0" bIns="0" rtlCol="0" anchor="t"/>
          <a:lstStyle/>
          <a:p>
            <a:pPr algn="l" indent="0" marL="0">
              <a:buNone/>
            </a:pPr>
            <a:r>
              <a:rPr lang="en-US" sz="710" spc="40" kern="0" dirty="0">
                <a:solidFill>
                  <a:srgbClr val="5C6D67"/>
                </a:solidFill>
                <a:latin typeface="Courier New" pitchFamily="34" charset="0"/>
                <a:ea typeface="Courier New" pitchFamily="34" charset="-122"/>
                <a:cs typeface="Courier New" pitchFamily="34" charset="-120"/>
              </a:rPr>
              <a:t>RB-2 · acceso total</a:t>
            </a:r>
            <a:endParaRPr lang="en-US" sz="710" dirty="0"/>
          </a:p>
        </p:txBody>
      </p:sp>
      <p:sp>
        <p:nvSpPr>
          <p:cNvPr id="42" name="Text 40"/>
          <p:cNvSpPr/>
          <p:nvPr/>
        </p:nvSpPr>
        <p:spPr>
          <a:xfrm>
            <a:off x="7443216" y="2560320"/>
            <a:ext cx="3977640" cy="411480"/>
          </a:xfrm>
          <a:prstGeom prst="rect">
            <a:avLst/>
          </a:prstGeom>
          <a:noFill/>
          <a:ln/>
        </p:spPr>
        <p:txBody>
          <a:bodyPr wrap="square" lIns="0" tIns="0" rIns="0" bIns="0" rtlCol="0" anchor="t"/>
          <a:lstStyle/>
          <a:p>
            <a:pPr algn="l" indent="0" marL="0">
              <a:lnSpc>
                <a:spcPts val="1200"/>
              </a:lnSpc>
              <a:buNone/>
            </a:pPr>
            <a:r>
              <a:rPr lang="en-US" sz="920" dirty="0">
                <a:solidFill>
                  <a:srgbClr val="5C6D67"/>
                </a:solidFill>
                <a:latin typeface="Calibri" pitchFamily="34" charset="0"/>
                <a:ea typeface="Calibri" pitchFamily="34" charset="-122"/>
                <a:cs typeface="Calibri" pitchFamily="34" charset="-120"/>
              </a:rPr>
              <a:t>Configura usuarios y ve todos los módulos.</a:t>
            </a:r>
            <a:endParaRPr lang="en-US" sz="920" dirty="0"/>
          </a:p>
        </p:txBody>
      </p:sp>
      <p:sp>
        <p:nvSpPr>
          <p:cNvPr id="43" name="Shape 41"/>
          <p:cNvSpPr/>
          <p:nvPr/>
        </p:nvSpPr>
        <p:spPr>
          <a:xfrm>
            <a:off x="6720840" y="3227832"/>
            <a:ext cx="4892040" cy="1188720"/>
          </a:xfrm>
          <a:prstGeom prst="roundRect">
            <a:avLst>
              <a:gd name="adj" fmla="val 192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4" name="Shape 42"/>
          <p:cNvSpPr/>
          <p:nvPr/>
        </p:nvSpPr>
        <p:spPr>
          <a:xfrm>
            <a:off x="6903720" y="3392424"/>
            <a:ext cx="402336" cy="402336"/>
          </a:xfrm>
          <a:prstGeom prst="ellipse">
            <a:avLst/>
          </a:prstGeom>
          <a:solidFill>
            <a:srgbClr val="DCEBE5"/>
          </a:solidFill>
          <a:ln w="12700">
            <a:solidFill>
              <a:srgbClr val="DCEBE5"/>
            </a:solidFill>
            <a:prstDash val="solid"/>
          </a:ln>
        </p:spPr>
      </p:sp>
      <p:sp>
        <p:nvSpPr>
          <p:cNvPr id="45" name="Text 43"/>
          <p:cNvSpPr/>
          <p:nvPr/>
        </p:nvSpPr>
        <p:spPr>
          <a:xfrm>
            <a:off x="6903720" y="3456432"/>
            <a:ext cx="402336" cy="237744"/>
          </a:xfrm>
          <a:prstGeom prst="rect">
            <a:avLst/>
          </a:prstGeom>
          <a:noFill/>
          <a:ln/>
        </p:spPr>
        <p:txBody>
          <a:bodyPr wrap="square" lIns="0" tIns="0" rIns="0" bIns="0" rtlCol="0" anchor="t"/>
          <a:lstStyle/>
          <a:p>
            <a:pPr algn="ctr" indent="0" marL="0">
              <a:buNone/>
            </a:pPr>
            <a:r>
              <a:rPr lang="en-US" sz="1500" b="1" dirty="0">
                <a:solidFill>
                  <a:srgbClr val="123B33"/>
                </a:solidFill>
                <a:latin typeface="Cambria" pitchFamily="34" charset="0"/>
                <a:ea typeface="Cambria" pitchFamily="34" charset="-122"/>
                <a:cs typeface="Cambria" pitchFamily="34" charset="-120"/>
              </a:rPr>
              <a:t>M</a:t>
            </a:r>
            <a:endParaRPr lang="en-US" sz="1500" dirty="0"/>
          </a:p>
        </p:txBody>
      </p:sp>
      <p:sp>
        <p:nvSpPr>
          <p:cNvPr id="46" name="Text 44"/>
          <p:cNvSpPr/>
          <p:nvPr/>
        </p:nvSpPr>
        <p:spPr>
          <a:xfrm>
            <a:off x="7443216" y="3374136"/>
            <a:ext cx="1828800" cy="274320"/>
          </a:xfrm>
          <a:prstGeom prst="rect">
            <a:avLst/>
          </a:prstGeom>
          <a:noFill/>
          <a:ln/>
        </p:spPr>
        <p:txBody>
          <a:bodyPr wrap="square" lIns="0" tIns="0" rIns="0" bIns="0" rtlCol="0" anchor="t"/>
          <a:lstStyle/>
          <a:p>
            <a:pPr algn="l" indent="0" marL="0">
              <a:buNone/>
            </a:pPr>
            <a:r>
              <a:rPr lang="en-US" sz="1400" b="1" dirty="0">
                <a:solidFill>
                  <a:srgbClr val="1A2A25"/>
                </a:solidFill>
                <a:latin typeface="Cambria" pitchFamily="34" charset="0"/>
                <a:ea typeface="Cambria" pitchFamily="34" charset="-122"/>
                <a:cs typeface="Cambria" pitchFamily="34" charset="-120"/>
              </a:rPr>
              <a:t>Médico</a:t>
            </a:r>
            <a:endParaRPr lang="en-US" sz="1400" dirty="0"/>
          </a:p>
        </p:txBody>
      </p:sp>
      <p:sp>
        <p:nvSpPr>
          <p:cNvPr id="47" name="Text 45"/>
          <p:cNvSpPr/>
          <p:nvPr/>
        </p:nvSpPr>
        <p:spPr>
          <a:xfrm>
            <a:off x="7443216" y="3648456"/>
            <a:ext cx="3931920" cy="182880"/>
          </a:xfrm>
          <a:prstGeom prst="rect">
            <a:avLst/>
          </a:prstGeom>
          <a:noFill/>
          <a:ln/>
        </p:spPr>
        <p:txBody>
          <a:bodyPr wrap="square" lIns="0" tIns="0" rIns="0" bIns="0" rtlCol="0" anchor="t"/>
          <a:lstStyle/>
          <a:p>
            <a:pPr algn="l" indent="0" marL="0">
              <a:buNone/>
            </a:pPr>
            <a:r>
              <a:rPr lang="en-US" sz="710" spc="40" kern="0" dirty="0">
                <a:solidFill>
                  <a:srgbClr val="5C6D67"/>
                </a:solidFill>
                <a:latin typeface="Courier New" pitchFamily="34" charset="0"/>
                <a:ea typeface="Courier New" pitchFamily="34" charset="-122"/>
                <a:cs typeface="Courier New" pitchFamily="34" charset="-120"/>
              </a:rPr>
              <a:t>RB-3 · información clínica</a:t>
            </a:r>
            <a:endParaRPr lang="en-US" sz="710" dirty="0"/>
          </a:p>
        </p:txBody>
      </p:sp>
      <p:sp>
        <p:nvSpPr>
          <p:cNvPr id="48" name="Text 46"/>
          <p:cNvSpPr/>
          <p:nvPr/>
        </p:nvSpPr>
        <p:spPr>
          <a:xfrm>
            <a:off x="7443216" y="3886200"/>
            <a:ext cx="3977640" cy="411480"/>
          </a:xfrm>
          <a:prstGeom prst="rect">
            <a:avLst/>
          </a:prstGeom>
          <a:noFill/>
          <a:ln/>
        </p:spPr>
        <p:txBody>
          <a:bodyPr wrap="square" lIns="0" tIns="0" rIns="0" bIns="0" rtlCol="0" anchor="t"/>
          <a:lstStyle/>
          <a:p>
            <a:pPr algn="l" indent="0" marL="0">
              <a:lnSpc>
                <a:spcPts val="1200"/>
              </a:lnSpc>
              <a:buNone/>
            </a:pPr>
            <a:r>
              <a:rPr lang="en-US" sz="920" dirty="0">
                <a:solidFill>
                  <a:srgbClr val="5C6D67"/>
                </a:solidFill>
                <a:latin typeface="Calibri" pitchFamily="34" charset="0"/>
                <a:ea typeface="Calibri" pitchFamily="34" charset="-122"/>
                <a:cs typeface="Calibri" pitchFamily="34" charset="-120"/>
              </a:rPr>
              <a:t>Accede a exámenes y documentos de sus pacientes.</a:t>
            </a:r>
            <a:endParaRPr lang="en-US" sz="920" dirty="0"/>
          </a:p>
        </p:txBody>
      </p:sp>
      <p:sp>
        <p:nvSpPr>
          <p:cNvPr id="49" name="Shape 47"/>
          <p:cNvSpPr/>
          <p:nvPr/>
        </p:nvSpPr>
        <p:spPr>
          <a:xfrm>
            <a:off x="6720840" y="4553712"/>
            <a:ext cx="4892040" cy="1188720"/>
          </a:xfrm>
          <a:prstGeom prst="roundRect">
            <a:avLst>
              <a:gd name="adj" fmla="val 192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50" name="Shape 48"/>
          <p:cNvSpPr/>
          <p:nvPr/>
        </p:nvSpPr>
        <p:spPr>
          <a:xfrm>
            <a:off x="6903720" y="4718304"/>
            <a:ext cx="402336" cy="402336"/>
          </a:xfrm>
          <a:prstGeom prst="ellipse">
            <a:avLst/>
          </a:prstGeom>
          <a:solidFill>
            <a:srgbClr val="DCEBE5"/>
          </a:solidFill>
          <a:ln w="12700">
            <a:solidFill>
              <a:srgbClr val="DCEBE5"/>
            </a:solidFill>
            <a:prstDash val="solid"/>
          </a:ln>
        </p:spPr>
      </p:sp>
      <p:sp>
        <p:nvSpPr>
          <p:cNvPr id="51" name="Text 49"/>
          <p:cNvSpPr/>
          <p:nvPr/>
        </p:nvSpPr>
        <p:spPr>
          <a:xfrm>
            <a:off x="6903720" y="4782312"/>
            <a:ext cx="402336" cy="237744"/>
          </a:xfrm>
          <a:prstGeom prst="rect">
            <a:avLst/>
          </a:prstGeom>
          <a:noFill/>
          <a:ln/>
        </p:spPr>
        <p:txBody>
          <a:bodyPr wrap="square" lIns="0" tIns="0" rIns="0" bIns="0" rtlCol="0" anchor="t"/>
          <a:lstStyle/>
          <a:p>
            <a:pPr algn="ctr" indent="0" marL="0">
              <a:buNone/>
            </a:pPr>
            <a:r>
              <a:rPr lang="en-US" sz="1500" b="1" dirty="0">
                <a:solidFill>
                  <a:srgbClr val="123B33"/>
                </a:solidFill>
                <a:latin typeface="Cambria" pitchFamily="34" charset="0"/>
                <a:ea typeface="Cambria" pitchFamily="34" charset="-122"/>
                <a:cs typeface="Cambria" pitchFamily="34" charset="-120"/>
              </a:rPr>
              <a:t>P</a:t>
            </a:r>
            <a:endParaRPr lang="en-US" sz="1500" dirty="0"/>
          </a:p>
        </p:txBody>
      </p:sp>
      <p:sp>
        <p:nvSpPr>
          <p:cNvPr id="52" name="Text 50"/>
          <p:cNvSpPr/>
          <p:nvPr/>
        </p:nvSpPr>
        <p:spPr>
          <a:xfrm>
            <a:off x="7443216" y="4700016"/>
            <a:ext cx="1828800" cy="274320"/>
          </a:xfrm>
          <a:prstGeom prst="rect">
            <a:avLst/>
          </a:prstGeom>
          <a:noFill/>
          <a:ln/>
        </p:spPr>
        <p:txBody>
          <a:bodyPr wrap="square" lIns="0" tIns="0" rIns="0" bIns="0" rtlCol="0" anchor="t"/>
          <a:lstStyle/>
          <a:p>
            <a:pPr algn="l" indent="0" marL="0">
              <a:buNone/>
            </a:pPr>
            <a:r>
              <a:rPr lang="en-US" sz="1400" b="1" dirty="0">
                <a:solidFill>
                  <a:srgbClr val="1A2A25"/>
                </a:solidFill>
                <a:latin typeface="Cambria" pitchFamily="34" charset="0"/>
                <a:ea typeface="Cambria" pitchFamily="34" charset="-122"/>
                <a:cs typeface="Cambria" pitchFamily="34" charset="-120"/>
              </a:rPr>
              <a:t>Paciente</a:t>
            </a:r>
            <a:endParaRPr lang="en-US" sz="1400" dirty="0"/>
          </a:p>
        </p:txBody>
      </p:sp>
      <p:sp>
        <p:nvSpPr>
          <p:cNvPr id="53" name="Text 51"/>
          <p:cNvSpPr/>
          <p:nvPr/>
        </p:nvSpPr>
        <p:spPr>
          <a:xfrm>
            <a:off x="7443216" y="4974336"/>
            <a:ext cx="3931920" cy="182880"/>
          </a:xfrm>
          <a:prstGeom prst="rect">
            <a:avLst/>
          </a:prstGeom>
          <a:noFill/>
          <a:ln/>
        </p:spPr>
        <p:txBody>
          <a:bodyPr wrap="square" lIns="0" tIns="0" rIns="0" bIns="0" rtlCol="0" anchor="t"/>
          <a:lstStyle/>
          <a:p>
            <a:pPr algn="l" indent="0" marL="0">
              <a:buNone/>
            </a:pPr>
            <a:r>
              <a:rPr lang="en-US" sz="710" spc="40" kern="0" dirty="0">
                <a:solidFill>
                  <a:srgbClr val="5C6D67"/>
                </a:solidFill>
                <a:latin typeface="Courier New" pitchFamily="34" charset="0"/>
                <a:ea typeface="Courier New" pitchFamily="34" charset="-122"/>
                <a:cs typeface="Courier New" pitchFamily="34" charset="-120"/>
              </a:rPr>
              <a:t>RB-1 · solo lectura</a:t>
            </a:r>
            <a:endParaRPr lang="en-US" sz="710" dirty="0"/>
          </a:p>
        </p:txBody>
      </p:sp>
      <p:sp>
        <p:nvSpPr>
          <p:cNvPr id="54" name="Text 52"/>
          <p:cNvSpPr/>
          <p:nvPr/>
        </p:nvSpPr>
        <p:spPr>
          <a:xfrm>
            <a:off x="7443216" y="5212080"/>
            <a:ext cx="3977640" cy="411480"/>
          </a:xfrm>
          <a:prstGeom prst="rect">
            <a:avLst/>
          </a:prstGeom>
          <a:noFill/>
          <a:ln/>
        </p:spPr>
        <p:txBody>
          <a:bodyPr wrap="square" lIns="0" tIns="0" rIns="0" bIns="0" rtlCol="0" anchor="t"/>
          <a:lstStyle/>
          <a:p>
            <a:pPr algn="l" indent="0" marL="0">
              <a:lnSpc>
                <a:spcPts val="1200"/>
              </a:lnSpc>
              <a:buNone/>
            </a:pPr>
            <a:r>
              <a:rPr lang="en-US" sz="920" dirty="0">
                <a:solidFill>
                  <a:srgbClr val="5C6D67"/>
                </a:solidFill>
                <a:latin typeface="Calibri" pitchFamily="34" charset="0"/>
                <a:ea typeface="Calibri" pitchFamily="34" charset="-122"/>
                <a:cs typeface="Calibri" pitchFamily="34" charset="-120"/>
              </a:rPr>
              <a:t>Consulta únicamente su propia información.</a:t>
            </a:r>
            <a:endParaRPr lang="en-US" sz="9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02 · ESTRATEGIA</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Priorizar por riesgo, no por cobertura aparente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03 / 17</a:t>
            </a:r>
            <a:endParaRPr lang="en-US" sz="730" dirty="0"/>
          </a:p>
        </p:txBody>
      </p:sp>
      <p:sp>
        <p:nvSpPr>
          <p:cNvPr id="7" name="Text 5"/>
          <p:cNvSpPr/>
          <p:nvPr/>
        </p:nvSpPr>
        <p:spPr>
          <a:xfrm>
            <a:off x="566928" y="1554480"/>
            <a:ext cx="3657600" cy="182880"/>
          </a:xfrm>
          <a:prstGeom prst="rect">
            <a:avLst/>
          </a:prstGeom>
          <a:noFill/>
          <a:ln/>
        </p:spPr>
        <p:txBody>
          <a:bodyPr wrap="square" lIns="0" tIns="0" rIns="0" bIns="0" rtlCol="0" anchor="t"/>
          <a:lstStyle/>
          <a:p>
            <a:pPr algn="l" indent="0" marL="0">
              <a:buNone/>
            </a:pPr>
            <a:r>
              <a:rPr lang="en-US" sz="720" b="1" spc="130" kern="0" dirty="0">
                <a:solidFill>
                  <a:srgbClr val="5C6D67"/>
                </a:solidFill>
                <a:latin typeface="Courier New" pitchFamily="34" charset="0"/>
                <a:ea typeface="Courier New" pitchFamily="34" charset="-122"/>
                <a:cs typeface="Courier New" pitchFamily="34" charset="-120"/>
              </a:rPr>
              <a:t>PROBABILIDAD ↑</a:t>
            </a:r>
            <a:endParaRPr lang="en-US" sz="720" dirty="0"/>
          </a:p>
        </p:txBody>
      </p:sp>
      <p:sp>
        <p:nvSpPr>
          <p:cNvPr id="8" name="Text 6"/>
          <p:cNvSpPr/>
          <p:nvPr/>
        </p:nvSpPr>
        <p:spPr>
          <a:xfrm>
            <a:off x="4160520" y="5486400"/>
            <a:ext cx="2240280" cy="182880"/>
          </a:xfrm>
          <a:prstGeom prst="rect">
            <a:avLst/>
          </a:prstGeom>
          <a:noFill/>
          <a:ln/>
        </p:spPr>
        <p:txBody>
          <a:bodyPr wrap="square" lIns="0" tIns="0" rIns="0" bIns="0" rtlCol="0" anchor="t"/>
          <a:lstStyle/>
          <a:p>
            <a:pPr algn="r" indent="0" marL="0">
              <a:buNone/>
            </a:pPr>
            <a:r>
              <a:rPr lang="en-US" sz="720" b="1" spc="130" kern="0" dirty="0">
                <a:solidFill>
                  <a:srgbClr val="5C6D67"/>
                </a:solidFill>
                <a:latin typeface="Courier New" pitchFamily="34" charset="0"/>
                <a:ea typeface="Courier New" pitchFamily="34" charset="-122"/>
                <a:cs typeface="Courier New" pitchFamily="34" charset="-120"/>
              </a:rPr>
              <a:t>IMPACTO →</a:t>
            </a:r>
            <a:endParaRPr lang="en-US" sz="720" dirty="0"/>
          </a:p>
        </p:txBody>
      </p:sp>
      <p:sp>
        <p:nvSpPr>
          <p:cNvPr id="9" name="Shape 7"/>
          <p:cNvSpPr/>
          <p:nvPr/>
        </p:nvSpPr>
        <p:spPr>
          <a:xfrm>
            <a:off x="566928" y="1847088"/>
            <a:ext cx="3099816" cy="1760220"/>
          </a:xfrm>
          <a:prstGeom prst="rect">
            <a:avLst/>
          </a:prstGeom>
          <a:solidFill>
            <a:srgbClr val="F6E8CD"/>
          </a:solidFill>
          <a:ln w="15240">
            <a:solidFill>
              <a:srgbClr val="FFFFFF"/>
            </a:solidFill>
            <a:prstDash val="solid"/>
          </a:ln>
        </p:spPr>
      </p:sp>
      <p:sp>
        <p:nvSpPr>
          <p:cNvPr id="10" name="Text 8"/>
          <p:cNvSpPr/>
          <p:nvPr/>
        </p:nvSpPr>
        <p:spPr>
          <a:xfrm>
            <a:off x="676656" y="193852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MONITOREAR</a:t>
            </a:r>
            <a:endParaRPr lang="en-US" sz="700" dirty="0"/>
          </a:p>
        </p:txBody>
      </p:sp>
      <p:sp>
        <p:nvSpPr>
          <p:cNvPr id="11" name="Shape 9"/>
          <p:cNvSpPr/>
          <p:nvPr/>
        </p:nvSpPr>
        <p:spPr>
          <a:xfrm>
            <a:off x="3666744" y="1847088"/>
            <a:ext cx="3099816" cy="1760220"/>
          </a:xfrm>
          <a:prstGeom prst="rect">
            <a:avLst/>
          </a:prstGeom>
          <a:solidFill>
            <a:srgbClr val="F5DDD9"/>
          </a:solidFill>
          <a:ln w="15240">
            <a:solidFill>
              <a:srgbClr val="FFFFFF"/>
            </a:solidFill>
            <a:prstDash val="solid"/>
          </a:ln>
        </p:spPr>
      </p:sp>
      <p:sp>
        <p:nvSpPr>
          <p:cNvPr id="12" name="Text 10"/>
          <p:cNvSpPr/>
          <p:nvPr/>
        </p:nvSpPr>
        <p:spPr>
          <a:xfrm>
            <a:off x="3776472" y="193852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CRÍTICO</a:t>
            </a:r>
            <a:endParaRPr lang="en-US" sz="700" dirty="0"/>
          </a:p>
        </p:txBody>
      </p:sp>
      <p:sp>
        <p:nvSpPr>
          <p:cNvPr id="13" name="Shape 11"/>
          <p:cNvSpPr/>
          <p:nvPr/>
        </p:nvSpPr>
        <p:spPr>
          <a:xfrm>
            <a:off x="566928" y="3607308"/>
            <a:ext cx="3099816" cy="1760220"/>
          </a:xfrm>
          <a:prstGeom prst="rect">
            <a:avLst/>
          </a:prstGeom>
          <a:solidFill>
            <a:srgbClr val="EDF4F0"/>
          </a:solidFill>
          <a:ln w="15240">
            <a:solidFill>
              <a:srgbClr val="FFFFFF"/>
            </a:solidFill>
            <a:prstDash val="solid"/>
          </a:ln>
        </p:spPr>
      </p:sp>
      <p:sp>
        <p:nvSpPr>
          <p:cNvPr id="14" name="Text 12"/>
          <p:cNvSpPr/>
          <p:nvPr/>
        </p:nvSpPr>
        <p:spPr>
          <a:xfrm>
            <a:off x="676656" y="369874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ACEPTAR</a:t>
            </a:r>
            <a:endParaRPr lang="en-US" sz="700" dirty="0"/>
          </a:p>
        </p:txBody>
      </p:sp>
      <p:sp>
        <p:nvSpPr>
          <p:cNvPr id="15" name="Shape 13"/>
          <p:cNvSpPr/>
          <p:nvPr/>
        </p:nvSpPr>
        <p:spPr>
          <a:xfrm>
            <a:off x="3666744" y="3607308"/>
            <a:ext cx="3099816" cy="1760220"/>
          </a:xfrm>
          <a:prstGeom prst="rect">
            <a:avLst/>
          </a:prstGeom>
          <a:solidFill>
            <a:srgbClr val="DCEBE5"/>
          </a:solidFill>
          <a:ln w="15240">
            <a:solidFill>
              <a:srgbClr val="FFFFFF"/>
            </a:solidFill>
            <a:prstDash val="solid"/>
          </a:ln>
        </p:spPr>
      </p:sp>
      <p:sp>
        <p:nvSpPr>
          <p:cNvPr id="16" name="Text 14"/>
          <p:cNvSpPr/>
          <p:nvPr/>
        </p:nvSpPr>
        <p:spPr>
          <a:xfrm>
            <a:off x="3776472" y="369874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VIGILAR</a:t>
            </a:r>
            <a:endParaRPr lang="en-US" sz="700" dirty="0"/>
          </a:p>
        </p:txBody>
      </p:sp>
      <p:sp>
        <p:nvSpPr>
          <p:cNvPr id="17" name="Shape 15"/>
          <p:cNvSpPr/>
          <p:nvPr/>
        </p:nvSpPr>
        <p:spPr>
          <a:xfrm>
            <a:off x="3675888" y="2103120"/>
            <a:ext cx="1572768" cy="292608"/>
          </a:xfrm>
          <a:prstGeom prst="roundRect">
            <a:avLst>
              <a:gd name="adj" fmla="val 15625"/>
            </a:avLst>
          </a:prstGeom>
          <a:solidFill>
            <a:srgbClr val="FFFFFF"/>
          </a:solidFill>
          <a:ln w="7620">
            <a:solidFill>
              <a:srgbClr val="D7E0DB"/>
            </a:solidFill>
            <a:prstDash val="solid"/>
          </a:ln>
        </p:spPr>
      </p:sp>
      <p:sp>
        <p:nvSpPr>
          <p:cNvPr id="18" name="Text 16"/>
          <p:cNvSpPr/>
          <p:nvPr/>
        </p:nvSpPr>
        <p:spPr>
          <a:xfrm>
            <a:off x="3749040" y="2157984"/>
            <a:ext cx="142646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RS-01 · Escalación JWT</a:t>
            </a:r>
            <a:endParaRPr lang="en-US" sz="710" dirty="0"/>
          </a:p>
        </p:txBody>
      </p:sp>
      <p:sp>
        <p:nvSpPr>
          <p:cNvPr id="19" name="Shape 17"/>
          <p:cNvSpPr/>
          <p:nvPr/>
        </p:nvSpPr>
        <p:spPr>
          <a:xfrm>
            <a:off x="3767328" y="2688336"/>
            <a:ext cx="1572768" cy="292608"/>
          </a:xfrm>
          <a:prstGeom prst="roundRect">
            <a:avLst>
              <a:gd name="adj" fmla="val 15625"/>
            </a:avLst>
          </a:prstGeom>
          <a:solidFill>
            <a:srgbClr val="FFFFFF"/>
          </a:solidFill>
          <a:ln w="7620">
            <a:solidFill>
              <a:srgbClr val="D7E0DB"/>
            </a:solidFill>
            <a:prstDash val="solid"/>
          </a:ln>
        </p:spPr>
      </p:sp>
      <p:sp>
        <p:nvSpPr>
          <p:cNvPr id="20" name="Text 18"/>
          <p:cNvSpPr/>
          <p:nvPr/>
        </p:nvSpPr>
        <p:spPr>
          <a:xfrm>
            <a:off x="3840480" y="2743200"/>
            <a:ext cx="142646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RS-02 · Fuga de datos</a:t>
            </a:r>
            <a:endParaRPr lang="en-US" sz="710" dirty="0"/>
          </a:p>
        </p:txBody>
      </p:sp>
      <p:sp>
        <p:nvSpPr>
          <p:cNvPr id="21" name="Shape 19"/>
          <p:cNvSpPr/>
          <p:nvPr/>
        </p:nvSpPr>
        <p:spPr>
          <a:xfrm>
            <a:off x="1600200" y="2834640"/>
            <a:ext cx="1481328" cy="292608"/>
          </a:xfrm>
          <a:prstGeom prst="roundRect">
            <a:avLst>
              <a:gd name="adj" fmla="val 15625"/>
            </a:avLst>
          </a:prstGeom>
          <a:solidFill>
            <a:srgbClr val="FFFFFF"/>
          </a:solidFill>
          <a:ln w="7620">
            <a:solidFill>
              <a:srgbClr val="D7E0DB"/>
            </a:solidFill>
            <a:prstDash val="solid"/>
          </a:ln>
        </p:spPr>
      </p:sp>
      <p:sp>
        <p:nvSpPr>
          <p:cNvPr id="22" name="Text 20"/>
          <p:cNvSpPr/>
          <p:nvPr/>
        </p:nvSpPr>
        <p:spPr>
          <a:xfrm>
            <a:off x="1673352" y="2889504"/>
            <a:ext cx="133502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RS-03 · Lentitud 5 s</a:t>
            </a:r>
            <a:endParaRPr lang="en-US" sz="710" dirty="0"/>
          </a:p>
        </p:txBody>
      </p:sp>
      <p:sp>
        <p:nvSpPr>
          <p:cNvPr id="23" name="Shape 21"/>
          <p:cNvSpPr/>
          <p:nvPr/>
        </p:nvSpPr>
        <p:spPr>
          <a:xfrm>
            <a:off x="2734056" y="3877056"/>
            <a:ext cx="1298448" cy="292608"/>
          </a:xfrm>
          <a:prstGeom prst="roundRect">
            <a:avLst>
              <a:gd name="adj" fmla="val 15625"/>
            </a:avLst>
          </a:prstGeom>
          <a:solidFill>
            <a:srgbClr val="FFFFFF"/>
          </a:solidFill>
          <a:ln w="7620">
            <a:solidFill>
              <a:srgbClr val="D7E0DB"/>
            </a:solidFill>
            <a:prstDash val="solid"/>
          </a:ln>
        </p:spPr>
      </p:sp>
      <p:sp>
        <p:nvSpPr>
          <p:cNvPr id="24" name="Text 22"/>
          <p:cNvSpPr/>
          <p:nvPr/>
        </p:nvSpPr>
        <p:spPr>
          <a:xfrm>
            <a:off x="2807208" y="3931920"/>
            <a:ext cx="115214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RS-04 · Auditoría</a:t>
            </a:r>
            <a:endParaRPr lang="en-US" sz="710" dirty="0"/>
          </a:p>
        </p:txBody>
      </p:sp>
      <p:sp>
        <p:nvSpPr>
          <p:cNvPr id="25" name="Text 23"/>
          <p:cNvSpPr/>
          <p:nvPr/>
        </p:nvSpPr>
        <p:spPr>
          <a:xfrm>
            <a:off x="7315200" y="1664208"/>
            <a:ext cx="4206240" cy="182880"/>
          </a:xfrm>
          <a:prstGeom prst="rect">
            <a:avLst/>
          </a:prstGeom>
          <a:noFill/>
          <a:ln/>
        </p:spPr>
        <p:txBody>
          <a:bodyPr wrap="square" lIns="0" tIns="0" rIns="0" bIns="0" rtlCol="0" anchor="t"/>
          <a:lstStyle/>
          <a:p>
            <a:pPr algn="l" indent="0" marL="0">
              <a:buNone/>
            </a:pPr>
            <a:r>
              <a:rPr lang="en-US" sz="720" b="1" spc="140" kern="0" dirty="0">
                <a:solidFill>
                  <a:srgbClr val="5C6D67"/>
                </a:solidFill>
                <a:latin typeface="Courier New" pitchFamily="34" charset="0"/>
                <a:ea typeface="Courier New" pitchFamily="34" charset="-122"/>
                <a:cs typeface="Courier New" pitchFamily="34" charset="-120"/>
              </a:rPr>
              <a:t>CÓMO SE EJECUTÓ</a:t>
            </a:r>
            <a:endParaRPr lang="en-US" sz="720" dirty="0"/>
          </a:p>
        </p:txBody>
      </p:sp>
      <p:sp>
        <p:nvSpPr>
          <p:cNvPr id="26" name="Text 24"/>
          <p:cNvSpPr/>
          <p:nvPr/>
        </p:nvSpPr>
        <p:spPr>
          <a:xfrm>
            <a:off x="7315200" y="1938528"/>
            <a:ext cx="411480" cy="219456"/>
          </a:xfrm>
          <a:prstGeom prst="rect">
            <a:avLst/>
          </a:prstGeom>
          <a:noFill/>
          <a:ln/>
        </p:spPr>
        <p:txBody>
          <a:bodyPr wrap="square" lIns="0" tIns="0" rIns="0" bIns="0" rtlCol="0" anchor="t"/>
          <a:lstStyle/>
          <a:p>
            <a:pPr algn="l" indent="0" marL="0">
              <a:buNone/>
            </a:pPr>
            <a:r>
              <a:rPr lang="en-US" sz="900" b="1" dirty="0">
                <a:solidFill>
                  <a:srgbClr val="C98A1E"/>
                </a:solidFill>
                <a:latin typeface="Courier New" pitchFamily="34" charset="0"/>
                <a:ea typeface="Courier New" pitchFamily="34" charset="-122"/>
                <a:cs typeface="Courier New" pitchFamily="34" charset="-120"/>
              </a:rPr>
              <a:t>01</a:t>
            </a:r>
            <a:endParaRPr lang="en-US" sz="900" dirty="0"/>
          </a:p>
        </p:txBody>
      </p:sp>
      <p:sp>
        <p:nvSpPr>
          <p:cNvPr id="27" name="Text 25"/>
          <p:cNvSpPr/>
          <p:nvPr/>
        </p:nvSpPr>
        <p:spPr>
          <a:xfrm>
            <a:off x="7754112" y="1920240"/>
            <a:ext cx="374904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Revisión manual contra OWASP</a:t>
            </a:r>
            <a:endParaRPr lang="en-US" sz="1150" dirty="0"/>
          </a:p>
        </p:txBody>
      </p:sp>
      <p:sp>
        <p:nvSpPr>
          <p:cNvPr id="28" name="Text 26"/>
          <p:cNvSpPr/>
          <p:nvPr/>
        </p:nvSpPr>
        <p:spPr>
          <a:xfrm>
            <a:off x="7754112" y="2157984"/>
            <a:ext cx="3749040" cy="219456"/>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Contrato, validaciones y controles de acceso.</a:t>
            </a:r>
            <a:endParaRPr lang="en-US" sz="900" dirty="0"/>
          </a:p>
        </p:txBody>
      </p:sp>
      <p:sp>
        <p:nvSpPr>
          <p:cNvPr id="29" name="Text 27"/>
          <p:cNvSpPr/>
          <p:nvPr/>
        </p:nvSpPr>
        <p:spPr>
          <a:xfrm>
            <a:off x="7315200" y="2651760"/>
            <a:ext cx="411480" cy="219456"/>
          </a:xfrm>
          <a:prstGeom prst="rect">
            <a:avLst/>
          </a:prstGeom>
          <a:noFill/>
          <a:ln/>
        </p:spPr>
        <p:txBody>
          <a:bodyPr wrap="square" lIns="0" tIns="0" rIns="0" bIns="0" rtlCol="0" anchor="t"/>
          <a:lstStyle/>
          <a:p>
            <a:pPr algn="l" indent="0" marL="0">
              <a:buNone/>
            </a:pPr>
            <a:r>
              <a:rPr lang="en-US" sz="900" b="1" dirty="0">
                <a:solidFill>
                  <a:srgbClr val="C98A1E"/>
                </a:solidFill>
                <a:latin typeface="Courier New" pitchFamily="34" charset="0"/>
                <a:ea typeface="Courier New" pitchFamily="34" charset="-122"/>
                <a:cs typeface="Courier New" pitchFamily="34" charset="-120"/>
              </a:rPr>
              <a:t>02</a:t>
            </a:r>
            <a:endParaRPr lang="en-US" sz="900" dirty="0"/>
          </a:p>
        </p:txBody>
      </p:sp>
      <p:sp>
        <p:nvSpPr>
          <p:cNvPr id="30" name="Text 28"/>
          <p:cNvSpPr/>
          <p:nvPr/>
        </p:nvSpPr>
        <p:spPr>
          <a:xfrm>
            <a:off x="7754112" y="2633472"/>
            <a:ext cx="374904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SAST con SonarQube 9.9.8</a:t>
            </a:r>
            <a:endParaRPr lang="en-US" sz="1150" dirty="0"/>
          </a:p>
        </p:txBody>
      </p:sp>
      <p:sp>
        <p:nvSpPr>
          <p:cNvPr id="31" name="Text 29"/>
          <p:cNvSpPr/>
          <p:nvPr/>
        </p:nvSpPr>
        <p:spPr>
          <a:xfrm>
            <a:off x="7754112" y="2871216"/>
            <a:ext cx="3749040" cy="219456"/>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10.133 líneas, perfil OWASP, Quality Gate.</a:t>
            </a:r>
            <a:endParaRPr lang="en-US" sz="900" dirty="0"/>
          </a:p>
        </p:txBody>
      </p:sp>
      <p:sp>
        <p:nvSpPr>
          <p:cNvPr id="32" name="Text 30"/>
          <p:cNvSpPr/>
          <p:nvPr/>
        </p:nvSpPr>
        <p:spPr>
          <a:xfrm>
            <a:off x="7315200" y="3364992"/>
            <a:ext cx="411480" cy="219456"/>
          </a:xfrm>
          <a:prstGeom prst="rect">
            <a:avLst/>
          </a:prstGeom>
          <a:noFill/>
          <a:ln/>
        </p:spPr>
        <p:txBody>
          <a:bodyPr wrap="square" lIns="0" tIns="0" rIns="0" bIns="0" rtlCol="0" anchor="t"/>
          <a:lstStyle/>
          <a:p>
            <a:pPr algn="l" indent="0" marL="0">
              <a:buNone/>
            </a:pPr>
            <a:r>
              <a:rPr lang="en-US" sz="900" b="1" dirty="0">
                <a:solidFill>
                  <a:srgbClr val="C98A1E"/>
                </a:solidFill>
                <a:latin typeface="Courier New" pitchFamily="34" charset="0"/>
                <a:ea typeface="Courier New" pitchFamily="34" charset="-122"/>
                <a:cs typeface="Courier New" pitchFamily="34" charset="-120"/>
              </a:rPr>
              <a:t>03</a:t>
            </a:r>
            <a:endParaRPr lang="en-US" sz="900" dirty="0"/>
          </a:p>
        </p:txBody>
      </p:sp>
      <p:sp>
        <p:nvSpPr>
          <p:cNvPr id="33" name="Text 31"/>
          <p:cNvSpPr/>
          <p:nvPr/>
        </p:nvSpPr>
        <p:spPr>
          <a:xfrm>
            <a:off x="7754112" y="3346704"/>
            <a:ext cx="374904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Evidencia reproducible</a:t>
            </a:r>
            <a:endParaRPr lang="en-US" sz="1150" dirty="0"/>
          </a:p>
        </p:txBody>
      </p:sp>
      <p:sp>
        <p:nvSpPr>
          <p:cNvPr id="34" name="Text 32"/>
          <p:cNvSpPr/>
          <p:nvPr/>
        </p:nvSpPr>
        <p:spPr>
          <a:xfrm>
            <a:off x="7754112" y="3584448"/>
            <a:ext cx="3749040" cy="219456"/>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Docker + PostgreSQL + request/response.</a:t>
            </a:r>
            <a:endParaRPr lang="en-US" sz="900" dirty="0"/>
          </a:p>
        </p:txBody>
      </p:sp>
      <p:sp>
        <p:nvSpPr>
          <p:cNvPr id="35" name="Shape 33"/>
          <p:cNvSpPr/>
          <p:nvPr/>
        </p:nvSpPr>
        <p:spPr>
          <a:xfrm>
            <a:off x="7315200" y="4224528"/>
            <a:ext cx="42793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6" name="Text 34"/>
          <p:cNvSpPr/>
          <p:nvPr/>
        </p:nvSpPr>
        <p:spPr>
          <a:xfrm>
            <a:off x="7461504" y="4306824"/>
            <a:ext cx="3931920" cy="182880"/>
          </a:xfrm>
          <a:prstGeom prst="rect">
            <a:avLst/>
          </a:prstGeom>
          <a:noFill/>
          <a:ln/>
        </p:spPr>
        <p:txBody>
          <a:bodyPr wrap="square" lIns="0" tIns="0" rIns="0" bIns="0" rtlCol="0" anchor="t"/>
          <a:lstStyle/>
          <a:p>
            <a:pPr algn="l" indent="0" marL="0">
              <a:buNone/>
            </a:pPr>
            <a:r>
              <a:rPr lang="en-US" sz="690" b="1" spc="100" kern="0" dirty="0">
                <a:solidFill>
                  <a:srgbClr val="123B33"/>
                </a:solidFill>
                <a:latin typeface="Courier New" pitchFamily="34" charset="0"/>
                <a:ea typeface="Courier New" pitchFamily="34" charset="-122"/>
                <a:cs typeface="Courier New" pitchFamily="34" charset="-120"/>
              </a:rPr>
              <a:t>CRITERIO DE ENTRADA</a:t>
            </a:r>
            <a:endParaRPr lang="en-US" sz="690" dirty="0"/>
          </a:p>
        </p:txBody>
      </p:sp>
      <p:sp>
        <p:nvSpPr>
          <p:cNvPr id="37" name="Text 35"/>
          <p:cNvSpPr/>
          <p:nvPr/>
        </p:nvSpPr>
        <p:spPr>
          <a:xfrm>
            <a:off x="7461504" y="4517136"/>
            <a:ext cx="3977640" cy="36576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Entorno levantado, datos de prueba y token por rol.</a:t>
            </a:r>
            <a:endParaRPr lang="en-US" sz="900" dirty="0"/>
          </a:p>
        </p:txBody>
      </p:sp>
      <p:sp>
        <p:nvSpPr>
          <p:cNvPr id="38" name="Shape 36"/>
          <p:cNvSpPr/>
          <p:nvPr/>
        </p:nvSpPr>
        <p:spPr>
          <a:xfrm>
            <a:off x="7315200" y="5102352"/>
            <a:ext cx="42793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9" name="Text 37"/>
          <p:cNvSpPr/>
          <p:nvPr/>
        </p:nvSpPr>
        <p:spPr>
          <a:xfrm>
            <a:off x="7461504" y="5184648"/>
            <a:ext cx="3931920" cy="182880"/>
          </a:xfrm>
          <a:prstGeom prst="rect">
            <a:avLst/>
          </a:prstGeom>
          <a:noFill/>
          <a:ln/>
        </p:spPr>
        <p:txBody>
          <a:bodyPr wrap="square" lIns="0" tIns="0" rIns="0" bIns="0" rtlCol="0" anchor="t"/>
          <a:lstStyle/>
          <a:p>
            <a:pPr algn="l" indent="0" marL="0">
              <a:buNone/>
            </a:pPr>
            <a:r>
              <a:rPr lang="en-US" sz="690" b="1" spc="100" kern="0" dirty="0">
                <a:solidFill>
                  <a:srgbClr val="123B33"/>
                </a:solidFill>
                <a:latin typeface="Courier New" pitchFamily="34" charset="0"/>
                <a:ea typeface="Courier New" pitchFamily="34" charset="-122"/>
                <a:cs typeface="Courier New" pitchFamily="34" charset="-120"/>
              </a:rPr>
              <a:t>CRITERIO DE SALIDA</a:t>
            </a:r>
            <a:endParaRPr lang="en-US" sz="690" dirty="0"/>
          </a:p>
        </p:txBody>
      </p:sp>
      <p:sp>
        <p:nvSpPr>
          <p:cNvPr id="40" name="Text 38"/>
          <p:cNvSpPr/>
          <p:nvPr/>
        </p:nvSpPr>
        <p:spPr>
          <a:xfrm>
            <a:off x="7461504" y="5394960"/>
            <a:ext cx="3977640" cy="36576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8 casos ejecutados, evidencia archivada y 7 hallazgos clasificados.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03 · TIPOS DE PRUEBA</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Cada tipo nace de un requisito y de un riesgo concreto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04 / 17</a:t>
            </a:r>
            <a:endParaRPr lang="en-US" sz="730" dirty="0"/>
          </a:p>
        </p:txBody>
      </p:sp>
      <p:sp>
        <p:nvSpPr>
          <p:cNvPr id="7" name="Shape 5"/>
          <p:cNvSpPr/>
          <p:nvPr/>
        </p:nvSpPr>
        <p:spPr>
          <a:xfrm>
            <a:off x="566928" y="1700784"/>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8" name="Shape 6"/>
          <p:cNvSpPr/>
          <p:nvPr/>
        </p:nvSpPr>
        <p:spPr>
          <a:xfrm>
            <a:off x="768096" y="1883664"/>
            <a:ext cx="1737360" cy="228600"/>
          </a:xfrm>
          <a:prstGeom prst="roundRect">
            <a:avLst>
              <a:gd name="adj" fmla="val 16000"/>
            </a:avLst>
          </a:prstGeom>
          <a:solidFill>
            <a:srgbClr val="EDF4F0"/>
          </a:solidFill>
          <a:ln w="12700">
            <a:solidFill>
              <a:srgbClr val="EDF4F0"/>
            </a:solidFill>
            <a:prstDash val="solid"/>
          </a:ln>
        </p:spPr>
      </p:sp>
      <p:sp>
        <p:nvSpPr>
          <p:cNvPr id="9" name="Text 7"/>
          <p:cNvSpPr/>
          <p:nvPr/>
        </p:nvSpPr>
        <p:spPr>
          <a:xfrm>
            <a:off x="841248" y="1920240"/>
            <a:ext cx="159105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FUNCIONAL · 4 CASOS</a:t>
            </a:r>
            <a:endParaRPr lang="en-US" sz="720" dirty="0"/>
          </a:p>
        </p:txBody>
      </p:sp>
      <p:sp>
        <p:nvSpPr>
          <p:cNvPr id="10" name="Text 8"/>
          <p:cNvSpPr/>
          <p:nvPr/>
        </p:nvSpPr>
        <p:spPr>
          <a:xfrm>
            <a:off x="768096" y="2212848"/>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Registro y validación de entrada</a:t>
            </a:r>
            <a:endParaRPr lang="en-US" sz="1550" dirty="0"/>
          </a:p>
        </p:txBody>
      </p:sp>
      <p:sp>
        <p:nvSpPr>
          <p:cNvPr id="11" name="Text 9"/>
          <p:cNvSpPr/>
          <p:nvPr/>
        </p:nvSpPr>
        <p:spPr>
          <a:xfrm>
            <a:off x="768096" y="2560320"/>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Partición de equivalencia y valores límite sobre los campos del paciente.</a:t>
            </a:r>
            <a:endParaRPr lang="en-US" sz="950" dirty="0"/>
          </a:p>
        </p:txBody>
      </p:sp>
      <p:sp>
        <p:nvSpPr>
          <p:cNvPr id="12" name="Text 10"/>
          <p:cNvSpPr/>
          <p:nvPr/>
        </p:nvSpPr>
        <p:spPr>
          <a:xfrm>
            <a:off x="768096" y="3054096"/>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RQ-07 · RF-2 · CP001–CP004</a:t>
            </a:r>
            <a:endParaRPr lang="en-US" sz="730" dirty="0"/>
          </a:p>
        </p:txBody>
      </p:sp>
      <p:sp>
        <p:nvSpPr>
          <p:cNvPr id="13" name="Text 11"/>
          <p:cNvSpPr/>
          <p:nvPr/>
        </p:nvSpPr>
        <p:spPr>
          <a:xfrm>
            <a:off x="768096" y="3291840"/>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positivo · negativo · duplicado · borde</a:t>
            </a:r>
            <a:endParaRPr lang="en-US" sz="710" dirty="0"/>
          </a:p>
        </p:txBody>
      </p:sp>
      <p:sp>
        <p:nvSpPr>
          <p:cNvPr id="14" name="Shape 12"/>
          <p:cNvSpPr/>
          <p:nvPr/>
        </p:nvSpPr>
        <p:spPr>
          <a:xfrm>
            <a:off x="6053328" y="1700784"/>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5" name="Shape 13"/>
          <p:cNvSpPr/>
          <p:nvPr/>
        </p:nvSpPr>
        <p:spPr>
          <a:xfrm>
            <a:off x="6254496" y="1883664"/>
            <a:ext cx="1737360" cy="228600"/>
          </a:xfrm>
          <a:prstGeom prst="roundRect">
            <a:avLst>
              <a:gd name="adj" fmla="val 16000"/>
            </a:avLst>
          </a:prstGeom>
          <a:solidFill>
            <a:srgbClr val="EDF4F0"/>
          </a:solidFill>
          <a:ln w="12700">
            <a:solidFill>
              <a:srgbClr val="EDF4F0"/>
            </a:solidFill>
            <a:prstDash val="solid"/>
          </a:ln>
        </p:spPr>
      </p:sp>
      <p:sp>
        <p:nvSpPr>
          <p:cNvPr id="16" name="Text 14"/>
          <p:cNvSpPr/>
          <p:nvPr/>
        </p:nvSpPr>
        <p:spPr>
          <a:xfrm>
            <a:off x="6327648" y="1920240"/>
            <a:ext cx="159105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SEGURIDAD · 3 CASOS</a:t>
            </a:r>
            <a:endParaRPr lang="en-US" sz="720" dirty="0"/>
          </a:p>
        </p:txBody>
      </p:sp>
      <p:sp>
        <p:nvSpPr>
          <p:cNvPr id="17" name="Text 15"/>
          <p:cNvSpPr/>
          <p:nvPr/>
        </p:nvSpPr>
        <p:spPr>
          <a:xfrm>
            <a:off x="6254496" y="2212848"/>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Autenticación, sesión y autorización</a:t>
            </a:r>
            <a:endParaRPr lang="en-US" sz="1550" dirty="0"/>
          </a:p>
        </p:txBody>
      </p:sp>
      <p:sp>
        <p:nvSpPr>
          <p:cNvPr id="18" name="Text 16"/>
          <p:cNvSpPr/>
          <p:nvPr/>
        </p:nvSpPr>
        <p:spPr>
          <a:xfrm>
            <a:off x="6254496" y="2560320"/>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JWT, revocación tras logout y control de rol sobre exámenes.</a:t>
            </a:r>
            <a:endParaRPr lang="en-US" sz="950" dirty="0"/>
          </a:p>
        </p:txBody>
      </p:sp>
      <p:sp>
        <p:nvSpPr>
          <p:cNvPr id="19" name="Text 17"/>
          <p:cNvSpPr/>
          <p:nvPr/>
        </p:nvSpPr>
        <p:spPr>
          <a:xfrm>
            <a:off x="6254496" y="3054096"/>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RQ-01/02 · NFR-SEG-4/9 · CP005–CP007</a:t>
            </a:r>
            <a:endParaRPr lang="en-US" sz="730" dirty="0"/>
          </a:p>
        </p:txBody>
      </p:sp>
      <p:sp>
        <p:nvSpPr>
          <p:cNvPr id="20" name="Text 18"/>
          <p:cNvSpPr/>
          <p:nvPr/>
        </p:nvSpPr>
        <p:spPr>
          <a:xfrm>
            <a:off x="6254496" y="3291840"/>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token válido · revocado · rol paciente</a:t>
            </a:r>
            <a:endParaRPr lang="en-US" sz="710" dirty="0"/>
          </a:p>
        </p:txBody>
      </p:sp>
      <p:sp>
        <p:nvSpPr>
          <p:cNvPr id="21" name="Shape 19"/>
          <p:cNvSpPr/>
          <p:nvPr/>
        </p:nvSpPr>
        <p:spPr>
          <a:xfrm>
            <a:off x="566928" y="3858768"/>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2" name="Shape 20"/>
          <p:cNvSpPr/>
          <p:nvPr/>
        </p:nvSpPr>
        <p:spPr>
          <a:xfrm>
            <a:off x="768096" y="4041648"/>
            <a:ext cx="1737360" cy="228600"/>
          </a:xfrm>
          <a:prstGeom prst="roundRect">
            <a:avLst>
              <a:gd name="adj" fmla="val 16000"/>
            </a:avLst>
          </a:prstGeom>
          <a:solidFill>
            <a:srgbClr val="EDF4F0"/>
          </a:solidFill>
          <a:ln w="12700">
            <a:solidFill>
              <a:srgbClr val="EDF4F0"/>
            </a:solidFill>
            <a:prstDash val="solid"/>
          </a:ln>
        </p:spPr>
      </p:sp>
      <p:sp>
        <p:nvSpPr>
          <p:cNvPr id="23" name="Text 21"/>
          <p:cNvSpPr/>
          <p:nvPr/>
        </p:nvSpPr>
        <p:spPr>
          <a:xfrm>
            <a:off x="841248" y="4078224"/>
            <a:ext cx="159105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INTEGRIDAD · 1 CASO</a:t>
            </a:r>
            <a:endParaRPr lang="en-US" sz="720" dirty="0"/>
          </a:p>
        </p:txBody>
      </p:sp>
      <p:sp>
        <p:nvSpPr>
          <p:cNvPr id="24" name="Text 22"/>
          <p:cNvSpPr/>
          <p:nvPr/>
        </p:nvSpPr>
        <p:spPr>
          <a:xfrm>
            <a:off x="768096" y="4370832"/>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Carga y descarga de documentos</a:t>
            </a:r>
            <a:endParaRPr lang="en-US" sz="1550" dirty="0"/>
          </a:p>
        </p:txBody>
      </p:sp>
      <p:sp>
        <p:nvSpPr>
          <p:cNvPr id="25" name="Text 23"/>
          <p:cNvSpPr/>
          <p:nvPr/>
        </p:nvSpPr>
        <p:spPr>
          <a:xfrm>
            <a:off x="768096" y="4718304"/>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Verificación byte a byte con SHA-256 y medición de tiempos.</a:t>
            </a:r>
            <a:endParaRPr lang="en-US" sz="950" dirty="0"/>
          </a:p>
        </p:txBody>
      </p:sp>
      <p:sp>
        <p:nvSpPr>
          <p:cNvPr id="26" name="Text 24"/>
          <p:cNvSpPr/>
          <p:nvPr/>
        </p:nvSpPr>
        <p:spPr>
          <a:xfrm>
            <a:off x="768096" y="5212080"/>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RQ-03 · RF-4.2/4.3 · CP008</a:t>
            </a:r>
            <a:endParaRPr lang="en-US" sz="730" dirty="0"/>
          </a:p>
        </p:txBody>
      </p:sp>
      <p:sp>
        <p:nvSpPr>
          <p:cNvPr id="27" name="Text 25"/>
          <p:cNvSpPr/>
          <p:nvPr/>
        </p:nvSpPr>
        <p:spPr>
          <a:xfrm>
            <a:off x="768096" y="5449824"/>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subida 201 · descarga 200 · hash igual</a:t>
            </a:r>
            <a:endParaRPr lang="en-US" sz="710" dirty="0"/>
          </a:p>
        </p:txBody>
      </p:sp>
      <p:sp>
        <p:nvSpPr>
          <p:cNvPr id="28" name="Shape 26"/>
          <p:cNvSpPr/>
          <p:nvPr/>
        </p:nvSpPr>
        <p:spPr>
          <a:xfrm>
            <a:off x="6053328" y="3858768"/>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9" name="Shape 27"/>
          <p:cNvSpPr/>
          <p:nvPr/>
        </p:nvSpPr>
        <p:spPr>
          <a:xfrm>
            <a:off x="6254496" y="4041648"/>
            <a:ext cx="1417320" cy="228600"/>
          </a:xfrm>
          <a:prstGeom prst="roundRect">
            <a:avLst>
              <a:gd name="adj" fmla="val 16000"/>
            </a:avLst>
          </a:prstGeom>
          <a:solidFill>
            <a:srgbClr val="EDF4F0"/>
          </a:solidFill>
          <a:ln w="12700">
            <a:solidFill>
              <a:srgbClr val="EDF4F0"/>
            </a:solidFill>
            <a:prstDash val="solid"/>
          </a:ln>
        </p:spPr>
      </p:sp>
      <p:sp>
        <p:nvSpPr>
          <p:cNvPr id="30" name="Text 28"/>
          <p:cNvSpPr/>
          <p:nvPr/>
        </p:nvSpPr>
        <p:spPr>
          <a:xfrm>
            <a:off x="6327648" y="4078224"/>
            <a:ext cx="127101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ESTÁTICO · SAST</a:t>
            </a:r>
            <a:endParaRPr lang="en-US" sz="720" dirty="0"/>
          </a:p>
        </p:txBody>
      </p:sp>
      <p:sp>
        <p:nvSpPr>
          <p:cNvPr id="31" name="Text 29"/>
          <p:cNvSpPr/>
          <p:nvPr/>
        </p:nvSpPr>
        <p:spPr>
          <a:xfrm>
            <a:off x="6254496" y="4370832"/>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Análisis estático con SonarQube</a:t>
            </a:r>
            <a:endParaRPr lang="en-US" sz="1550" dirty="0"/>
          </a:p>
        </p:txBody>
      </p:sp>
      <p:sp>
        <p:nvSpPr>
          <p:cNvPr id="32" name="Text 30"/>
          <p:cNvSpPr/>
          <p:nvPr/>
        </p:nvSpPr>
        <p:spPr>
          <a:xfrm>
            <a:off x="6254496" y="4718304"/>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Complejidad cognitiva, duplicación y malas prácticas en 10.133 líneas.</a:t>
            </a:r>
            <a:endParaRPr lang="en-US" sz="950" dirty="0"/>
          </a:p>
        </p:txBody>
      </p:sp>
      <p:sp>
        <p:nvSpPr>
          <p:cNvPr id="33" name="Text 31"/>
          <p:cNvSpPr/>
          <p:nvPr/>
        </p:nvSpPr>
        <p:spPr>
          <a:xfrm>
            <a:off x="6254496" y="5212080"/>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RQ-04/05/06 · NFR-SEG-8</a:t>
            </a:r>
            <a:endParaRPr lang="en-US" sz="730" dirty="0"/>
          </a:p>
        </p:txBody>
      </p:sp>
      <p:sp>
        <p:nvSpPr>
          <p:cNvPr id="34" name="Text 32"/>
          <p:cNvSpPr/>
          <p:nvPr/>
        </p:nvSpPr>
        <p:spPr>
          <a:xfrm>
            <a:off x="6254496" y="5449824"/>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73 issues · 8 críticos · QG OK</a:t>
            </a:r>
            <a:endParaRPr lang="en-US" sz="710" dirty="0"/>
          </a:p>
        </p:txBody>
      </p:sp>
      <p:sp>
        <p:nvSpPr>
          <p:cNvPr id="35" name="Text 33"/>
          <p:cNvSpPr/>
          <p:nvPr/>
        </p:nvSpPr>
        <p:spPr>
          <a:xfrm>
            <a:off x="566928" y="6016752"/>
            <a:ext cx="10881360" cy="274320"/>
          </a:xfrm>
          <a:prstGeom prst="rect">
            <a:avLst/>
          </a:prstGeom>
          <a:noFill/>
          <a:ln/>
        </p:spPr>
        <p:txBody>
          <a:bodyPr wrap="square" lIns="0" tIns="0" rIns="0" bIns="0" rtlCol="0" anchor="t"/>
          <a:lstStyle/>
          <a:p>
            <a:pPr algn="l" indent="0" marL="0">
              <a:buNone/>
            </a:pPr>
            <a:r>
              <a:rPr lang="en-US" sz="950" i="1" dirty="0">
                <a:solidFill>
                  <a:srgbClr val="5C6D67"/>
                </a:solidFill>
                <a:latin typeface="Calibri" pitchFamily="34" charset="0"/>
                <a:ea typeface="Calibri" pitchFamily="34" charset="-122"/>
                <a:cs typeface="Calibri" pitchFamily="34" charset="-120"/>
              </a:rPr>
              <a:t>La selección fue proporcional al riesgo del módulo, no una cobertura exhaustiva de toda la plataforma.</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04 · TIPOS DE PRUEBA</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Qué detecta cada tipo — y qué quedó fuera de alcance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05 / 17</a:t>
            </a:r>
            <a:endParaRPr lang="en-US" sz="7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7726680" cy="914400"/>
        </p:xfrm>
        <a:graphic>
          <a:graphicData uri="http://schemas.openxmlformats.org/drawingml/2006/table">
            <a:tbl>
              <a:tblPr/>
              <a:tblGrid>
                <a:gridCol w="1417320"/>
                <a:gridCol w="2148840"/>
                <a:gridCol w="2240280"/>
                <a:gridCol w="1920240"/>
              </a:tblGrid>
              <a:tr h="749808">
                <a:tc>
                  <a:txBody>
                    <a:bodyPr/>
                    <a:lstStyle/>
                    <a:p>
                      <a:pPr algn="l" indent="0" marL="0">
                        <a:buNone/>
                      </a:pPr>
                      <a:r>
                        <a:rPr lang="en-US" sz="820" b="1" dirty="0">
                          <a:solidFill>
                            <a:srgbClr val="FFFFFF"/>
                          </a:solidFill>
                          <a:latin typeface="Cambria" pitchFamily="34" charset="0"/>
                          <a:ea typeface="Cambria" pitchFamily="34" charset="-122"/>
                          <a:cs typeface="Cambria" pitchFamily="34" charset="-120"/>
                        </a:rPr>
                        <a:t>Tipo</a:t>
                      </a:r>
                      <a:endParaRPr lang="en-US" sz="82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l" indent="0" marL="0">
                        <a:buNone/>
                      </a:pPr>
                      <a:r>
                        <a:rPr lang="en-US" sz="820" b="1" dirty="0">
                          <a:solidFill>
                            <a:srgbClr val="FFFFFF"/>
                          </a:solidFill>
                          <a:latin typeface="Calibri" pitchFamily="34" charset="0"/>
                          <a:ea typeface="Calibri" pitchFamily="34" charset="-122"/>
                          <a:cs typeface="Calibri" pitchFamily="34" charset="-120"/>
                        </a:rPr>
                        <a:t>Defecto que detecta</a:t>
                      </a:r>
                      <a:endParaRPr lang="en-US" sz="82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l" indent="0" marL="0">
                        <a:buNone/>
                      </a:pPr>
                      <a:r>
                        <a:rPr lang="en-US" sz="820" b="1" dirty="0">
                          <a:solidFill>
                            <a:srgbClr val="FFFFFF"/>
                          </a:solidFill>
                          <a:latin typeface="Calibri" pitchFamily="34" charset="0"/>
                          <a:ea typeface="Calibri" pitchFamily="34" charset="-122"/>
                          <a:cs typeface="Calibri" pitchFamily="34" charset="-120"/>
                        </a:rPr>
                        <a:t>Evidencia</a:t>
                      </a:r>
                      <a:endParaRPr lang="en-US" sz="82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l" indent="0" marL="0">
                        <a:buNone/>
                      </a:pPr>
                      <a:r>
                        <a:rPr lang="en-US" sz="820" b="1" dirty="0">
                          <a:solidFill>
                            <a:srgbClr val="FFFFFF"/>
                          </a:solidFill>
                          <a:latin typeface="Calibri" pitchFamily="34" charset="0"/>
                          <a:ea typeface="Calibri" pitchFamily="34" charset="-122"/>
                          <a:cs typeface="Calibri" pitchFamily="34" charset="-120"/>
                        </a:rPr>
                        <a:t>Impacto</a:t>
                      </a:r>
                      <a:endParaRPr lang="en-US" sz="82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Funcional</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Campos inválidos, duplicados y límites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CP002/003/004 → 400</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Evita registros corruptos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Seguridad</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Token reutilizable y rol indebido</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CP006 → 200 · CP007 → 403</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Acceso no autorizado a datos clínicos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Integridad</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Pérdida o alteración de archivos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CP008 → SHA-256 idéntico</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Documento clínico no confiable</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Estático</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Complejidad, duplicación y malas prácticas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73 issues · 8 críticos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Deuda y riesgo de mantenimiento</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Shape 5"/>
          <p:cNvSpPr/>
          <p:nvPr/>
        </p:nvSpPr>
        <p:spPr>
          <a:xfrm>
            <a:off x="8549640" y="1737360"/>
            <a:ext cx="3072384" cy="2084832"/>
          </a:xfrm>
          <a:prstGeom prst="roundRect">
            <a:avLst>
              <a:gd name="adj" fmla="val 1096"/>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9" name="Text 6"/>
          <p:cNvSpPr/>
          <p:nvPr/>
        </p:nvSpPr>
        <p:spPr>
          <a:xfrm>
            <a:off x="8705088" y="1865376"/>
            <a:ext cx="2743200" cy="182880"/>
          </a:xfrm>
          <a:prstGeom prst="rect">
            <a:avLst/>
          </a:prstGeom>
          <a:noFill/>
          <a:ln/>
        </p:spPr>
        <p:txBody>
          <a:bodyPr wrap="square" lIns="0" tIns="0" rIns="0" bIns="0" rtlCol="0" anchor="t"/>
          <a:lstStyle/>
          <a:p>
            <a:pPr algn="l" indent="0" marL="0">
              <a:buNone/>
            </a:pPr>
            <a:r>
              <a:rPr lang="en-US" sz="710" b="1" spc="110" kern="0" dirty="0">
                <a:solidFill>
                  <a:srgbClr val="8A5E0F"/>
                </a:solidFill>
                <a:latin typeface="Courier New" pitchFamily="34" charset="0"/>
                <a:ea typeface="Courier New" pitchFamily="34" charset="-122"/>
                <a:cs typeface="Courier New" pitchFamily="34" charset="-120"/>
              </a:rPr>
              <a:t>FUERA DE ALCANCE</a:t>
            </a:r>
            <a:endParaRPr lang="en-US" sz="710" dirty="0"/>
          </a:p>
        </p:txBody>
      </p:sp>
      <p:sp>
        <p:nvSpPr>
          <p:cNvPr id="10" name="Text 7"/>
          <p:cNvSpPr/>
          <p:nvPr/>
        </p:nvSpPr>
        <p:spPr>
          <a:xfrm>
            <a:off x="8705088" y="2103120"/>
            <a:ext cx="2743200" cy="868680"/>
          </a:xfrm>
          <a:prstGeom prst="rect">
            <a:avLst/>
          </a:prstGeom>
          <a:noFill/>
          <a:ln/>
        </p:spPr>
        <p:txBody>
          <a:bodyPr wrap="square" lIns="0" tIns="0" rIns="0" bIns="0" rtlCol="0" anchor="t"/>
          <a:lstStyle/>
          <a:p>
            <a:pPr algn="l" indent="0" marL="0">
              <a:lnSpc>
                <a:spcPts val="1400"/>
              </a:lnSpc>
              <a:buNone/>
            </a:pPr>
            <a:r>
              <a:rPr lang="en-US" sz="920" dirty="0">
                <a:solidFill>
                  <a:srgbClr val="1A2A25"/>
                </a:solidFill>
                <a:latin typeface="Calibri" pitchFamily="34" charset="0"/>
                <a:ea typeface="Calibri" pitchFamily="34" charset="-122"/>
                <a:cs typeface="Calibri" pitchFamily="34" charset="-120"/>
              </a:rPr>
              <a:t>• Carga con 200 usuarios</a:t>
            </a:r>
            <a:endParaRPr lang="en-US" sz="920" dirty="0"/>
          </a:p>
          <a:p>
            <a:pPr algn="l" indent="0" marL="0">
              <a:lnSpc>
                <a:spcPts val="1400"/>
              </a:lnSpc>
              <a:buNone/>
            </a:pPr>
            <a:r>
              <a:rPr lang="en-US" sz="920" dirty="0">
                <a:solidFill>
                  <a:srgbClr val="1A2A25"/>
                </a:solidFill>
                <a:latin typeface="Calibri" pitchFamily="34" charset="0"/>
                <a:ea typeface="Calibri" pitchFamily="34" charset="-122"/>
                <a:cs typeface="Calibri" pitchFamily="34" charset="-120"/>
              </a:rPr>
              <a:t>• Usabilidad con pacientes reales</a:t>
            </a:r>
            <a:endParaRPr lang="en-US" sz="920" dirty="0"/>
          </a:p>
          <a:p>
            <a:pPr algn="l" indent="0" marL="0">
              <a:lnSpc>
                <a:spcPts val="1400"/>
              </a:lnSpc>
              <a:buNone/>
            </a:pPr>
            <a:r>
              <a:rPr lang="en-US" sz="920" dirty="0">
                <a:solidFill>
                  <a:srgbClr val="1A2A25"/>
                </a:solidFill>
                <a:latin typeface="Calibri" pitchFamily="34" charset="0"/>
                <a:ea typeface="Calibri" pitchFamily="34" charset="-122"/>
                <a:cs typeface="Calibri" pitchFamily="34" charset="-120"/>
              </a:rPr>
              <a:t>• DAST con OWASP ZAP</a:t>
            </a:r>
            <a:endParaRPr lang="en-US" sz="920" dirty="0"/>
          </a:p>
        </p:txBody>
      </p:sp>
      <p:sp>
        <p:nvSpPr>
          <p:cNvPr id="11" name="Text 8"/>
          <p:cNvSpPr/>
          <p:nvPr/>
        </p:nvSpPr>
        <p:spPr>
          <a:xfrm>
            <a:off x="8705088" y="3072384"/>
            <a:ext cx="2743200" cy="274320"/>
          </a:xfrm>
          <a:prstGeom prst="rect">
            <a:avLst/>
          </a:prstGeom>
          <a:noFill/>
          <a:ln/>
        </p:spPr>
        <p:txBody>
          <a:bodyPr wrap="square" lIns="0" tIns="0" rIns="0" bIns="0" rtlCol="0" anchor="t"/>
          <a:lstStyle/>
          <a:p>
            <a:pPr algn="l" indent="0" marL="0">
              <a:buNone/>
            </a:pPr>
            <a:r>
              <a:rPr lang="en-US" sz="1050" b="1" i="1" dirty="0">
                <a:solidFill>
                  <a:srgbClr val="8A5E0F"/>
                </a:solidFill>
                <a:latin typeface="Calibri" pitchFamily="34" charset="0"/>
                <a:ea typeface="Calibri" pitchFamily="34" charset="-122"/>
                <a:cs typeface="Calibri" pitchFamily="34" charset="-120"/>
              </a:rPr>
              <a:t>No probado ≠ aprobado.</a:t>
            </a:r>
            <a:endParaRPr lang="en-US" sz="1050" dirty="0"/>
          </a:p>
        </p:txBody>
      </p:sp>
      <p:sp>
        <p:nvSpPr>
          <p:cNvPr id="12" name="Shape 9"/>
          <p:cNvSpPr/>
          <p:nvPr/>
        </p:nvSpPr>
        <p:spPr>
          <a:xfrm>
            <a:off x="8549640" y="4005072"/>
            <a:ext cx="3072384" cy="1417320"/>
          </a:xfrm>
          <a:prstGeom prst="roundRect">
            <a:avLst>
              <a:gd name="adj" fmla="val 161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3" name="Text 10"/>
          <p:cNvSpPr/>
          <p:nvPr/>
        </p:nvSpPr>
        <p:spPr>
          <a:xfrm>
            <a:off x="8705088" y="4114800"/>
            <a:ext cx="27432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TIEMPOS OBSERVADOS</a:t>
            </a:r>
            <a:endParaRPr lang="en-US" sz="710" dirty="0"/>
          </a:p>
        </p:txBody>
      </p:sp>
      <p:sp>
        <p:nvSpPr>
          <p:cNvPr id="14" name="Text 11"/>
          <p:cNvSpPr/>
          <p:nvPr/>
        </p:nvSpPr>
        <p:spPr>
          <a:xfrm>
            <a:off x="8705088" y="4343400"/>
            <a:ext cx="2743200" cy="640080"/>
          </a:xfrm>
          <a:prstGeom prst="rect">
            <a:avLst/>
          </a:prstGeom>
          <a:noFill/>
          <a:ln/>
        </p:spPr>
        <p:txBody>
          <a:bodyPr wrap="square" lIns="0" tIns="0" rIns="0" bIns="0" rtlCol="0" anchor="t"/>
          <a:lstStyle/>
          <a:p>
            <a:pPr algn="l" indent="0" marL="0">
              <a:lnSpc>
                <a:spcPts val="1200"/>
              </a:lnSpc>
              <a:buNone/>
            </a:pPr>
            <a:r>
              <a:rPr lang="en-US" sz="780" dirty="0">
                <a:solidFill>
                  <a:srgbClr val="1A2A25"/>
                </a:solidFill>
                <a:latin typeface="Courier New" pitchFamily="34" charset="0"/>
                <a:ea typeface="Courier New" pitchFamily="34" charset="-122"/>
                <a:cs typeface="Courier New" pitchFamily="34" charset="-120"/>
              </a:rPr>
              <a:t>CP007 · 5.036 ms</a:t>
            </a:r>
            <a:endParaRPr lang="en-US" sz="780" dirty="0"/>
          </a:p>
          <a:p>
            <a:pPr algn="l" indent="0" marL="0">
              <a:lnSpc>
                <a:spcPts val="1200"/>
              </a:lnSpc>
              <a:buNone/>
            </a:pPr>
            <a:r>
              <a:rPr lang="en-US" sz="780" dirty="0">
                <a:solidFill>
                  <a:srgbClr val="1A2A25"/>
                </a:solidFill>
                <a:latin typeface="Courier New" pitchFamily="34" charset="0"/>
                <a:ea typeface="Courier New" pitchFamily="34" charset="-122"/>
                <a:cs typeface="Courier New" pitchFamily="34" charset="-120"/>
              </a:rPr>
              <a:t>CP008 · 5.050 ms subida</a:t>
            </a:r>
            <a:endParaRPr lang="en-US" sz="780" dirty="0"/>
          </a:p>
          <a:p>
            <a:pPr algn="l" indent="0" marL="0">
              <a:lnSpc>
                <a:spcPts val="1200"/>
              </a:lnSpc>
              <a:buNone/>
            </a:pPr>
            <a:r>
              <a:rPr lang="en-US" sz="780" dirty="0">
                <a:solidFill>
                  <a:srgbClr val="1A2A25"/>
                </a:solidFill>
                <a:latin typeface="Courier New" pitchFamily="34" charset="0"/>
                <a:ea typeface="Courier New" pitchFamily="34" charset="-122"/>
                <a:cs typeface="Courier New" pitchFamily="34" charset="-120"/>
              </a:rPr>
              <a:t>37 ms descarga</a:t>
            </a:r>
            <a:endParaRPr lang="en-US" sz="780" dirty="0"/>
          </a:p>
        </p:txBody>
      </p:sp>
      <p:sp>
        <p:nvSpPr>
          <p:cNvPr id="15" name="Text 12"/>
          <p:cNvSpPr/>
          <p:nvPr/>
        </p:nvSpPr>
        <p:spPr>
          <a:xfrm>
            <a:off x="8705088" y="5047488"/>
            <a:ext cx="2743200" cy="274320"/>
          </a:xfrm>
          <a:prstGeom prst="rect">
            <a:avLst/>
          </a:prstGeom>
          <a:noFill/>
          <a:ln/>
        </p:spPr>
        <p:txBody>
          <a:bodyPr wrap="square" lIns="0" tIns="0" rIns="0" bIns="0" rtlCol="0" anchor="t"/>
          <a:lstStyle/>
          <a:p>
            <a:pPr algn="l" indent="0" marL="0">
              <a:buNone/>
            </a:pPr>
            <a:r>
              <a:rPr lang="en-US" sz="800" i="1" dirty="0">
                <a:solidFill>
                  <a:srgbClr val="5C6D67"/>
                </a:solidFill>
                <a:latin typeface="Calibri" pitchFamily="34" charset="0"/>
                <a:ea typeface="Calibri" pitchFamily="34" charset="-122"/>
                <a:cs typeface="Calibri" pitchFamily="34" charset="-120"/>
              </a:rPr>
              <a:t>El delay de 5 s distorsiona la medición.</a:t>
            </a:r>
            <a:endParaRPr lang="en-US" sz="800" dirty="0"/>
          </a:p>
        </p:txBody>
      </p:sp>
      <p:sp>
        <p:nvSpPr>
          <p:cNvPr id="16" name="Text 13"/>
          <p:cNvSpPr/>
          <p:nvPr/>
        </p:nvSpPr>
        <p:spPr>
          <a:xfrm>
            <a:off x="8549640" y="5596128"/>
            <a:ext cx="3063240" cy="502920"/>
          </a:xfrm>
          <a:prstGeom prst="rect">
            <a:avLst/>
          </a:prstGeom>
          <a:noFill/>
          <a:ln/>
        </p:spPr>
        <p:txBody>
          <a:bodyPr wrap="square" lIns="0" tIns="0" rIns="0" bIns="0" rtlCol="0" anchor="t"/>
          <a:lstStyle/>
          <a:p>
            <a:pPr algn="l" indent="0" marL="0">
              <a:lnSpc>
                <a:spcPts val="1100"/>
              </a:lnSpc>
              <a:buNone/>
            </a:pPr>
            <a:r>
              <a:rPr lang="en-US" sz="830" dirty="0">
                <a:solidFill>
                  <a:srgbClr val="5C6D67"/>
                </a:solidFill>
                <a:latin typeface="Calibri" pitchFamily="34" charset="0"/>
                <a:ea typeface="Calibri" pitchFamily="34" charset="-122"/>
                <a:cs typeface="Calibri" pitchFamily="34" charset="-120"/>
              </a:rPr>
              <a:t>Los tiempos no se usan como criterio de aprobación: se reportan como observación.</a:t>
            </a:r>
            <a:endParaRPr lang="en-US" sz="8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05 · TRAZABILIDAD</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2900"/>
              </a:lnSpc>
              <a:buNone/>
            </a:pPr>
            <a:r>
              <a:rPr lang="en-US" sz="2400" b="1" dirty="0">
                <a:solidFill>
                  <a:srgbClr val="1A2A25"/>
                </a:solidFill>
                <a:latin typeface="Cambria" pitchFamily="34" charset="0"/>
                <a:ea typeface="Cambria" pitchFamily="34" charset="-122"/>
                <a:cs typeface="Cambria" pitchFamily="34" charset="-120"/>
              </a:rPr>
              <a:t>Siete requisitos, ocho casos: cobertura completa con distinto nivel de evidencia</a:t>
            </a:r>
            <a:endParaRPr lang="en-US" sz="24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06 / 17</a:t>
            </a:r>
            <a:endParaRPr lang="en-US" sz="73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8156448" cy="914400"/>
        </p:xfrm>
        <a:graphic>
          <a:graphicData uri="http://schemas.openxmlformats.org/drawingml/2006/table">
            <a:tbl>
              <a:tblPr/>
              <a:tblGrid>
                <a:gridCol w="868680"/>
                <a:gridCol w="2148840"/>
                <a:gridCol w="2468880"/>
                <a:gridCol w="2670048"/>
              </a:tblGrid>
              <a:tr h="475488">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RQ</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Requisito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Nivel de evidencia</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Fuente</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Autenticación y sesión</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CP005–CP006</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RF-1, NFR-SEG-9</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RQ-02</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Control de acceso por rol</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CP007</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RB-1..3, NFR-SEG-4</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Exámenes y documentos</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CP008</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RF-3, RF-4.3</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RQ-04</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Tiempo y concurrencia</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Observación · CP007/CP008</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NFR-PERF-1..3</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RQ-05</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Auditoría de acciones</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Revisión + caso · CP001</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RF-5.1</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RQ-06</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RUT con dígito verificador</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Prueba manual · H-03</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Validación RUT</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Registro de pacientes</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CP001–CP004</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RF-2</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Shape 5"/>
          <p:cNvSpPr/>
          <p:nvPr/>
        </p:nvSpPr>
        <p:spPr>
          <a:xfrm>
            <a:off x="8942832" y="1810512"/>
            <a:ext cx="26791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9" name="Text 6"/>
          <p:cNvSpPr/>
          <p:nvPr/>
        </p:nvSpPr>
        <p:spPr>
          <a:xfrm>
            <a:off x="9089136" y="1920240"/>
            <a:ext cx="1005840" cy="365760"/>
          </a:xfrm>
          <a:prstGeom prst="rect">
            <a:avLst/>
          </a:prstGeom>
          <a:noFill/>
          <a:ln/>
        </p:spPr>
        <p:txBody>
          <a:bodyPr wrap="square" lIns="0" tIns="0" rIns="0" bIns="0" rtlCol="0" anchor="t"/>
          <a:lstStyle/>
          <a:p>
            <a:pPr algn="l" indent="0" marL="0">
              <a:buNone/>
            </a:pPr>
            <a:r>
              <a:rPr lang="en-US" sz="2400" b="1" dirty="0">
                <a:solidFill>
                  <a:srgbClr val="123B33"/>
                </a:solidFill>
                <a:latin typeface="Cambria" pitchFamily="34" charset="0"/>
                <a:ea typeface="Cambria" pitchFamily="34" charset="-122"/>
                <a:cs typeface="Cambria" pitchFamily="34" charset="-120"/>
              </a:rPr>
              <a:t>4</a:t>
            </a:r>
            <a:endParaRPr lang="en-US" sz="2400" dirty="0"/>
          </a:p>
        </p:txBody>
      </p:sp>
      <p:sp>
        <p:nvSpPr>
          <p:cNvPr id="10" name="Text 7"/>
          <p:cNvSpPr/>
          <p:nvPr/>
        </p:nvSpPr>
        <p:spPr>
          <a:xfrm>
            <a:off x="10058400" y="1993392"/>
            <a:ext cx="1417320" cy="45720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RQ con caso formal</a:t>
            </a:r>
            <a:endParaRPr lang="en-US" sz="860" dirty="0"/>
          </a:p>
        </p:txBody>
      </p:sp>
      <p:sp>
        <p:nvSpPr>
          <p:cNvPr id="11" name="Shape 8"/>
          <p:cNvSpPr/>
          <p:nvPr/>
        </p:nvSpPr>
        <p:spPr>
          <a:xfrm>
            <a:off x="8942832" y="2743200"/>
            <a:ext cx="26791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2" name="Text 9"/>
          <p:cNvSpPr/>
          <p:nvPr/>
        </p:nvSpPr>
        <p:spPr>
          <a:xfrm>
            <a:off x="9089136" y="2852928"/>
            <a:ext cx="1005840" cy="365760"/>
          </a:xfrm>
          <a:prstGeom prst="rect">
            <a:avLst/>
          </a:prstGeom>
          <a:noFill/>
          <a:ln/>
        </p:spPr>
        <p:txBody>
          <a:bodyPr wrap="square" lIns="0" tIns="0" rIns="0" bIns="0" rtlCol="0" anchor="t"/>
          <a:lstStyle/>
          <a:p>
            <a:pPr algn="l" indent="0" marL="0">
              <a:buNone/>
            </a:pPr>
            <a:r>
              <a:rPr lang="en-US" sz="2400" b="1" dirty="0">
                <a:solidFill>
                  <a:srgbClr val="123B33"/>
                </a:solidFill>
                <a:latin typeface="Cambria" pitchFamily="34" charset="0"/>
                <a:ea typeface="Cambria" pitchFamily="34" charset="-122"/>
                <a:cs typeface="Cambria" pitchFamily="34" charset="-120"/>
              </a:rPr>
              <a:t>3</a:t>
            </a:r>
            <a:endParaRPr lang="en-US" sz="2400" dirty="0"/>
          </a:p>
        </p:txBody>
      </p:sp>
      <p:sp>
        <p:nvSpPr>
          <p:cNvPr id="13" name="Text 10"/>
          <p:cNvSpPr/>
          <p:nvPr/>
        </p:nvSpPr>
        <p:spPr>
          <a:xfrm>
            <a:off x="10058400" y="2926080"/>
            <a:ext cx="1417320" cy="45720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RQ con verificación directa</a:t>
            </a:r>
            <a:endParaRPr lang="en-US" sz="860" dirty="0"/>
          </a:p>
        </p:txBody>
      </p:sp>
      <p:sp>
        <p:nvSpPr>
          <p:cNvPr id="14" name="Shape 11"/>
          <p:cNvSpPr/>
          <p:nvPr/>
        </p:nvSpPr>
        <p:spPr>
          <a:xfrm>
            <a:off x="8942832" y="3675888"/>
            <a:ext cx="26791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5" name="Text 12"/>
          <p:cNvSpPr/>
          <p:nvPr/>
        </p:nvSpPr>
        <p:spPr>
          <a:xfrm>
            <a:off x="9089136" y="3785616"/>
            <a:ext cx="1005840" cy="365760"/>
          </a:xfrm>
          <a:prstGeom prst="rect">
            <a:avLst/>
          </a:prstGeom>
          <a:noFill/>
          <a:ln/>
        </p:spPr>
        <p:txBody>
          <a:bodyPr wrap="square" lIns="0" tIns="0" rIns="0" bIns="0" rtlCol="0" anchor="t"/>
          <a:lstStyle/>
          <a:p>
            <a:pPr algn="l" indent="0" marL="0">
              <a:buNone/>
            </a:pPr>
            <a:r>
              <a:rPr lang="en-US" sz="2400" b="1" dirty="0">
                <a:solidFill>
                  <a:srgbClr val="123B33"/>
                </a:solidFill>
                <a:latin typeface="Cambria" pitchFamily="34" charset="0"/>
                <a:ea typeface="Cambria" pitchFamily="34" charset="-122"/>
                <a:cs typeface="Cambria" pitchFamily="34" charset="-120"/>
              </a:rPr>
              <a:t>100%</a:t>
            </a:r>
            <a:endParaRPr lang="en-US" sz="2400" dirty="0"/>
          </a:p>
        </p:txBody>
      </p:sp>
      <p:sp>
        <p:nvSpPr>
          <p:cNvPr id="16" name="Text 13"/>
          <p:cNvSpPr/>
          <p:nvPr/>
        </p:nvSpPr>
        <p:spPr>
          <a:xfrm>
            <a:off x="10058400" y="3858768"/>
            <a:ext cx="1417320" cy="45720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RQ con evidencia</a:t>
            </a:r>
            <a:endParaRPr lang="en-US" sz="860" dirty="0"/>
          </a:p>
        </p:txBody>
      </p:sp>
      <p:sp>
        <p:nvSpPr>
          <p:cNvPr id="17" name="Shape 14"/>
          <p:cNvSpPr/>
          <p:nvPr/>
        </p:nvSpPr>
        <p:spPr>
          <a:xfrm>
            <a:off x="8942832" y="4681728"/>
            <a:ext cx="2679192" cy="1280160"/>
          </a:xfrm>
          <a:prstGeom prst="roundRect">
            <a:avLst>
              <a:gd name="adj" fmla="val 1786"/>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18" name="Text 15"/>
          <p:cNvSpPr/>
          <p:nvPr/>
        </p:nvSpPr>
        <p:spPr>
          <a:xfrm>
            <a:off x="9079992" y="4800600"/>
            <a:ext cx="2423160" cy="411480"/>
          </a:xfrm>
          <a:prstGeom prst="rect">
            <a:avLst/>
          </a:prstGeom>
          <a:noFill/>
          <a:ln/>
        </p:spPr>
        <p:txBody>
          <a:bodyPr wrap="square" lIns="0" tIns="0" rIns="0" bIns="0" rtlCol="0" anchor="t"/>
          <a:lstStyle/>
          <a:p>
            <a:pPr algn="l" indent="0" marL="0">
              <a:buNone/>
            </a:pPr>
            <a:r>
              <a:rPr lang="en-US" sz="680" b="1" spc="80" kern="0" dirty="0">
                <a:solidFill>
                  <a:srgbClr val="8A5E0F"/>
                </a:solidFill>
                <a:latin typeface="Courier New" pitchFamily="34" charset="0"/>
                <a:ea typeface="Courier New" pitchFamily="34" charset="-122"/>
                <a:cs typeface="Courier New" pitchFamily="34" charset="-120"/>
              </a:rPr>
              <a:t>COBERTURA DE REQUISITOS,</a:t>
            </a:r>
            <a:endParaRPr lang="en-US" sz="680" dirty="0"/>
          </a:p>
          <a:p>
            <a:pPr algn="l" indent="0" marL="0">
              <a:buNone/>
            </a:pPr>
            <a:r>
              <a:rPr lang="en-US" sz="680" b="1" spc="80" kern="0" dirty="0">
                <a:solidFill>
                  <a:srgbClr val="8A5E0F"/>
                </a:solidFill>
                <a:latin typeface="Courier New" pitchFamily="34" charset="0"/>
                <a:ea typeface="Courier New" pitchFamily="34" charset="-122"/>
                <a:cs typeface="Courier New" pitchFamily="34" charset="-120"/>
              </a:rPr>
              <a:t>NO DE CÓDIGO</a:t>
            </a:r>
            <a:endParaRPr lang="en-US" sz="680" dirty="0"/>
          </a:p>
        </p:txBody>
      </p:sp>
      <p:sp>
        <p:nvSpPr>
          <p:cNvPr id="19" name="Text 16"/>
          <p:cNvSpPr/>
          <p:nvPr/>
        </p:nvSpPr>
        <p:spPr>
          <a:xfrm>
            <a:off x="9079992" y="5266944"/>
            <a:ext cx="2395728" cy="502920"/>
          </a:xfrm>
          <a:prstGeom prst="rect">
            <a:avLst/>
          </a:prstGeom>
          <a:noFill/>
          <a:ln/>
        </p:spPr>
        <p:txBody>
          <a:bodyPr wrap="square" lIns="0" tIns="0" rIns="0" bIns="0" rtlCol="0" anchor="t"/>
          <a:lstStyle/>
          <a:p>
            <a:pPr algn="l" indent="0" marL="0">
              <a:lnSpc>
                <a:spcPts val="1100"/>
              </a:lnSpc>
              <a:buNone/>
            </a:pPr>
            <a:r>
              <a:rPr lang="en-US" sz="860" dirty="0">
                <a:solidFill>
                  <a:srgbClr val="1A2A25"/>
                </a:solidFill>
                <a:latin typeface="Calibri" pitchFamily="34" charset="0"/>
                <a:ea typeface="Calibri" pitchFamily="34" charset="-122"/>
                <a:cs typeface="Calibri" pitchFamily="34" charset="-120"/>
              </a:rPr>
              <a:t>SonarQube reporta 0,0% de cobertura automatizada.</a:t>
            </a:r>
            <a:endParaRPr lang="en-US" sz="860" dirty="0"/>
          </a:p>
        </p:txBody>
      </p:sp>
      <p:sp>
        <p:nvSpPr>
          <p:cNvPr id="20" name="Text 17"/>
          <p:cNvSpPr/>
          <p:nvPr/>
        </p:nvSpPr>
        <p:spPr>
          <a:xfrm>
            <a:off x="566928" y="5806440"/>
            <a:ext cx="8138160" cy="411480"/>
          </a:xfrm>
          <a:prstGeom prst="rect">
            <a:avLst/>
          </a:prstGeom>
          <a:noFill/>
          <a:ln/>
        </p:spPr>
        <p:txBody>
          <a:bodyPr wrap="square" lIns="0" tIns="0" rIns="0" bIns="0" rtlCol="0" anchor="t"/>
          <a:lstStyle/>
          <a:p>
            <a:pPr algn="l" indent="0" marL="0">
              <a:buNone/>
            </a:pPr>
            <a:r>
              <a:rPr lang="en-US" sz="900" i="1" dirty="0">
                <a:solidFill>
                  <a:srgbClr val="5C6D67"/>
                </a:solidFill>
                <a:latin typeface="Calibri" pitchFamily="34" charset="0"/>
                <a:ea typeface="Calibri" pitchFamily="34" charset="-122"/>
                <a:cs typeface="Calibri" pitchFamily="34" charset="-120"/>
              </a:rPr>
              <a:t>Los RQ sin caso formal no se declaran probados: se verificaron por observación, revisión de código o prueba manual.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06 · HERRAMIENTAS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Cinco herramientas, una razón por cada una</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07 / 17</a:t>
            </a:r>
            <a:endParaRPr lang="en-US" sz="730" dirty="0"/>
          </a:p>
        </p:txBody>
      </p:sp>
      <p:sp>
        <p:nvSpPr>
          <p:cNvPr id="7" name="Text 5"/>
          <p:cNvSpPr/>
          <p:nvPr/>
        </p:nvSpPr>
        <p:spPr>
          <a:xfrm>
            <a:off x="566928" y="179222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01</a:t>
            </a:r>
            <a:endParaRPr lang="en-US" sz="850" dirty="0"/>
          </a:p>
        </p:txBody>
      </p:sp>
      <p:sp>
        <p:nvSpPr>
          <p:cNvPr id="8" name="Text 6"/>
          <p:cNvSpPr/>
          <p:nvPr/>
        </p:nvSpPr>
        <p:spPr>
          <a:xfrm>
            <a:off x="1078992" y="173736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Docker Compose</a:t>
            </a:r>
            <a:endParaRPr lang="en-US" sz="1450" dirty="0"/>
          </a:p>
        </p:txBody>
      </p:sp>
      <p:sp>
        <p:nvSpPr>
          <p:cNvPr id="9" name="Text 7"/>
          <p:cNvSpPr/>
          <p:nvPr/>
        </p:nvSpPr>
        <p:spPr>
          <a:xfrm>
            <a:off x="2999232" y="175564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Reproducir el entorno completo: frontend, backend y PostgreSQL.</a:t>
            </a:r>
            <a:endParaRPr lang="en-US" sz="980" dirty="0"/>
          </a:p>
        </p:txBody>
      </p:sp>
      <p:sp>
        <p:nvSpPr>
          <p:cNvPr id="10" name="Text 8"/>
          <p:cNvSpPr/>
          <p:nvPr/>
        </p:nvSpPr>
        <p:spPr>
          <a:xfrm>
            <a:off x="566928" y="261518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02</a:t>
            </a:r>
            <a:endParaRPr lang="en-US" sz="850" dirty="0"/>
          </a:p>
        </p:txBody>
      </p:sp>
      <p:sp>
        <p:nvSpPr>
          <p:cNvPr id="11" name="Text 9"/>
          <p:cNvSpPr/>
          <p:nvPr/>
        </p:nvSpPr>
        <p:spPr>
          <a:xfrm>
            <a:off x="1078992" y="256032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Swagger / OpenAPI</a:t>
            </a:r>
            <a:endParaRPr lang="en-US" sz="1450" dirty="0"/>
          </a:p>
        </p:txBody>
      </p:sp>
      <p:sp>
        <p:nvSpPr>
          <p:cNvPr id="12" name="Text 10"/>
          <p:cNvSpPr/>
          <p:nvPr/>
        </p:nvSpPr>
        <p:spPr>
          <a:xfrm>
            <a:off x="2999232" y="257860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Verificar el contrato real de cada endpoint antes de probarlo.</a:t>
            </a:r>
            <a:endParaRPr lang="en-US" sz="980" dirty="0"/>
          </a:p>
        </p:txBody>
      </p:sp>
      <p:sp>
        <p:nvSpPr>
          <p:cNvPr id="13" name="Text 11"/>
          <p:cNvSpPr/>
          <p:nvPr/>
        </p:nvSpPr>
        <p:spPr>
          <a:xfrm>
            <a:off x="566928" y="343814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03</a:t>
            </a:r>
            <a:endParaRPr lang="en-US" sz="850" dirty="0"/>
          </a:p>
        </p:txBody>
      </p:sp>
      <p:sp>
        <p:nvSpPr>
          <p:cNvPr id="14" name="Text 12"/>
          <p:cNvSpPr/>
          <p:nvPr/>
        </p:nvSpPr>
        <p:spPr>
          <a:xfrm>
            <a:off x="1078992" y="338328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curl / Postman</a:t>
            </a:r>
            <a:endParaRPr lang="en-US" sz="1450" dirty="0"/>
          </a:p>
        </p:txBody>
      </p:sp>
      <p:sp>
        <p:nvSpPr>
          <p:cNvPr id="15" name="Text 13"/>
          <p:cNvSpPr/>
          <p:nvPr/>
        </p:nvSpPr>
        <p:spPr>
          <a:xfrm>
            <a:off x="2999232" y="340156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Capturar request y response como evidencia reproducible.</a:t>
            </a:r>
            <a:endParaRPr lang="en-US" sz="980" dirty="0"/>
          </a:p>
        </p:txBody>
      </p:sp>
      <p:sp>
        <p:nvSpPr>
          <p:cNvPr id="16" name="Text 14"/>
          <p:cNvSpPr/>
          <p:nvPr/>
        </p:nvSpPr>
        <p:spPr>
          <a:xfrm>
            <a:off x="566928" y="426110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04</a:t>
            </a:r>
            <a:endParaRPr lang="en-US" sz="850" dirty="0"/>
          </a:p>
        </p:txBody>
      </p:sp>
      <p:sp>
        <p:nvSpPr>
          <p:cNvPr id="17" name="Text 15"/>
          <p:cNvSpPr/>
          <p:nvPr/>
        </p:nvSpPr>
        <p:spPr>
          <a:xfrm>
            <a:off x="1078992" y="420624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PostgreSQL</a:t>
            </a:r>
            <a:endParaRPr lang="en-US" sz="1450" dirty="0"/>
          </a:p>
        </p:txBody>
      </p:sp>
      <p:sp>
        <p:nvSpPr>
          <p:cNvPr id="18" name="Text 16"/>
          <p:cNvSpPr/>
          <p:nvPr/>
        </p:nvSpPr>
        <p:spPr>
          <a:xfrm>
            <a:off x="2999232" y="422452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Confirmar el efecto real de una petición en la base de datos.</a:t>
            </a:r>
            <a:endParaRPr lang="en-US" sz="980" dirty="0"/>
          </a:p>
        </p:txBody>
      </p:sp>
      <p:sp>
        <p:nvSpPr>
          <p:cNvPr id="19" name="Text 17"/>
          <p:cNvSpPr/>
          <p:nvPr/>
        </p:nvSpPr>
        <p:spPr>
          <a:xfrm>
            <a:off x="566928" y="508406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05</a:t>
            </a:r>
            <a:endParaRPr lang="en-US" sz="850" dirty="0"/>
          </a:p>
        </p:txBody>
      </p:sp>
      <p:sp>
        <p:nvSpPr>
          <p:cNvPr id="20" name="Text 18"/>
          <p:cNvSpPr/>
          <p:nvPr/>
        </p:nvSpPr>
        <p:spPr>
          <a:xfrm>
            <a:off x="1078992" y="502920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SonarQube 9.9.8</a:t>
            </a:r>
            <a:endParaRPr lang="en-US" sz="1450" dirty="0"/>
          </a:p>
        </p:txBody>
      </p:sp>
      <p:sp>
        <p:nvSpPr>
          <p:cNvPr id="21" name="Text 19"/>
          <p:cNvSpPr/>
          <p:nvPr/>
        </p:nvSpPr>
        <p:spPr>
          <a:xfrm>
            <a:off x="2999232" y="504748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SAST con perfil OWASP sobre 10.133 líneas de código.</a:t>
            </a:r>
            <a:endParaRPr lang="en-US" sz="980" dirty="0"/>
          </a:p>
        </p:txBody>
      </p:sp>
      <p:sp>
        <p:nvSpPr>
          <p:cNvPr id="22" name="Shape 20"/>
          <p:cNvSpPr/>
          <p:nvPr/>
        </p:nvSpPr>
        <p:spPr>
          <a:xfrm>
            <a:off x="8001000" y="1737360"/>
            <a:ext cx="3621024" cy="2029968"/>
          </a:xfrm>
          <a:prstGeom prst="roundRect">
            <a:avLst>
              <a:gd name="adj" fmla="val 1126"/>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23" name="Text 21"/>
          <p:cNvSpPr/>
          <p:nvPr/>
        </p:nvSpPr>
        <p:spPr>
          <a:xfrm>
            <a:off x="8156448" y="1865376"/>
            <a:ext cx="3291840" cy="182880"/>
          </a:xfrm>
          <a:prstGeom prst="rect">
            <a:avLst/>
          </a:prstGeom>
          <a:noFill/>
          <a:ln/>
        </p:spPr>
        <p:txBody>
          <a:bodyPr wrap="square" lIns="0" tIns="0" rIns="0" bIns="0" rtlCol="0" anchor="t"/>
          <a:lstStyle/>
          <a:p>
            <a:pPr algn="l" indent="0" marL="0">
              <a:buNone/>
            </a:pPr>
            <a:r>
              <a:rPr lang="en-US" sz="710" b="1" spc="110" kern="0" dirty="0">
                <a:solidFill>
                  <a:srgbClr val="8A5E0F"/>
                </a:solidFill>
                <a:latin typeface="Courier New" pitchFamily="34" charset="0"/>
                <a:ea typeface="Courier New" pitchFamily="34" charset="-122"/>
                <a:cs typeface="Courier New" pitchFamily="34" charset="-120"/>
              </a:rPr>
              <a:t>POR QUÉ NO ZAP</a:t>
            </a:r>
            <a:endParaRPr lang="en-US" sz="710" dirty="0"/>
          </a:p>
        </p:txBody>
      </p:sp>
      <p:sp>
        <p:nvSpPr>
          <p:cNvPr id="24" name="Text 22"/>
          <p:cNvSpPr/>
          <p:nvPr/>
        </p:nvSpPr>
        <p:spPr>
          <a:xfrm>
            <a:off x="8156448" y="2103120"/>
            <a:ext cx="3291840" cy="822960"/>
          </a:xfrm>
          <a:prstGeom prst="rect">
            <a:avLst/>
          </a:prstGeom>
          <a:noFill/>
          <a:ln/>
        </p:spPr>
        <p:txBody>
          <a:bodyPr wrap="square" lIns="0" tIns="0" rIns="0" bIns="0" rtlCol="0" anchor="t"/>
          <a:lstStyle/>
          <a:p>
            <a:pPr algn="l" indent="0" marL="0">
              <a:lnSpc>
                <a:spcPts val="1400"/>
              </a:lnSpc>
              <a:buNone/>
            </a:pPr>
            <a:r>
              <a:rPr lang="en-US" sz="980" dirty="0">
                <a:solidFill>
                  <a:srgbClr val="1A2A25"/>
                </a:solidFill>
                <a:latin typeface="Calibri" pitchFamily="34" charset="0"/>
                <a:ea typeface="Calibri" pitchFamily="34" charset="-122"/>
                <a:cs typeface="Calibri" pitchFamily="34" charset="-120"/>
              </a:rPr>
              <a:t>OWASP ZAP no se ejecutó en esta iteración. Se declara como trabajo futuro, no como resultado.</a:t>
            </a:r>
            <a:endParaRPr lang="en-US" sz="980" dirty="0"/>
          </a:p>
        </p:txBody>
      </p:sp>
      <p:sp>
        <p:nvSpPr>
          <p:cNvPr id="25" name="Text 23"/>
          <p:cNvSpPr/>
          <p:nvPr/>
        </p:nvSpPr>
        <p:spPr>
          <a:xfrm>
            <a:off x="8156448" y="3081528"/>
            <a:ext cx="3246120" cy="502920"/>
          </a:xfrm>
          <a:prstGeom prst="rect">
            <a:avLst/>
          </a:prstGeom>
          <a:noFill/>
          <a:ln/>
        </p:spPr>
        <p:txBody>
          <a:bodyPr wrap="square" lIns="0" tIns="0" rIns="0" bIns="0" rtlCol="0" anchor="t"/>
          <a:lstStyle/>
          <a:p>
            <a:pPr algn="l" indent="0" marL="0">
              <a:lnSpc>
                <a:spcPts val="1200"/>
              </a:lnSpc>
              <a:buNone/>
            </a:pPr>
            <a:r>
              <a:rPr lang="en-US" sz="880" i="1" dirty="0">
                <a:solidFill>
                  <a:srgbClr val="8A5E0F"/>
                </a:solidFill>
                <a:latin typeface="Calibri" pitchFamily="34" charset="0"/>
                <a:ea typeface="Calibri" pitchFamily="34" charset="-122"/>
                <a:cs typeface="Calibri" pitchFamily="34" charset="-120"/>
              </a:rPr>
              <a:t>Un hallazgo no observado no se convierte en un hallazgo inexistente.</a:t>
            </a:r>
            <a:endParaRPr lang="en-US" sz="880" dirty="0"/>
          </a:p>
        </p:txBody>
      </p:sp>
      <p:sp>
        <p:nvSpPr>
          <p:cNvPr id="26" name="Shape 24"/>
          <p:cNvSpPr/>
          <p:nvPr/>
        </p:nvSpPr>
        <p:spPr>
          <a:xfrm>
            <a:off x="8001000" y="3968496"/>
            <a:ext cx="3621024" cy="1298448"/>
          </a:xfrm>
          <a:prstGeom prst="roundRect">
            <a:avLst>
              <a:gd name="adj" fmla="val 176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7" name="Text 25"/>
          <p:cNvSpPr/>
          <p:nvPr/>
        </p:nvSpPr>
        <p:spPr>
          <a:xfrm>
            <a:off x="8156448" y="4087368"/>
            <a:ext cx="32004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ENTORNO</a:t>
            </a:r>
            <a:endParaRPr lang="en-US" sz="710" dirty="0"/>
          </a:p>
        </p:txBody>
      </p:sp>
      <p:sp>
        <p:nvSpPr>
          <p:cNvPr id="28" name="Text 26"/>
          <p:cNvSpPr/>
          <p:nvPr/>
        </p:nvSpPr>
        <p:spPr>
          <a:xfrm>
            <a:off x="8156448" y="4315968"/>
            <a:ext cx="3200400" cy="777240"/>
          </a:xfrm>
          <a:prstGeom prst="rect">
            <a:avLst/>
          </a:prstGeom>
          <a:noFill/>
          <a:ln/>
        </p:spPr>
        <p:txBody>
          <a:bodyPr wrap="square" lIns="0" tIns="0" rIns="0" bIns="0" rtlCol="0" anchor="t"/>
          <a:lstStyle/>
          <a:p>
            <a:pPr algn="l" indent="0" marL="0">
              <a:lnSpc>
                <a:spcPts val="1300"/>
              </a:lnSpc>
              <a:buNone/>
            </a:pPr>
            <a:r>
              <a:rPr lang="en-US" sz="820" dirty="0">
                <a:solidFill>
                  <a:srgbClr val="1A2A25"/>
                </a:solidFill>
                <a:latin typeface="Courier New" pitchFamily="34" charset="0"/>
                <a:ea typeface="Courier New" pitchFamily="34" charset="-122"/>
                <a:cs typeface="Courier New" pitchFamily="34" charset="-120"/>
              </a:rPr>
              <a:t>Docker Compose</a:t>
            </a:r>
            <a:endParaRPr lang="en-US" sz="820" dirty="0"/>
          </a:p>
          <a:p>
            <a:pPr algn="l" indent="0" marL="0">
              <a:lnSpc>
                <a:spcPts val="1300"/>
              </a:lnSpc>
              <a:buNone/>
            </a:pPr>
            <a:r>
              <a:rPr lang="en-US" sz="820" dirty="0">
                <a:solidFill>
                  <a:srgbClr val="1A2A25"/>
                </a:solidFill>
                <a:latin typeface="Courier New" pitchFamily="34" charset="0"/>
                <a:ea typeface="Courier New" pitchFamily="34" charset="-122"/>
                <a:cs typeface="Courier New" pitchFamily="34" charset="-120"/>
              </a:rPr>
              <a:t>PostgreSQL 15</a:t>
            </a:r>
            <a:endParaRPr lang="en-US" sz="820" dirty="0"/>
          </a:p>
          <a:p>
            <a:pPr algn="l" indent="0" marL="0">
              <a:lnSpc>
                <a:spcPts val="1300"/>
              </a:lnSpc>
              <a:buNone/>
            </a:pPr>
            <a:r>
              <a:rPr lang="en-US" sz="820" dirty="0">
                <a:solidFill>
                  <a:srgbClr val="1A2A25"/>
                </a:solidFill>
                <a:latin typeface="Courier New" pitchFamily="34" charset="0"/>
                <a:ea typeface="Courier New" pitchFamily="34" charset="-122"/>
                <a:cs typeface="Courier New" pitchFamily="34" charset="-120"/>
              </a:rPr>
              <a:t>SonarQube 9.9.8</a:t>
            </a:r>
            <a:endParaRPr lang="en-US" sz="820" dirty="0"/>
          </a:p>
        </p:txBody>
      </p:sp>
      <p:sp>
        <p:nvSpPr>
          <p:cNvPr id="29" name="Text 27"/>
          <p:cNvSpPr/>
          <p:nvPr/>
        </p:nvSpPr>
        <p:spPr>
          <a:xfrm>
            <a:off x="8001000" y="5559552"/>
            <a:ext cx="3566160" cy="41148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Toda la evidencia quedó archivada con nombre, caso y resultado.</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07 · EJECUCIÓN</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Dos jornadas, ocho casos y evidencia por cada uno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08 / 17</a:t>
            </a:r>
            <a:endParaRPr lang="en-US" sz="730" dirty="0"/>
          </a:p>
        </p:txBody>
      </p:sp>
      <p:sp>
        <p:nvSpPr>
          <p:cNvPr id="7" name="Text 5"/>
          <p:cNvSpPr/>
          <p:nvPr/>
        </p:nvSpPr>
        <p:spPr>
          <a:xfrm>
            <a:off x="566928" y="1627632"/>
            <a:ext cx="640080" cy="41148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8</a:t>
            </a:r>
            <a:endParaRPr lang="en-US" sz="2800" dirty="0"/>
          </a:p>
        </p:txBody>
      </p:sp>
      <p:sp>
        <p:nvSpPr>
          <p:cNvPr id="8" name="Text 6"/>
          <p:cNvSpPr/>
          <p:nvPr/>
        </p:nvSpPr>
        <p:spPr>
          <a:xfrm>
            <a:off x="1069848"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ejecutados</a:t>
            </a:r>
            <a:endParaRPr lang="en-US" sz="900" dirty="0"/>
          </a:p>
        </p:txBody>
      </p:sp>
      <p:sp>
        <p:nvSpPr>
          <p:cNvPr id="9" name="Text 7"/>
          <p:cNvSpPr/>
          <p:nvPr/>
        </p:nvSpPr>
        <p:spPr>
          <a:xfrm>
            <a:off x="3328416" y="1627632"/>
            <a:ext cx="640080" cy="41148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7</a:t>
            </a:r>
            <a:endParaRPr lang="en-US" sz="2800" dirty="0"/>
          </a:p>
        </p:txBody>
      </p:sp>
      <p:sp>
        <p:nvSpPr>
          <p:cNvPr id="10" name="Text 8"/>
          <p:cNvSpPr/>
          <p:nvPr/>
        </p:nvSpPr>
        <p:spPr>
          <a:xfrm>
            <a:off x="3831336"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pass</a:t>
            </a:r>
            <a:endParaRPr lang="en-US" sz="900" dirty="0"/>
          </a:p>
        </p:txBody>
      </p:sp>
      <p:sp>
        <p:nvSpPr>
          <p:cNvPr id="11" name="Text 9"/>
          <p:cNvSpPr/>
          <p:nvPr/>
        </p:nvSpPr>
        <p:spPr>
          <a:xfrm>
            <a:off x="6089904" y="1627632"/>
            <a:ext cx="640080" cy="411480"/>
          </a:xfrm>
          <a:prstGeom prst="rect">
            <a:avLst/>
          </a:prstGeom>
          <a:noFill/>
          <a:ln/>
        </p:spPr>
        <p:txBody>
          <a:bodyPr wrap="square" lIns="0" tIns="0" rIns="0" bIns="0" rtlCol="0" anchor="t"/>
          <a:lstStyle/>
          <a:p>
            <a:pPr algn="l" indent="0" marL="0">
              <a:buNone/>
            </a:pPr>
            <a:r>
              <a:rPr lang="en-US" sz="2800" b="1" dirty="0">
                <a:solidFill>
                  <a:srgbClr val="A93A2E"/>
                </a:solidFill>
                <a:latin typeface="Cambria" pitchFamily="34" charset="0"/>
                <a:ea typeface="Cambria" pitchFamily="34" charset="-122"/>
                <a:cs typeface="Cambria" pitchFamily="34" charset="-120"/>
              </a:rPr>
              <a:t>1</a:t>
            </a:r>
            <a:endParaRPr lang="en-US" sz="2800" dirty="0"/>
          </a:p>
        </p:txBody>
      </p:sp>
      <p:sp>
        <p:nvSpPr>
          <p:cNvPr id="12" name="Text 10"/>
          <p:cNvSpPr/>
          <p:nvPr/>
        </p:nvSpPr>
        <p:spPr>
          <a:xfrm>
            <a:off x="6592824"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fail</a:t>
            </a:r>
            <a:endParaRPr lang="en-US" sz="900" dirty="0"/>
          </a:p>
        </p:txBody>
      </p:sp>
      <p:sp>
        <p:nvSpPr>
          <p:cNvPr id="13" name="Text 11"/>
          <p:cNvSpPr/>
          <p:nvPr/>
        </p:nvSpPr>
        <p:spPr>
          <a:xfrm>
            <a:off x="8851392" y="1627632"/>
            <a:ext cx="640080" cy="41148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0</a:t>
            </a:r>
            <a:endParaRPr lang="en-US" sz="2800" dirty="0"/>
          </a:p>
        </p:txBody>
      </p:sp>
      <p:sp>
        <p:nvSpPr>
          <p:cNvPr id="14" name="Text 12"/>
          <p:cNvSpPr/>
          <p:nvPr/>
        </p:nvSpPr>
        <p:spPr>
          <a:xfrm>
            <a:off x="9354312"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bloqueados</a:t>
            </a:r>
            <a:endParaRPr lang="en-US" sz="900" dirty="0"/>
          </a:p>
        </p:txBody>
      </p:sp>
      <p:sp>
        <p:nvSpPr>
          <p:cNvPr id="15" name="Shape 13"/>
          <p:cNvSpPr/>
          <p:nvPr/>
        </p:nvSpPr>
        <p:spPr>
          <a:xfrm>
            <a:off x="566928" y="2331720"/>
            <a:ext cx="5394960" cy="841248"/>
          </a:xfrm>
          <a:prstGeom prst="roundRect">
            <a:avLst>
              <a:gd name="adj" fmla="val 271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6" name="Text 14"/>
          <p:cNvSpPr/>
          <p:nvPr/>
        </p:nvSpPr>
        <p:spPr>
          <a:xfrm>
            <a:off x="731520" y="2450592"/>
            <a:ext cx="914400" cy="182880"/>
          </a:xfrm>
          <a:prstGeom prst="rect">
            <a:avLst/>
          </a:prstGeom>
          <a:noFill/>
          <a:ln/>
        </p:spPr>
        <p:txBody>
          <a:bodyPr wrap="square" lIns="0" tIns="0" rIns="0" bIns="0" rtlCol="0" anchor="t"/>
          <a:lstStyle/>
          <a:p>
            <a:pPr algn="l" indent="0" marL="0">
              <a:buNone/>
            </a:pPr>
            <a:r>
              <a:rPr lang="en-US" sz="800" b="1" spc="100" kern="0" dirty="0">
                <a:solidFill>
                  <a:srgbClr val="C98A1E"/>
                </a:solidFill>
                <a:latin typeface="Courier New" pitchFamily="34" charset="0"/>
                <a:ea typeface="Courier New" pitchFamily="34" charset="-122"/>
                <a:cs typeface="Courier New" pitchFamily="34" charset="-120"/>
              </a:rPr>
              <a:t>06 OCT</a:t>
            </a:r>
            <a:endParaRPr lang="en-US" sz="800" dirty="0"/>
          </a:p>
        </p:txBody>
      </p:sp>
      <p:sp>
        <p:nvSpPr>
          <p:cNvPr id="17" name="Text 15"/>
          <p:cNvSpPr/>
          <p:nvPr/>
        </p:nvSpPr>
        <p:spPr>
          <a:xfrm>
            <a:off x="1709928" y="2432304"/>
            <a:ext cx="4023360" cy="256032"/>
          </a:xfrm>
          <a:prstGeom prst="rect">
            <a:avLst/>
          </a:prstGeom>
          <a:noFill/>
          <a:ln/>
        </p:spPr>
        <p:txBody>
          <a:bodyPr wrap="square" lIns="0" tIns="0" rIns="0" bIns="0" rtlCol="0" anchor="t"/>
          <a:lstStyle/>
          <a:p>
            <a:pPr algn="l" indent="0" marL="0">
              <a:buNone/>
            </a:pPr>
            <a:r>
              <a:rPr lang="en-US" sz="1200" b="1" dirty="0">
                <a:solidFill>
                  <a:srgbClr val="1A2A25"/>
                </a:solidFill>
                <a:latin typeface="Calibri" pitchFamily="34" charset="0"/>
                <a:ea typeface="Calibri" pitchFamily="34" charset="-122"/>
                <a:cs typeface="Calibri" pitchFamily="34" charset="-120"/>
              </a:rPr>
              <a:t>CP001–CP004 · 4 Pass</a:t>
            </a:r>
            <a:endParaRPr lang="en-US" sz="1200" dirty="0"/>
          </a:p>
        </p:txBody>
      </p:sp>
      <p:sp>
        <p:nvSpPr>
          <p:cNvPr id="18" name="Text 16"/>
          <p:cNvSpPr/>
          <p:nvPr/>
        </p:nvSpPr>
        <p:spPr>
          <a:xfrm>
            <a:off x="1709928" y="2697480"/>
            <a:ext cx="4023360" cy="201168"/>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Registro de pacientes y validación de entrada.</a:t>
            </a:r>
            <a:endParaRPr lang="en-US" sz="880" dirty="0"/>
          </a:p>
        </p:txBody>
      </p:sp>
      <p:sp>
        <p:nvSpPr>
          <p:cNvPr id="19" name="Shape 17"/>
          <p:cNvSpPr/>
          <p:nvPr/>
        </p:nvSpPr>
        <p:spPr>
          <a:xfrm>
            <a:off x="5989320" y="2331720"/>
            <a:ext cx="5632704" cy="841248"/>
          </a:xfrm>
          <a:prstGeom prst="roundRect">
            <a:avLst>
              <a:gd name="adj" fmla="val 271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6153912" y="2450592"/>
            <a:ext cx="914400" cy="182880"/>
          </a:xfrm>
          <a:prstGeom prst="rect">
            <a:avLst/>
          </a:prstGeom>
          <a:noFill/>
          <a:ln/>
        </p:spPr>
        <p:txBody>
          <a:bodyPr wrap="square" lIns="0" tIns="0" rIns="0" bIns="0" rtlCol="0" anchor="t"/>
          <a:lstStyle/>
          <a:p>
            <a:pPr algn="l" indent="0" marL="0">
              <a:buNone/>
            </a:pPr>
            <a:r>
              <a:rPr lang="en-US" sz="800" b="1" spc="100" kern="0" dirty="0">
                <a:solidFill>
                  <a:srgbClr val="C98A1E"/>
                </a:solidFill>
                <a:latin typeface="Courier New" pitchFamily="34" charset="0"/>
                <a:ea typeface="Courier New" pitchFamily="34" charset="-122"/>
                <a:cs typeface="Courier New" pitchFamily="34" charset="-120"/>
              </a:rPr>
              <a:t>16 OCT</a:t>
            </a:r>
            <a:endParaRPr lang="en-US" sz="800" dirty="0"/>
          </a:p>
        </p:txBody>
      </p:sp>
      <p:sp>
        <p:nvSpPr>
          <p:cNvPr id="21" name="Text 19"/>
          <p:cNvSpPr/>
          <p:nvPr/>
        </p:nvSpPr>
        <p:spPr>
          <a:xfrm>
            <a:off x="7132320" y="2432304"/>
            <a:ext cx="4206240" cy="256032"/>
          </a:xfrm>
          <a:prstGeom prst="rect">
            <a:avLst/>
          </a:prstGeom>
          <a:noFill/>
          <a:ln/>
        </p:spPr>
        <p:txBody>
          <a:bodyPr wrap="square" lIns="0" tIns="0" rIns="0" bIns="0" rtlCol="0" anchor="t"/>
          <a:lstStyle/>
          <a:p>
            <a:pPr algn="l" indent="0" marL="0">
              <a:buNone/>
            </a:pPr>
            <a:r>
              <a:rPr lang="en-US" sz="1200" b="1" dirty="0">
                <a:solidFill>
                  <a:srgbClr val="1A2A25"/>
                </a:solidFill>
                <a:latin typeface="Calibri" pitchFamily="34" charset="0"/>
                <a:ea typeface="Calibri" pitchFamily="34" charset="-122"/>
                <a:cs typeface="Calibri" pitchFamily="34" charset="-120"/>
              </a:rPr>
              <a:t>CP005–CP008 · 3 Pass / 1 Fail</a:t>
            </a:r>
            <a:endParaRPr lang="en-US" sz="1200" dirty="0"/>
          </a:p>
        </p:txBody>
      </p:sp>
      <p:sp>
        <p:nvSpPr>
          <p:cNvPr id="22" name="Text 20"/>
          <p:cNvSpPr/>
          <p:nvPr/>
        </p:nvSpPr>
        <p:spPr>
          <a:xfrm>
            <a:off x="7132320" y="2697480"/>
            <a:ext cx="4206240" cy="201168"/>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Sesión, RBAC, integridad y análisis estático.</a:t>
            </a:r>
            <a:endParaRPr lang="en-US" sz="880" dirty="0"/>
          </a:p>
        </p:txBody>
      </p:sp>
      <p:sp>
        <p:nvSpPr>
          <p:cNvPr id="23" name="Shape 21"/>
          <p:cNvSpPr/>
          <p:nvPr/>
        </p:nvSpPr>
        <p:spPr>
          <a:xfrm>
            <a:off x="521208" y="3456432"/>
            <a:ext cx="5138928" cy="2651760"/>
          </a:xfrm>
          <a:prstGeom prst="roundRect">
            <a:avLst>
              <a:gd name="adj" fmla="val 862"/>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pic>
        <p:nvPicPr>
          <p:cNvPr id="24" name="Image 0" descr="C:\Users\ibane\Desktop\Seg. y Calidad\cuidarte-plus-calidad-seguridad-isy1102\Mis_Entregables\U2.3_Ejecucion\Evidencias\Grupo1_CP003_Duplicado_400_Pass.png">    </p:cNvPr>
          <p:cNvPicPr>
            <a:picLocks noChangeAspect="1"/>
          </p:cNvPicPr>
          <p:nvPr/>
        </p:nvPicPr>
        <p:blipFill>
          <a:blip r:embed="rId1"/>
          <a:stretch>
            <a:fillRect/>
          </a:stretch>
        </p:blipFill>
        <p:spPr>
          <a:xfrm>
            <a:off x="566928" y="3502152"/>
            <a:ext cx="5047488" cy="2560320"/>
          </a:xfrm>
          <a:prstGeom prst="rect">
            <a:avLst/>
          </a:prstGeom>
        </p:spPr>
      </p:pic>
      <p:sp>
        <p:nvSpPr>
          <p:cNvPr id="25" name="Text 22"/>
          <p:cNvSpPr/>
          <p:nvPr/>
        </p:nvSpPr>
        <p:spPr>
          <a:xfrm>
            <a:off x="566928" y="6144768"/>
            <a:ext cx="5029200" cy="182880"/>
          </a:xfrm>
          <a:prstGeom prst="rect">
            <a:avLst/>
          </a:prstGeom>
          <a:noFill/>
          <a:ln/>
        </p:spPr>
        <p:txBody>
          <a:bodyPr wrap="square" lIns="0" tIns="0" rIns="0" bIns="0" rtlCol="0" anchor="t"/>
          <a:lstStyle/>
          <a:p>
            <a:pPr algn="l" indent="0" marL="0">
              <a:buNone/>
            </a:pPr>
            <a:r>
              <a:rPr lang="en-US" sz="720" spc="60" kern="0" dirty="0">
                <a:solidFill>
                  <a:srgbClr val="5C6D67"/>
                </a:solidFill>
                <a:latin typeface="Courier New" pitchFamily="34" charset="0"/>
                <a:ea typeface="Courier New" pitchFamily="34" charset="-122"/>
                <a:cs typeface="Courier New" pitchFamily="34" charset="-120"/>
              </a:rPr>
              <a:t>CP003 · duplicado → 400</a:t>
            </a:r>
            <a:endParaRPr lang="en-US" sz="720" dirty="0"/>
          </a:p>
        </p:txBody>
      </p:sp>
      <p:sp>
        <p:nvSpPr>
          <p:cNvPr id="26" name="Shape 23"/>
          <p:cNvSpPr/>
          <p:nvPr/>
        </p:nvSpPr>
        <p:spPr>
          <a:xfrm>
            <a:off x="5989320" y="3456432"/>
            <a:ext cx="5632704" cy="1371600"/>
          </a:xfrm>
          <a:prstGeom prst="roundRect">
            <a:avLst>
              <a:gd name="adj" fmla="val 1667"/>
            </a:avLst>
          </a:prstGeom>
          <a:solidFill>
            <a:srgbClr val="F5DDD9"/>
          </a:solidFill>
          <a:ln w="7620">
            <a:solidFill>
              <a:srgbClr val="F5DDD9"/>
            </a:solidFill>
            <a:prstDash val="solid"/>
          </a:ln>
          <a:effectLst>
            <a:outerShdw sx="100000" sy="100000" kx="0" ky="0" algn="bl" rotWithShape="0" blurRad="88900" dist="25400" dir="5400000">
              <a:srgbClr val="000000">
                <a:alpha val="5000"/>
              </a:srgbClr>
            </a:outerShdw>
          </a:effectLst>
        </p:spPr>
      </p:sp>
      <p:sp>
        <p:nvSpPr>
          <p:cNvPr id="27" name="Text 24"/>
          <p:cNvSpPr/>
          <p:nvPr/>
        </p:nvSpPr>
        <p:spPr>
          <a:xfrm>
            <a:off x="6144768" y="3566160"/>
            <a:ext cx="2286000" cy="182880"/>
          </a:xfrm>
          <a:prstGeom prst="rect">
            <a:avLst/>
          </a:prstGeom>
          <a:noFill/>
          <a:ln/>
        </p:spPr>
        <p:txBody>
          <a:bodyPr wrap="square" lIns="0" tIns="0" rIns="0" bIns="0" rtlCol="0" anchor="t"/>
          <a:lstStyle/>
          <a:p>
            <a:pPr algn="l" indent="0" marL="0">
              <a:buNone/>
            </a:pPr>
            <a:r>
              <a:rPr lang="en-US" sz="720" b="1" spc="110" kern="0" dirty="0">
                <a:solidFill>
                  <a:srgbClr val="B23A2F"/>
                </a:solidFill>
                <a:latin typeface="Courier New" pitchFamily="34" charset="0"/>
                <a:ea typeface="Courier New" pitchFamily="34" charset="-122"/>
                <a:cs typeface="Courier New" pitchFamily="34" charset="-120"/>
              </a:rPr>
              <a:t>CP006 · FAIL</a:t>
            </a:r>
            <a:endParaRPr lang="en-US" sz="720" dirty="0"/>
          </a:p>
        </p:txBody>
      </p:sp>
      <p:sp>
        <p:nvSpPr>
          <p:cNvPr id="28" name="Text 25"/>
          <p:cNvSpPr/>
          <p:nvPr/>
        </p:nvSpPr>
        <p:spPr>
          <a:xfrm>
            <a:off x="6144768" y="3767328"/>
            <a:ext cx="5212080" cy="274320"/>
          </a:xfrm>
          <a:prstGeom prst="rect">
            <a:avLst/>
          </a:prstGeom>
          <a:noFill/>
          <a:ln/>
        </p:spPr>
        <p:txBody>
          <a:bodyPr wrap="square" lIns="0" tIns="0" rIns="0" bIns="0" rtlCol="0" anchor="t"/>
          <a:lstStyle/>
          <a:p>
            <a:pPr algn="l" indent="0" marL="0">
              <a:buNone/>
            </a:pPr>
            <a:r>
              <a:rPr lang="en-US" sz="1600" b="1" dirty="0">
                <a:solidFill>
                  <a:srgbClr val="1A2A25"/>
                </a:solidFill>
                <a:latin typeface="Cambria" pitchFamily="34" charset="0"/>
                <a:ea typeface="Cambria" pitchFamily="34" charset="-122"/>
                <a:cs typeface="Cambria" pitchFamily="34" charset="-120"/>
              </a:rPr>
              <a:t>El token sobrevive al logout</a:t>
            </a:r>
            <a:endParaRPr lang="en-US" sz="1600" dirty="0"/>
          </a:p>
        </p:txBody>
      </p:sp>
      <p:sp>
        <p:nvSpPr>
          <p:cNvPr id="29" name="Text 26"/>
          <p:cNvSpPr/>
          <p:nvPr/>
        </p:nvSpPr>
        <p:spPr>
          <a:xfrm>
            <a:off x="6144768" y="4096512"/>
            <a:ext cx="5212080" cy="219456"/>
          </a:xfrm>
          <a:prstGeom prst="rect">
            <a:avLst/>
          </a:prstGeom>
          <a:noFill/>
          <a:ln/>
        </p:spPr>
        <p:txBody>
          <a:bodyPr wrap="square" lIns="0" tIns="0" rIns="0" bIns="0" rtlCol="0" anchor="t"/>
          <a:lstStyle/>
          <a:p>
            <a:pPr algn="l" indent="0" marL="0">
              <a:buNone/>
            </a:pPr>
            <a:r>
              <a:rPr lang="en-US" sz="740" spc="20" kern="0" dirty="0">
                <a:solidFill>
                  <a:srgbClr val="B23A2F"/>
                </a:solidFill>
                <a:latin typeface="Courier New" pitchFamily="34" charset="0"/>
                <a:ea typeface="Courier New" pitchFamily="34" charset="-122"/>
                <a:cs typeface="Courier New" pitchFamily="34" charset="-120"/>
              </a:rPr>
              <a:t>POST /logout → 200   ·   GET /pacientes con el token previo → 200   ·   esperado: 401</a:t>
            </a:r>
            <a:endParaRPr lang="en-US" sz="740" dirty="0"/>
          </a:p>
        </p:txBody>
      </p:sp>
      <p:sp>
        <p:nvSpPr>
          <p:cNvPr id="30" name="Text 27"/>
          <p:cNvSpPr/>
          <p:nvPr/>
        </p:nvSpPr>
        <p:spPr>
          <a:xfrm>
            <a:off x="6144768" y="4370832"/>
            <a:ext cx="5257800" cy="320040"/>
          </a:xfrm>
          <a:prstGeom prst="rect">
            <a:avLst/>
          </a:prstGeom>
          <a:noFill/>
          <a:ln/>
        </p:spPr>
        <p:txBody>
          <a:bodyPr wrap="square" lIns="0" tIns="0" rIns="0" bIns="0" rtlCol="0" anchor="t"/>
          <a:lstStyle/>
          <a:p>
            <a:pPr algn="l" indent="0" marL="0">
              <a:lnSpc>
                <a:spcPts val="1100"/>
              </a:lnSpc>
              <a:buNone/>
            </a:pPr>
            <a:r>
              <a:rPr lang="en-US" sz="880" dirty="0">
                <a:solidFill>
                  <a:srgbClr val="1A2A25"/>
                </a:solidFill>
                <a:latin typeface="Calibri" pitchFamily="34" charset="0"/>
                <a:ea typeface="Calibri" pitchFamily="34" charset="-122"/>
                <a:cs typeface="Calibri" pitchFamily="34" charset="-120"/>
              </a:rPr>
              <a:t>La sesión se cierra en el cliente, pero el token sigue siendo aceptado por el servidor.</a:t>
            </a:r>
            <a:endParaRPr lang="en-US" sz="880" dirty="0"/>
          </a:p>
        </p:txBody>
      </p:sp>
      <p:sp>
        <p:nvSpPr>
          <p:cNvPr id="31" name="Shape 28"/>
          <p:cNvSpPr/>
          <p:nvPr/>
        </p:nvSpPr>
        <p:spPr>
          <a:xfrm>
            <a:off x="5989320" y="4956048"/>
            <a:ext cx="5632704" cy="1133856"/>
          </a:xfrm>
          <a:prstGeom prst="roundRect">
            <a:avLst>
              <a:gd name="adj" fmla="val 201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2" name="Text 29"/>
          <p:cNvSpPr/>
          <p:nvPr/>
        </p:nvSpPr>
        <p:spPr>
          <a:xfrm>
            <a:off x="6144768" y="5056632"/>
            <a:ext cx="22860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QUÉ IMPLICA</a:t>
            </a:r>
            <a:endParaRPr lang="en-US" sz="710" dirty="0"/>
          </a:p>
        </p:txBody>
      </p:sp>
      <p:sp>
        <p:nvSpPr>
          <p:cNvPr id="33" name="Text 30"/>
          <p:cNvSpPr/>
          <p:nvPr/>
        </p:nvSpPr>
        <p:spPr>
          <a:xfrm>
            <a:off x="6144768" y="5276088"/>
            <a:ext cx="5230368" cy="685800"/>
          </a:xfrm>
          <a:prstGeom prst="rect">
            <a:avLst/>
          </a:prstGeom>
          <a:noFill/>
          <a:ln/>
        </p:spPr>
        <p:txBody>
          <a:bodyPr wrap="square" lIns="0" tIns="0" rIns="0" bIns="0" rtlCol="0" anchor="t"/>
          <a:lstStyle/>
          <a:p>
            <a:pPr algn="l" indent="0" marL="0">
              <a:lnSpc>
                <a:spcPts val="1250"/>
              </a:lnSpc>
              <a:buNone/>
            </a:pPr>
            <a:r>
              <a:rPr lang="en-US" sz="920" dirty="0">
                <a:solidFill>
                  <a:srgbClr val="1A2A25"/>
                </a:solidFill>
                <a:latin typeface="Calibri" pitchFamily="34" charset="0"/>
                <a:ea typeface="Calibri" pitchFamily="34" charset="-122"/>
                <a:cs typeface="Calibri" pitchFamily="34" charset="-120"/>
              </a:rPr>
              <a:t>Un atacante con un token robado conserva acceso a la lista de pacientes después de que la víctima cierre sesión. Incumple NFR-SEG-9 y OWASP A07.</a:t>
            </a:r>
            <a:endParaRPr lang="en-US" sz="9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08 · HALLAZGOS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Siete hallazgos: 1 crítico, 3 graves, 2 moderados y 1 leve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09 / 17</a:t>
            </a:r>
            <a:endParaRPr lang="en-US" sz="730" dirty="0"/>
          </a:p>
        </p:txBody>
      </p:sp>
      <p:sp>
        <p:nvSpPr>
          <p:cNvPr id="7" name="Shape 5"/>
          <p:cNvSpPr/>
          <p:nvPr/>
        </p:nvSpPr>
        <p:spPr>
          <a:xfrm>
            <a:off x="566928" y="1645920"/>
            <a:ext cx="2670048" cy="566928"/>
          </a:xfrm>
          <a:prstGeom prst="roundRect">
            <a:avLst>
              <a:gd name="adj" fmla="val 4032"/>
            </a:avLst>
          </a:prstGeom>
          <a:solidFill>
            <a:srgbClr val="F5DDD9"/>
          </a:solidFill>
          <a:ln w="7620">
            <a:solidFill>
              <a:srgbClr val="F5DDD9"/>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70408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B23A2F"/>
                </a:solidFill>
                <a:latin typeface="Courier New" pitchFamily="34" charset="0"/>
                <a:ea typeface="Courier New" pitchFamily="34" charset="-122"/>
                <a:cs typeface="Courier New" pitchFamily="34" charset="-120"/>
              </a:rPr>
              <a:t>CRÍTICO</a:t>
            </a:r>
            <a:endParaRPr lang="en-US" sz="700" dirty="0"/>
          </a:p>
        </p:txBody>
      </p:sp>
      <p:sp>
        <p:nvSpPr>
          <p:cNvPr id="9" name="Text 7"/>
          <p:cNvSpPr/>
          <p:nvPr/>
        </p:nvSpPr>
        <p:spPr>
          <a:xfrm>
            <a:off x="2578608" y="1682496"/>
            <a:ext cx="457200" cy="384048"/>
          </a:xfrm>
          <a:prstGeom prst="rect">
            <a:avLst/>
          </a:prstGeom>
          <a:noFill/>
          <a:ln/>
        </p:spPr>
        <p:txBody>
          <a:bodyPr wrap="square" lIns="0" tIns="0" rIns="0" bIns="0" rtlCol="0" anchor="t"/>
          <a:lstStyle/>
          <a:p>
            <a:pPr algn="r" indent="0" marL="0">
              <a:buNone/>
            </a:pPr>
            <a:r>
              <a:rPr lang="en-US" sz="2000" b="1" dirty="0">
                <a:solidFill>
                  <a:srgbClr val="B23A2F"/>
                </a:solidFill>
                <a:latin typeface="Cambria" pitchFamily="34" charset="0"/>
                <a:ea typeface="Cambria" pitchFamily="34" charset="-122"/>
                <a:cs typeface="Cambria" pitchFamily="34" charset="-120"/>
              </a:rPr>
              <a:t>1</a:t>
            </a:r>
            <a:endParaRPr lang="en-US" sz="2000" dirty="0"/>
          </a:p>
        </p:txBody>
      </p:sp>
      <p:sp>
        <p:nvSpPr>
          <p:cNvPr id="10" name="Shape 8"/>
          <p:cNvSpPr/>
          <p:nvPr/>
        </p:nvSpPr>
        <p:spPr>
          <a:xfrm>
            <a:off x="3355848" y="1645920"/>
            <a:ext cx="2670048" cy="566928"/>
          </a:xfrm>
          <a:prstGeom prst="roundRect">
            <a:avLst>
              <a:gd name="adj" fmla="val 4032"/>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11" name="Text 9"/>
          <p:cNvSpPr/>
          <p:nvPr/>
        </p:nvSpPr>
        <p:spPr>
          <a:xfrm>
            <a:off x="349300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8A5E0F"/>
                </a:solidFill>
                <a:latin typeface="Courier New" pitchFamily="34" charset="0"/>
                <a:ea typeface="Courier New" pitchFamily="34" charset="-122"/>
                <a:cs typeface="Courier New" pitchFamily="34" charset="-120"/>
              </a:rPr>
              <a:t>GRAVE</a:t>
            </a:r>
            <a:endParaRPr lang="en-US" sz="700" dirty="0"/>
          </a:p>
        </p:txBody>
      </p:sp>
      <p:sp>
        <p:nvSpPr>
          <p:cNvPr id="12" name="Text 10"/>
          <p:cNvSpPr/>
          <p:nvPr/>
        </p:nvSpPr>
        <p:spPr>
          <a:xfrm>
            <a:off x="5367528" y="1682496"/>
            <a:ext cx="457200" cy="384048"/>
          </a:xfrm>
          <a:prstGeom prst="rect">
            <a:avLst/>
          </a:prstGeom>
          <a:noFill/>
          <a:ln/>
        </p:spPr>
        <p:txBody>
          <a:bodyPr wrap="square" lIns="0" tIns="0" rIns="0" bIns="0" rtlCol="0" anchor="t"/>
          <a:lstStyle/>
          <a:p>
            <a:pPr algn="r" indent="0" marL="0">
              <a:buNone/>
            </a:pPr>
            <a:r>
              <a:rPr lang="en-US" sz="2000" b="1" dirty="0">
                <a:solidFill>
                  <a:srgbClr val="8A5E0F"/>
                </a:solidFill>
                <a:latin typeface="Cambria" pitchFamily="34" charset="0"/>
                <a:ea typeface="Cambria" pitchFamily="34" charset="-122"/>
                <a:cs typeface="Cambria" pitchFamily="34" charset="-120"/>
              </a:rPr>
              <a:t>3</a:t>
            </a:r>
            <a:endParaRPr lang="en-US" sz="2000" dirty="0"/>
          </a:p>
        </p:txBody>
      </p:sp>
      <p:sp>
        <p:nvSpPr>
          <p:cNvPr id="13" name="Shape 11"/>
          <p:cNvSpPr/>
          <p:nvPr/>
        </p:nvSpPr>
        <p:spPr>
          <a:xfrm>
            <a:off x="6144768" y="1645920"/>
            <a:ext cx="2670048" cy="566928"/>
          </a:xfrm>
          <a:prstGeom prst="roundRect">
            <a:avLst>
              <a:gd name="adj" fmla="val 4032"/>
            </a:avLst>
          </a:prstGeom>
          <a:solidFill>
            <a:srgbClr val="DCEBE5"/>
          </a:solidFill>
          <a:ln w="7620">
            <a:solidFill>
              <a:srgbClr val="DCEBE5"/>
            </a:solidFill>
            <a:prstDash val="solid"/>
          </a:ln>
          <a:effectLst>
            <a:outerShdw sx="100000" sy="100000" kx="0" ky="0" algn="bl" rotWithShape="0" blurRad="88900" dist="25400" dir="5400000">
              <a:srgbClr val="000000">
                <a:alpha val="5000"/>
              </a:srgbClr>
            </a:outerShdw>
          </a:effectLst>
        </p:spPr>
      </p:sp>
      <p:sp>
        <p:nvSpPr>
          <p:cNvPr id="14" name="Text 12"/>
          <p:cNvSpPr/>
          <p:nvPr/>
        </p:nvSpPr>
        <p:spPr>
          <a:xfrm>
            <a:off x="628192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123B33"/>
                </a:solidFill>
                <a:latin typeface="Courier New" pitchFamily="34" charset="0"/>
                <a:ea typeface="Courier New" pitchFamily="34" charset="-122"/>
                <a:cs typeface="Courier New" pitchFamily="34" charset="-120"/>
              </a:rPr>
              <a:t>MODERADO</a:t>
            </a:r>
            <a:endParaRPr lang="en-US" sz="700" dirty="0"/>
          </a:p>
        </p:txBody>
      </p:sp>
      <p:sp>
        <p:nvSpPr>
          <p:cNvPr id="15" name="Text 13"/>
          <p:cNvSpPr/>
          <p:nvPr/>
        </p:nvSpPr>
        <p:spPr>
          <a:xfrm>
            <a:off x="8156448" y="1682496"/>
            <a:ext cx="457200" cy="384048"/>
          </a:xfrm>
          <a:prstGeom prst="rect">
            <a:avLst/>
          </a:prstGeom>
          <a:noFill/>
          <a:ln/>
        </p:spPr>
        <p:txBody>
          <a:bodyPr wrap="square" lIns="0" tIns="0" rIns="0" bIns="0" rtlCol="0" anchor="t"/>
          <a:lstStyle/>
          <a:p>
            <a:pPr algn="r" indent="0" marL="0">
              <a:buNone/>
            </a:pPr>
            <a:r>
              <a:rPr lang="en-US" sz="2000" b="1" dirty="0">
                <a:solidFill>
                  <a:srgbClr val="123B33"/>
                </a:solidFill>
                <a:latin typeface="Cambria" pitchFamily="34" charset="0"/>
                <a:ea typeface="Cambria" pitchFamily="34" charset="-122"/>
                <a:cs typeface="Cambria" pitchFamily="34" charset="-120"/>
              </a:rPr>
              <a:t>2</a:t>
            </a:r>
            <a:endParaRPr lang="en-US" sz="2000" dirty="0"/>
          </a:p>
        </p:txBody>
      </p:sp>
      <p:sp>
        <p:nvSpPr>
          <p:cNvPr id="16" name="Shape 14"/>
          <p:cNvSpPr/>
          <p:nvPr/>
        </p:nvSpPr>
        <p:spPr>
          <a:xfrm>
            <a:off x="8933688" y="1645920"/>
            <a:ext cx="2670048" cy="566928"/>
          </a:xfrm>
          <a:prstGeom prst="roundRect">
            <a:avLst>
              <a:gd name="adj" fmla="val 4032"/>
            </a:avLst>
          </a:prstGeom>
          <a:solidFill>
            <a:srgbClr val="EDF4F0"/>
          </a:solidFill>
          <a:ln w="7620">
            <a:solidFill>
              <a:srgbClr val="EDF4F0"/>
            </a:solidFill>
            <a:prstDash val="solid"/>
          </a:ln>
          <a:effectLst>
            <a:outerShdw sx="100000" sy="100000" kx="0" ky="0" algn="bl" rotWithShape="0" blurRad="88900" dist="25400" dir="5400000">
              <a:srgbClr val="000000">
                <a:alpha val="5000"/>
              </a:srgbClr>
            </a:outerShdw>
          </a:effectLst>
        </p:spPr>
      </p:sp>
      <p:sp>
        <p:nvSpPr>
          <p:cNvPr id="17" name="Text 15"/>
          <p:cNvSpPr/>
          <p:nvPr/>
        </p:nvSpPr>
        <p:spPr>
          <a:xfrm>
            <a:off x="907084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5C6D67"/>
                </a:solidFill>
                <a:latin typeface="Courier New" pitchFamily="34" charset="0"/>
                <a:ea typeface="Courier New" pitchFamily="34" charset="-122"/>
                <a:cs typeface="Courier New" pitchFamily="34" charset="-120"/>
              </a:rPr>
              <a:t>LEVE</a:t>
            </a:r>
            <a:endParaRPr lang="en-US" sz="700" dirty="0"/>
          </a:p>
        </p:txBody>
      </p:sp>
      <p:sp>
        <p:nvSpPr>
          <p:cNvPr id="18" name="Text 16"/>
          <p:cNvSpPr/>
          <p:nvPr/>
        </p:nvSpPr>
        <p:spPr>
          <a:xfrm>
            <a:off x="10945368" y="1682496"/>
            <a:ext cx="457200" cy="384048"/>
          </a:xfrm>
          <a:prstGeom prst="rect">
            <a:avLst/>
          </a:prstGeom>
          <a:noFill/>
          <a:ln/>
        </p:spPr>
        <p:txBody>
          <a:bodyPr wrap="square" lIns="0" tIns="0" rIns="0" bIns="0" rtlCol="0" anchor="t"/>
          <a:lstStyle/>
          <a:p>
            <a:pPr algn="r" indent="0" marL="0">
              <a:buNone/>
            </a:pPr>
            <a:r>
              <a:rPr lang="en-US" sz="2000" b="1" dirty="0">
                <a:solidFill>
                  <a:srgbClr val="5C6D67"/>
                </a:solidFill>
                <a:latin typeface="Cambria" pitchFamily="34" charset="0"/>
                <a:ea typeface="Cambria" pitchFamily="34" charset="-122"/>
                <a:cs typeface="Cambria" pitchFamily="34" charset="-120"/>
              </a:rPr>
              <a:t>1</a:t>
            </a:r>
            <a:endParaRPr lang="en-US" sz="2000" dirty="0"/>
          </a:p>
        </p:txBody>
      </p:sp>
      <p:sp>
        <p:nvSpPr>
          <p:cNvPr id="19" name="Shape 17"/>
          <p:cNvSpPr/>
          <p:nvPr/>
        </p:nvSpPr>
        <p:spPr>
          <a:xfrm>
            <a:off x="566928" y="23957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731520" y="2514600"/>
            <a:ext cx="2011680" cy="182880"/>
          </a:xfrm>
          <a:prstGeom prst="rect">
            <a:avLst/>
          </a:prstGeom>
          <a:noFill/>
          <a:ln/>
        </p:spPr>
        <p:txBody>
          <a:bodyPr wrap="square" lIns="0" tIns="0" rIns="0" bIns="0" rtlCol="0" anchor="t"/>
          <a:lstStyle/>
          <a:p>
            <a:pPr algn="l" indent="0" marL="0">
              <a:buNone/>
            </a:pPr>
            <a:r>
              <a:rPr lang="en-US" sz="680" b="1" spc="110" kern="0" dirty="0">
                <a:solidFill>
                  <a:srgbClr val="B23A2F"/>
                </a:solidFill>
                <a:latin typeface="Courier New" pitchFamily="34" charset="0"/>
                <a:ea typeface="Courier New" pitchFamily="34" charset="-122"/>
                <a:cs typeface="Courier New" pitchFamily="34" charset="-120"/>
              </a:rPr>
              <a:t>CRÍTICO</a:t>
            </a:r>
            <a:endParaRPr lang="en-US" sz="680" dirty="0"/>
          </a:p>
        </p:txBody>
      </p:sp>
      <p:sp>
        <p:nvSpPr>
          <p:cNvPr id="21" name="Text 19"/>
          <p:cNvSpPr/>
          <p:nvPr/>
        </p:nvSpPr>
        <p:spPr>
          <a:xfrm>
            <a:off x="731520" y="27249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H-01 · Contraseñas en texto plano</a:t>
            </a:r>
            <a:endParaRPr lang="en-US" sz="1280" dirty="0"/>
          </a:p>
        </p:txBody>
      </p:sp>
      <p:sp>
        <p:nvSpPr>
          <p:cNvPr id="22" name="Text 20"/>
          <p:cNvSpPr/>
          <p:nvPr/>
        </p:nvSpPr>
        <p:spPr>
          <a:xfrm>
            <a:off x="731520" y="30540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auth.js:21 · auth.js:110</a:t>
            </a:r>
            <a:endParaRPr lang="en-US" sz="690" dirty="0"/>
          </a:p>
        </p:txBody>
      </p:sp>
      <p:sp>
        <p:nvSpPr>
          <p:cNvPr id="23" name="Text 21"/>
          <p:cNvSpPr/>
          <p:nvPr/>
        </p:nvSpPr>
        <p:spPr>
          <a:xfrm>
            <a:off x="731520" y="32918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Cualquiera con acceso a la base de datos obtiene credenciales legibles.</a:t>
            </a:r>
            <a:endParaRPr lang="en-US" sz="860" dirty="0"/>
          </a:p>
        </p:txBody>
      </p:sp>
      <p:sp>
        <p:nvSpPr>
          <p:cNvPr id="24" name="Shape 22"/>
          <p:cNvSpPr/>
          <p:nvPr/>
        </p:nvSpPr>
        <p:spPr>
          <a:xfrm>
            <a:off x="6053328" y="23957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5" name="Text 23"/>
          <p:cNvSpPr/>
          <p:nvPr/>
        </p:nvSpPr>
        <p:spPr>
          <a:xfrm>
            <a:off x="6217920" y="2514600"/>
            <a:ext cx="2011680" cy="182880"/>
          </a:xfrm>
          <a:prstGeom prst="rect">
            <a:avLst/>
          </a:prstGeom>
          <a:noFill/>
          <a:ln/>
        </p:spPr>
        <p:txBody>
          <a:bodyPr wrap="square" lIns="0" tIns="0" rIns="0" bIns="0" rtlCol="0" anchor="t"/>
          <a:lstStyle/>
          <a:p>
            <a:pPr algn="l" indent="0" marL="0">
              <a:buNone/>
            </a:pPr>
            <a:r>
              <a:rPr lang="en-US" sz="680" b="1" spc="110" kern="0" dirty="0">
                <a:solidFill>
                  <a:srgbClr val="8A5E0F"/>
                </a:solidFill>
                <a:latin typeface="Courier New" pitchFamily="34" charset="0"/>
                <a:ea typeface="Courier New" pitchFamily="34" charset="-122"/>
                <a:cs typeface="Courier New" pitchFamily="34" charset="-120"/>
              </a:rPr>
              <a:t>GRAVE</a:t>
            </a:r>
            <a:endParaRPr lang="en-US" sz="680" dirty="0"/>
          </a:p>
        </p:txBody>
      </p:sp>
      <p:sp>
        <p:nvSpPr>
          <p:cNvPr id="26" name="Text 24"/>
          <p:cNvSpPr/>
          <p:nvPr/>
        </p:nvSpPr>
        <p:spPr>
          <a:xfrm>
            <a:off x="6217920" y="27249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H-02 · JWT sin revocación ni secreto propio</a:t>
            </a:r>
            <a:endParaRPr lang="en-US" sz="1280" dirty="0"/>
          </a:p>
        </p:txBody>
      </p:sp>
      <p:sp>
        <p:nvSpPr>
          <p:cNvPr id="27" name="Text 25"/>
          <p:cNvSpPr/>
          <p:nvPr/>
        </p:nvSpPr>
        <p:spPr>
          <a:xfrm>
            <a:off x="6217920" y="30540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auth.js:8, :44–55 · docker-compose.yml:35</a:t>
            </a:r>
            <a:endParaRPr lang="en-US" sz="690" dirty="0"/>
          </a:p>
        </p:txBody>
      </p:sp>
      <p:sp>
        <p:nvSpPr>
          <p:cNvPr id="28" name="Text 26"/>
          <p:cNvSpPr/>
          <p:nvPr/>
        </p:nvSpPr>
        <p:spPr>
          <a:xfrm>
            <a:off x="6217920" y="32918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Un token robado sigue vivo después del logout (CP006).</a:t>
            </a:r>
            <a:endParaRPr lang="en-US" sz="860" dirty="0"/>
          </a:p>
        </p:txBody>
      </p:sp>
      <p:sp>
        <p:nvSpPr>
          <p:cNvPr id="29" name="Shape 27"/>
          <p:cNvSpPr/>
          <p:nvPr/>
        </p:nvSpPr>
        <p:spPr>
          <a:xfrm>
            <a:off x="566928" y="37673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0" name="Text 28"/>
          <p:cNvSpPr/>
          <p:nvPr/>
        </p:nvSpPr>
        <p:spPr>
          <a:xfrm>
            <a:off x="731520" y="3886200"/>
            <a:ext cx="2011680" cy="182880"/>
          </a:xfrm>
          <a:prstGeom prst="rect">
            <a:avLst/>
          </a:prstGeom>
          <a:noFill/>
          <a:ln/>
        </p:spPr>
        <p:txBody>
          <a:bodyPr wrap="square" lIns="0" tIns="0" rIns="0" bIns="0" rtlCol="0" anchor="t"/>
          <a:lstStyle/>
          <a:p>
            <a:pPr algn="l" indent="0" marL="0">
              <a:buNone/>
            </a:pPr>
            <a:r>
              <a:rPr lang="en-US" sz="680" b="1" spc="110" kern="0" dirty="0">
                <a:solidFill>
                  <a:srgbClr val="8A5E0F"/>
                </a:solidFill>
                <a:latin typeface="Courier New" pitchFamily="34" charset="0"/>
                <a:ea typeface="Courier New" pitchFamily="34" charset="-122"/>
                <a:cs typeface="Courier New" pitchFamily="34" charset="-120"/>
              </a:rPr>
              <a:t>GRAVE</a:t>
            </a:r>
            <a:endParaRPr lang="en-US" sz="680" dirty="0"/>
          </a:p>
        </p:txBody>
      </p:sp>
      <p:sp>
        <p:nvSpPr>
          <p:cNvPr id="31" name="Text 29"/>
          <p:cNvSpPr/>
          <p:nvPr/>
        </p:nvSpPr>
        <p:spPr>
          <a:xfrm>
            <a:off x="731520" y="40965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H-03 · RUT sin dígito verificador</a:t>
            </a:r>
            <a:endParaRPr lang="en-US" sz="1280" dirty="0"/>
          </a:p>
        </p:txBody>
      </p:sp>
      <p:sp>
        <p:nvSpPr>
          <p:cNvPr id="32" name="Text 30"/>
          <p:cNvSpPr/>
          <p:nvPr/>
        </p:nvSpPr>
        <p:spPr>
          <a:xfrm>
            <a:off x="731520" y="44256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validations/pacientes.js:8 · utils/rut.js:5–8</a:t>
            </a:r>
            <a:endParaRPr lang="en-US" sz="690" dirty="0"/>
          </a:p>
        </p:txBody>
      </p:sp>
      <p:sp>
        <p:nvSpPr>
          <p:cNvPr id="33" name="Text 31"/>
          <p:cNvSpPr/>
          <p:nvPr/>
        </p:nvSpPr>
        <p:spPr>
          <a:xfrm>
            <a:off x="731520" y="46634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Acepta 12.345.678-9; el dígito real es 5.</a:t>
            </a:r>
            <a:endParaRPr lang="en-US" sz="860" dirty="0"/>
          </a:p>
        </p:txBody>
      </p:sp>
      <p:sp>
        <p:nvSpPr>
          <p:cNvPr id="34" name="Shape 32"/>
          <p:cNvSpPr/>
          <p:nvPr/>
        </p:nvSpPr>
        <p:spPr>
          <a:xfrm>
            <a:off x="6053328" y="37673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5" name="Text 33"/>
          <p:cNvSpPr/>
          <p:nvPr/>
        </p:nvSpPr>
        <p:spPr>
          <a:xfrm>
            <a:off x="6217920" y="3886200"/>
            <a:ext cx="2011680" cy="182880"/>
          </a:xfrm>
          <a:prstGeom prst="rect">
            <a:avLst/>
          </a:prstGeom>
          <a:noFill/>
          <a:ln/>
        </p:spPr>
        <p:txBody>
          <a:bodyPr wrap="square" lIns="0" tIns="0" rIns="0" bIns="0" rtlCol="0" anchor="t"/>
          <a:lstStyle/>
          <a:p>
            <a:pPr algn="l" indent="0" marL="0">
              <a:buNone/>
            </a:pPr>
            <a:r>
              <a:rPr lang="en-US" sz="680" b="1" spc="110" kern="0" dirty="0">
                <a:solidFill>
                  <a:srgbClr val="8A5E0F"/>
                </a:solidFill>
                <a:latin typeface="Courier New" pitchFamily="34" charset="0"/>
                <a:ea typeface="Courier New" pitchFamily="34" charset="-122"/>
                <a:cs typeface="Courier New" pitchFamily="34" charset="-120"/>
              </a:rPr>
              <a:t>GRAVE · LATENTE</a:t>
            </a:r>
            <a:endParaRPr lang="en-US" sz="680" dirty="0"/>
          </a:p>
        </p:txBody>
      </p:sp>
      <p:sp>
        <p:nvSpPr>
          <p:cNvPr id="36" name="Text 34"/>
          <p:cNvSpPr/>
          <p:nvPr/>
        </p:nvSpPr>
        <p:spPr>
          <a:xfrm>
            <a:off x="6217920" y="40965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H-04 · Documentos servidos sin autenticación</a:t>
            </a:r>
            <a:endParaRPr lang="en-US" sz="1280" dirty="0"/>
          </a:p>
        </p:txBody>
      </p:sp>
      <p:sp>
        <p:nvSpPr>
          <p:cNvPr id="37" name="Text 35"/>
          <p:cNvSpPr/>
          <p:nvPr/>
        </p:nvSpPr>
        <p:spPr>
          <a:xfrm>
            <a:off x="6217920" y="44256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app.js:43</a:t>
            </a:r>
            <a:endParaRPr lang="en-US" sz="690" dirty="0"/>
          </a:p>
        </p:txBody>
      </p:sp>
      <p:sp>
        <p:nvSpPr>
          <p:cNvPr id="38" name="Text 36"/>
          <p:cNvSpPr/>
          <p:nvPr/>
        </p:nvSpPr>
        <p:spPr>
          <a:xfrm>
            <a:off x="6217920" y="46634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Cualquiera que conozca la URL accede a un documento clínico.</a:t>
            </a:r>
            <a:endParaRPr lang="en-US" sz="860" dirty="0"/>
          </a:p>
        </p:txBody>
      </p:sp>
      <p:sp>
        <p:nvSpPr>
          <p:cNvPr id="39" name="Shape 37"/>
          <p:cNvSpPr/>
          <p:nvPr/>
        </p:nvSpPr>
        <p:spPr>
          <a:xfrm>
            <a:off x="566928" y="5193792"/>
            <a:ext cx="3584448" cy="896112"/>
          </a:xfrm>
          <a:prstGeom prst="roundRect">
            <a:avLst>
              <a:gd name="adj" fmla="val 255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0" name="Text 38"/>
          <p:cNvSpPr/>
          <p:nvPr/>
        </p:nvSpPr>
        <p:spPr>
          <a:xfrm>
            <a:off x="704088" y="5285232"/>
            <a:ext cx="1645920" cy="182880"/>
          </a:xfrm>
          <a:prstGeom prst="rect">
            <a:avLst/>
          </a:prstGeom>
          <a:noFill/>
          <a:ln/>
        </p:spPr>
        <p:txBody>
          <a:bodyPr wrap="square" lIns="0" tIns="0" rIns="0" bIns="0" rtlCol="0" anchor="t"/>
          <a:lstStyle/>
          <a:p>
            <a:pPr algn="l" indent="0" marL="0">
              <a:buNone/>
            </a:pPr>
            <a:r>
              <a:rPr lang="en-US" sz="660" b="1" spc="100" kern="0" dirty="0">
                <a:solidFill>
                  <a:srgbClr val="5C6D67"/>
                </a:solidFill>
                <a:latin typeface="Courier New" pitchFamily="34" charset="0"/>
                <a:ea typeface="Courier New" pitchFamily="34" charset="-122"/>
                <a:cs typeface="Courier New" pitchFamily="34" charset="-120"/>
              </a:rPr>
              <a:t>MODERADO</a:t>
            </a:r>
            <a:endParaRPr lang="en-US" sz="660" dirty="0"/>
          </a:p>
        </p:txBody>
      </p:sp>
      <p:sp>
        <p:nvSpPr>
          <p:cNvPr id="41" name="Text 39"/>
          <p:cNvSpPr/>
          <p:nvPr/>
        </p:nvSpPr>
        <p:spPr>
          <a:xfrm>
            <a:off x="704088" y="5477256"/>
            <a:ext cx="3291840" cy="228600"/>
          </a:xfrm>
          <a:prstGeom prst="rect">
            <a:avLst/>
          </a:prstGeom>
          <a:noFill/>
          <a:ln/>
        </p:spPr>
        <p:txBody>
          <a:bodyPr wrap="square" lIns="0" tIns="0" rIns="0" bIns="0" rtlCol="0" anchor="t"/>
          <a:lstStyle/>
          <a:p>
            <a:pPr algn="l" indent="0" marL="0">
              <a:buNone/>
            </a:pPr>
            <a:r>
              <a:rPr lang="en-US" sz="1050" b="1" dirty="0">
                <a:solidFill>
                  <a:srgbClr val="1A2A25"/>
                </a:solidFill>
                <a:latin typeface="Cambria" pitchFamily="34" charset="0"/>
                <a:ea typeface="Cambria" pitchFamily="34" charset="-122"/>
                <a:cs typeface="Cambria" pitchFamily="34" charset="-120"/>
              </a:rPr>
              <a:t>H-05 · Delay de 5 s</a:t>
            </a:r>
            <a:endParaRPr lang="en-US" sz="1050" dirty="0"/>
          </a:p>
        </p:txBody>
      </p:sp>
      <p:sp>
        <p:nvSpPr>
          <p:cNvPr id="42" name="Text 40"/>
          <p:cNvSpPr/>
          <p:nvPr/>
        </p:nvSpPr>
        <p:spPr>
          <a:xfrm>
            <a:off x="704088" y="5733288"/>
            <a:ext cx="3291840" cy="274320"/>
          </a:xfrm>
          <a:prstGeom prst="rect">
            <a:avLst/>
          </a:prstGeom>
          <a:noFill/>
          <a:ln/>
        </p:spPr>
        <p:txBody>
          <a:bodyPr wrap="square" lIns="0" tIns="0" rIns="0" bIns="0" rtlCol="0" anchor="t"/>
          <a:lstStyle/>
          <a:p>
            <a:pPr algn="l" indent="0" marL="0">
              <a:lnSpc>
                <a:spcPts val="1000"/>
              </a:lnSpc>
              <a:buNone/>
            </a:pPr>
            <a:r>
              <a:rPr lang="en-US" sz="780" dirty="0">
                <a:solidFill>
                  <a:srgbClr val="5C6D67"/>
                </a:solidFill>
                <a:latin typeface="Calibri" pitchFamily="34" charset="0"/>
                <a:ea typeface="Calibri" pitchFamily="34" charset="-122"/>
                <a:cs typeface="Calibri" pitchFamily="34" charset="-120"/>
              </a:rPr>
              <a:t>middleware/delay.js:5 · aplicado a pacientes, exámenes y documentos.</a:t>
            </a:r>
            <a:endParaRPr lang="en-US" sz="780" dirty="0"/>
          </a:p>
        </p:txBody>
      </p:sp>
      <p:sp>
        <p:nvSpPr>
          <p:cNvPr id="43" name="Shape 41"/>
          <p:cNvSpPr/>
          <p:nvPr/>
        </p:nvSpPr>
        <p:spPr>
          <a:xfrm>
            <a:off x="4288536" y="5193792"/>
            <a:ext cx="3584448" cy="896112"/>
          </a:xfrm>
          <a:prstGeom prst="roundRect">
            <a:avLst>
              <a:gd name="adj" fmla="val 255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4" name="Text 42"/>
          <p:cNvSpPr/>
          <p:nvPr/>
        </p:nvSpPr>
        <p:spPr>
          <a:xfrm>
            <a:off x="4425696" y="5285232"/>
            <a:ext cx="1645920" cy="182880"/>
          </a:xfrm>
          <a:prstGeom prst="rect">
            <a:avLst/>
          </a:prstGeom>
          <a:noFill/>
          <a:ln/>
        </p:spPr>
        <p:txBody>
          <a:bodyPr wrap="square" lIns="0" tIns="0" rIns="0" bIns="0" rtlCol="0" anchor="t"/>
          <a:lstStyle/>
          <a:p>
            <a:pPr algn="l" indent="0" marL="0">
              <a:buNone/>
            </a:pPr>
            <a:r>
              <a:rPr lang="en-US" sz="660" b="1" spc="100" kern="0" dirty="0">
                <a:solidFill>
                  <a:srgbClr val="5C6D67"/>
                </a:solidFill>
                <a:latin typeface="Courier New" pitchFamily="34" charset="0"/>
                <a:ea typeface="Courier New" pitchFamily="34" charset="-122"/>
                <a:cs typeface="Courier New" pitchFamily="34" charset="-120"/>
              </a:rPr>
              <a:t>MODERADO</a:t>
            </a:r>
            <a:endParaRPr lang="en-US" sz="660" dirty="0"/>
          </a:p>
        </p:txBody>
      </p:sp>
      <p:sp>
        <p:nvSpPr>
          <p:cNvPr id="45" name="Text 43"/>
          <p:cNvSpPr/>
          <p:nvPr/>
        </p:nvSpPr>
        <p:spPr>
          <a:xfrm>
            <a:off x="4425696" y="5477256"/>
            <a:ext cx="3291840" cy="228600"/>
          </a:xfrm>
          <a:prstGeom prst="rect">
            <a:avLst/>
          </a:prstGeom>
          <a:noFill/>
          <a:ln/>
        </p:spPr>
        <p:txBody>
          <a:bodyPr wrap="square" lIns="0" tIns="0" rIns="0" bIns="0" rtlCol="0" anchor="t"/>
          <a:lstStyle/>
          <a:p>
            <a:pPr algn="l" indent="0" marL="0">
              <a:buNone/>
            </a:pPr>
            <a:r>
              <a:rPr lang="en-US" sz="1050" b="1" dirty="0">
                <a:solidFill>
                  <a:srgbClr val="1A2A25"/>
                </a:solidFill>
                <a:latin typeface="Cambria" pitchFamily="34" charset="0"/>
                <a:ea typeface="Cambria" pitchFamily="34" charset="-122"/>
                <a:cs typeface="Cambria" pitchFamily="34" charset="-120"/>
              </a:rPr>
              <a:t>H-06 · CORS abierto</a:t>
            </a:r>
            <a:endParaRPr lang="en-US" sz="1050" dirty="0"/>
          </a:p>
        </p:txBody>
      </p:sp>
      <p:sp>
        <p:nvSpPr>
          <p:cNvPr id="46" name="Text 44"/>
          <p:cNvSpPr/>
          <p:nvPr/>
        </p:nvSpPr>
        <p:spPr>
          <a:xfrm>
            <a:off x="4425696" y="5733288"/>
            <a:ext cx="3291840" cy="274320"/>
          </a:xfrm>
          <a:prstGeom prst="rect">
            <a:avLst/>
          </a:prstGeom>
          <a:noFill/>
          <a:ln/>
        </p:spPr>
        <p:txBody>
          <a:bodyPr wrap="square" lIns="0" tIns="0" rIns="0" bIns="0" rtlCol="0" anchor="t"/>
          <a:lstStyle/>
          <a:p>
            <a:pPr algn="l" indent="0" marL="0">
              <a:lnSpc>
                <a:spcPts val="1000"/>
              </a:lnSpc>
              <a:buNone/>
            </a:pPr>
            <a:r>
              <a:rPr lang="en-US" sz="780" dirty="0">
                <a:solidFill>
                  <a:srgbClr val="5C6D67"/>
                </a:solidFill>
                <a:latin typeface="Calibri" pitchFamily="34" charset="0"/>
                <a:ea typeface="Calibri" pitchFamily="34" charset="-122"/>
                <a:cs typeface="Calibri" pitchFamily="34" charset="-120"/>
              </a:rPr>
              <a:t>app.js:21 · cualquier origen puede llamar la API.</a:t>
            </a:r>
            <a:endParaRPr lang="en-US" sz="780" dirty="0"/>
          </a:p>
        </p:txBody>
      </p:sp>
      <p:sp>
        <p:nvSpPr>
          <p:cNvPr id="47" name="Shape 45"/>
          <p:cNvSpPr/>
          <p:nvPr/>
        </p:nvSpPr>
        <p:spPr>
          <a:xfrm>
            <a:off x="8010144" y="5193792"/>
            <a:ext cx="3584448" cy="896112"/>
          </a:xfrm>
          <a:prstGeom prst="roundRect">
            <a:avLst>
              <a:gd name="adj" fmla="val 255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8" name="Text 46"/>
          <p:cNvSpPr/>
          <p:nvPr/>
        </p:nvSpPr>
        <p:spPr>
          <a:xfrm>
            <a:off x="8147304" y="5285232"/>
            <a:ext cx="1645920" cy="182880"/>
          </a:xfrm>
          <a:prstGeom prst="rect">
            <a:avLst/>
          </a:prstGeom>
          <a:noFill/>
          <a:ln/>
        </p:spPr>
        <p:txBody>
          <a:bodyPr wrap="square" lIns="0" tIns="0" rIns="0" bIns="0" rtlCol="0" anchor="t"/>
          <a:lstStyle/>
          <a:p>
            <a:pPr algn="l" indent="0" marL="0">
              <a:buNone/>
            </a:pPr>
            <a:r>
              <a:rPr lang="en-US" sz="660" b="1" spc="100" kern="0" dirty="0">
                <a:solidFill>
                  <a:srgbClr val="5C6D67"/>
                </a:solidFill>
                <a:latin typeface="Courier New" pitchFamily="34" charset="0"/>
                <a:ea typeface="Courier New" pitchFamily="34" charset="-122"/>
                <a:cs typeface="Courier New" pitchFamily="34" charset="-120"/>
              </a:rPr>
              <a:t>LEVE</a:t>
            </a:r>
            <a:endParaRPr lang="en-US" sz="660" dirty="0"/>
          </a:p>
        </p:txBody>
      </p:sp>
      <p:sp>
        <p:nvSpPr>
          <p:cNvPr id="49" name="Text 47"/>
          <p:cNvSpPr/>
          <p:nvPr/>
        </p:nvSpPr>
        <p:spPr>
          <a:xfrm>
            <a:off x="8147304" y="5477256"/>
            <a:ext cx="3291840" cy="228600"/>
          </a:xfrm>
          <a:prstGeom prst="rect">
            <a:avLst/>
          </a:prstGeom>
          <a:noFill/>
          <a:ln/>
        </p:spPr>
        <p:txBody>
          <a:bodyPr wrap="square" lIns="0" tIns="0" rIns="0" bIns="0" rtlCol="0" anchor="t"/>
          <a:lstStyle/>
          <a:p>
            <a:pPr algn="l" indent="0" marL="0">
              <a:buNone/>
            </a:pPr>
            <a:r>
              <a:rPr lang="en-US" sz="1050" b="1" dirty="0">
                <a:solidFill>
                  <a:srgbClr val="1A2A25"/>
                </a:solidFill>
                <a:latin typeface="Cambria" pitchFamily="34" charset="0"/>
                <a:ea typeface="Cambria" pitchFamily="34" charset="-122"/>
                <a:cs typeface="Cambria" pitchFamily="34" charset="-120"/>
              </a:rPr>
              <a:t>H-07 · Errores internos expuestos</a:t>
            </a:r>
            <a:endParaRPr lang="en-US" sz="1050" dirty="0"/>
          </a:p>
        </p:txBody>
      </p:sp>
      <p:sp>
        <p:nvSpPr>
          <p:cNvPr id="50" name="Text 48"/>
          <p:cNvSpPr/>
          <p:nvPr/>
        </p:nvSpPr>
        <p:spPr>
          <a:xfrm>
            <a:off x="8147304" y="5733288"/>
            <a:ext cx="3291840" cy="274320"/>
          </a:xfrm>
          <a:prstGeom prst="rect">
            <a:avLst/>
          </a:prstGeom>
          <a:noFill/>
          <a:ln/>
        </p:spPr>
        <p:txBody>
          <a:bodyPr wrap="square" lIns="0" tIns="0" rIns="0" bIns="0" rtlCol="0" anchor="t"/>
          <a:lstStyle/>
          <a:p>
            <a:pPr algn="l" indent="0" marL="0">
              <a:lnSpc>
                <a:spcPts val="1000"/>
              </a:lnSpc>
              <a:buNone/>
            </a:pPr>
            <a:r>
              <a:rPr lang="en-US" sz="780" dirty="0">
                <a:solidFill>
                  <a:srgbClr val="5C6D67"/>
                </a:solidFill>
                <a:latin typeface="Calibri" pitchFamily="34" charset="0"/>
                <a:ea typeface="Calibri" pitchFamily="34" charset="-122"/>
                <a:cs typeface="Calibri" pitchFamily="34" charset="-120"/>
              </a:rPr>
              <a:t>auth.js:67 · documentos.js:115 · err.message en la respuesta.</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09 · ANÁLISIS ESTÁTICO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El Quality Gate está en verde; el cumplimiento legal no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10 / 17</a:t>
            </a:r>
            <a:endParaRPr lang="en-US" sz="730" dirty="0"/>
          </a:p>
        </p:txBody>
      </p:sp>
      <p:sp>
        <p:nvSpPr>
          <p:cNvPr id="7" name="Shape 5"/>
          <p:cNvSpPr/>
          <p:nvPr/>
        </p:nvSpPr>
        <p:spPr>
          <a:xfrm>
            <a:off x="566928" y="1664208"/>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694944" y="1801368"/>
            <a:ext cx="1572768" cy="347472"/>
          </a:xfrm>
          <a:prstGeom prst="rect">
            <a:avLst/>
          </a:prstGeom>
          <a:noFill/>
          <a:ln/>
        </p:spPr>
        <p:txBody>
          <a:bodyPr wrap="square" lIns="0" tIns="0" rIns="0" bIns="0" rtlCol="0" anchor="t"/>
          <a:lstStyle/>
          <a:p>
            <a:pPr algn="l" indent="0" marL="0">
              <a:buNone/>
            </a:pPr>
            <a:r>
              <a:rPr lang="en-US" sz="2200" b="1" dirty="0">
                <a:solidFill>
                  <a:srgbClr val="123B33"/>
                </a:solidFill>
                <a:latin typeface="Cambria" pitchFamily="34" charset="0"/>
                <a:ea typeface="Cambria" pitchFamily="34" charset="-122"/>
                <a:cs typeface="Cambria" pitchFamily="34" charset="-120"/>
              </a:rPr>
              <a:t>QG OK</a:t>
            </a:r>
            <a:endParaRPr lang="en-US" sz="2200" dirty="0"/>
          </a:p>
        </p:txBody>
      </p:sp>
      <p:sp>
        <p:nvSpPr>
          <p:cNvPr id="9" name="Text 7"/>
          <p:cNvSpPr/>
          <p:nvPr/>
        </p:nvSpPr>
        <p:spPr>
          <a:xfrm>
            <a:off x="694944" y="2231136"/>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Quality Gate</a:t>
            </a:r>
            <a:endParaRPr lang="en-US" sz="800" dirty="0"/>
          </a:p>
        </p:txBody>
      </p:sp>
      <p:sp>
        <p:nvSpPr>
          <p:cNvPr id="10" name="Shape 8"/>
          <p:cNvSpPr/>
          <p:nvPr/>
        </p:nvSpPr>
        <p:spPr>
          <a:xfrm>
            <a:off x="2523744" y="1664208"/>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1" name="Text 9"/>
          <p:cNvSpPr/>
          <p:nvPr/>
        </p:nvSpPr>
        <p:spPr>
          <a:xfrm>
            <a:off x="2651760" y="1801368"/>
            <a:ext cx="1572768" cy="347472"/>
          </a:xfrm>
          <a:prstGeom prst="rect">
            <a:avLst/>
          </a:prstGeom>
          <a:noFill/>
          <a:ln/>
        </p:spPr>
        <p:txBody>
          <a:bodyPr wrap="square" lIns="0" tIns="0" rIns="0" bIns="0" rtlCol="0" anchor="t"/>
          <a:lstStyle/>
          <a:p>
            <a:pPr algn="l" indent="0" marL="0">
              <a:buNone/>
            </a:pPr>
            <a:r>
              <a:rPr lang="en-US" sz="2200" b="1" dirty="0">
                <a:solidFill>
                  <a:srgbClr val="123B33"/>
                </a:solidFill>
                <a:latin typeface="Cambria" pitchFamily="34" charset="0"/>
                <a:ea typeface="Cambria" pitchFamily="34" charset="-122"/>
                <a:cs typeface="Cambria" pitchFamily="34" charset="-120"/>
              </a:rPr>
              <a:t>0</a:t>
            </a:r>
            <a:endParaRPr lang="en-US" sz="2200" dirty="0"/>
          </a:p>
        </p:txBody>
      </p:sp>
      <p:sp>
        <p:nvSpPr>
          <p:cNvPr id="12" name="Text 10"/>
          <p:cNvSpPr/>
          <p:nvPr/>
        </p:nvSpPr>
        <p:spPr>
          <a:xfrm>
            <a:off x="2651760" y="2231136"/>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vulnerabilidades</a:t>
            </a:r>
            <a:endParaRPr lang="en-US" sz="800" dirty="0"/>
          </a:p>
        </p:txBody>
      </p:sp>
      <p:sp>
        <p:nvSpPr>
          <p:cNvPr id="13" name="Shape 11"/>
          <p:cNvSpPr/>
          <p:nvPr/>
        </p:nvSpPr>
        <p:spPr>
          <a:xfrm>
            <a:off x="4480560" y="1664208"/>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4" name="Text 12"/>
          <p:cNvSpPr/>
          <p:nvPr/>
        </p:nvSpPr>
        <p:spPr>
          <a:xfrm>
            <a:off x="4608576" y="1801368"/>
            <a:ext cx="1572768" cy="347472"/>
          </a:xfrm>
          <a:prstGeom prst="rect">
            <a:avLst/>
          </a:prstGeom>
          <a:noFill/>
          <a:ln/>
        </p:spPr>
        <p:txBody>
          <a:bodyPr wrap="square" lIns="0" tIns="0" rIns="0" bIns="0" rtlCol="0" anchor="t"/>
          <a:lstStyle/>
          <a:p>
            <a:pPr algn="l" indent="0" marL="0">
              <a:buNone/>
            </a:pPr>
            <a:r>
              <a:rPr lang="en-US" sz="2200" b="1" dirty="0">
                <a:solidFill>
                  <a:srgbClr val="1A2A25"/>
                </a:solidFill>
                <a:latin typeface="Cambria" pitchFamily="34" charset="0"/>
                <a:ea typeface="Cambria" pitchFamily="34" charset="-122"/>
                <a:cs typeface="Cambria" pitchFamily="34" charset="-120"/>
              </a:rPr>
              <a:t>73</a:t>
            </a:r>
            <a:endParaRPr lang="en-US" sz="2200" dirty="0"/>
          </a:p>
        </p:txBody>
      </p:sp>
      <p:sp>
        <p:nvSpPr>
          <p:cNvPr id="15" name="Text 13"/>
          <p:cNvSpPr/>
          <p:nvPr/>
        </p:nvSpPr>
        <p:spPr>
          <a:xfrm>
            <a:off x="4608576" y="2231136"/>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issues</a:t>
            </a:r>
            <a:endParaRPr lang="en-US" sz="800" dirty="0"/>
          </a:p>
        </p:txBody>
      </p:sp>
      <p:sp>
        <p:nvSpPr>
          <p:cNvPr id="16" name="Shape 14"/>
          <p:cNvSpPr/>
          <p:nvPr/>
        </p:nvSpPr>
        <p:spPr>
          <a:xfrm>
            <a:off x="566928" y="2688336"/>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7" name="Text 15"/>
          <p:cNvSpPr/>
          <p:nvPr/>
        </p:nvSpPr>
        <p:spPr>
          <a:xfrm>
            <a:off x="694944" y="2825496"/>
            <a:ext cx="1572768" cy="347472"/>
          </a:xfrm>
          <a:prstGeom prst="rect">
            <a:avLst/>
          </a:prstGeom>
          <a:noFill/>
          <a:ln/>
        </p:spPr>
        <p:txBody>
          <a:bodyPr wrap="square" lIns="0" tIns="0" rIns="0" bIns="0" rtlCol="0" anchor="t"/>
          <a:lstStyle/>
          <a:p>
            <a:pPr algn="l" indent="0" marL="0">
              <a:buNone/>
            </a:pPr>
            <a:r>
              <a:rPr lang="en-US" sz="2200" b="1" dirty="0">
                <a:solidFill>
                  <a:srgbClr val="B23A2F"/>
                </a:solidFill>
                <a:latin typeface="Cambria" pitchFamily="34" charset="0"/>
                <a:ea typeface="Cambria" pitchFamily="34" charset="-122"/>
                <a:cs typeface="Cambria" pitchFamily="34" charset="-120"/>
              </a:rPr>
              <a:t>8</a:t>
            </a:r>
            <a:endParaRPr lang="en-US" sz="2200" dirty="0"/>
          </a:p>
        </p:txBody>
      </p:sp>
      <p:sp>
        <p:nvSpPr>
          <p:cNvPr id="18" name="Text 16"/>
          <p:cNvSpPr/>
          <p:nvPr/>
        </p:nvSpPr>
        <p:spPr>
          <a:xfrm>
            <a:off x="694944" y="3255264"/>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críticos</a:t>
            </a:r>
            <a:endParaRPr lang="en-US" sz="800" dirty="0"/>
          </a:p>
        </p:txBody>
      </p:sp>
      <p:sp>
        <p:nvSpPr>
          <p:cNvPr id="19" name="Shape 17"/>
          <p:cNvSpPr/>
          <p:nvPr/>
        </p:nvSpPr>
        <p:spPr>
          <a:xfrm>
            <a:off x="2523744" y="2688336"/>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2651760" y="2825496"/>
            <a:ext cx="1572768" cy="347472"/>
          </a:xfrm>
          <a:prstGeom prst="rect">
            <a:avLst/>
          </a:prstGeom>
          <a:noFill/>
          <a:ln/>
        </p:spPr>
        <p:txBody>
          <a:bodyPr wrap="square" lIns="0" tIns="0" rIns="0" bIns="0" rtlCol="0" anchor="t"/>
          <a:lstStyle/>
          <a:p>
            <a:pPr algn="l" indent="0" marL="0">
              <a:buNone/>
            </a:pPr>
            <a:r>
              <a:rPr lang="en-US" sz="2200" b="1" dirty="0">
                <a:solidFill>
                  <a:srgbClr val="8A5E0F"/>
                </a:solidFill>
                <a:latin typeface="Cambria" pitchFamily="34" charset="0"/>
                <a:ea typeface="Cambria" pitchFamily="34" charset="-122"/>
                <a:cs typeface="Cambria" pitchFamily="34" charset="-120"/>
              </a:rPr>
              <a:t>0,0%</a:t>
            </a:r>
            <a:endParaRPr lang="en-US" sz="2200" dirty="0"/>
          </a:p>
        </p:txBody>
      </p:sp>
      <p:sp>
        <p:nvSpPr>
          <p:cNvPr id="21" name="Text 19"/>
          <p:cNvSpPr/>
          <p:nvPr/>
        </p:nvSpPr>
        <p:spPr>
          <a:xfrm>
            <a:off x="2651760" y="3255264"/>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cobertura</a:t>
            </a:r>
            <a:endParaRPr lang="en-US" sz="800" dirty="0"/>
          </a:p>
        </p:txBody>
      </p:sp>
      <p:sp>
        <p:nvSpPr>
          <p:cNvPr id="22" name="Shape 20"/>
          <p:cNvSpPr/>
          <p:nvPr/>
        </p:nvSpPr>
        <p:spPr>
          <a:xfrm>
            <a:off x="4480560" y="2688336"/>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3" name="Text 21"/>
          <p:cNvSpPr/>
          <p:nvPr/>
        </p:nvSpPr>
        <p:spPr>
          <a:xfrm>
            <a:off x="4608576" y="2825496"/>
            <a:ext cx="1572768" cy="347472"/>
          </a:xfrm>
          <a:prstGeom prst="rect">
            <a:avLst/>
          </a:prstGeom>
          <a:noFill/>
          <a:ln/>
        </p:spPr>
        <p:txBody>
          <a:bodyPr wrap="square" lIns="0" tIns="0" rIns="0" bIns="0" rtlCol="0" anchor="t"/>
          <a:lstStyle/>
          <a:p>
            <a:pPr algn="l" indent="0" marL="0">
              <a:buNone/>
            </a:pPr>
            <a:r>
              <a:rPr lang="en-US" sz="2200" b="1" dirty="0">
                <a:solidFill>
                  <a:srgbClr val="1A2A25"/>
                </a:solidFill>
                <a:latin typeface="Cambria" pitchFamily="34" charset="0"/>
                <a:ea typeface="Cambria" pitchFamily="34" charset="-122"/>
                <a:cs typeface="Cambria" pitchFamily="34" charset="-120"/>
              </a:rPr>
              <a:t>465</a:t>
            </a:r>
            <a:endParaRPr lang="en-US" sz="2200" dirty="0"/>
          </a:p>
        </p:txBody>
      </p:sp>
      <p:sp>
        <p:nvSpPr>
          <p:cNvPr id="24" name="Text 22"/>
          <p:cNvSpPr/>
          <p:nvPr/>
        </p:nvSpPr>
        <p:spPr>
          <a:xfrm>
            <a:off x="4608576" y="3255264"/>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min de deuda</a:t>
            </a:r>
            <a:endParaRPr lang="en-US" sz="800" dirty="0"/>
          </a:p>
        </p:txBody>
      </p:sp>
      <p:sp>
        <p:nvSpPr>
          <p:cNvPr id="25" name="Shape 23"/>
          <p:cNvSpPr/>
          <p:nvPr/>
        </p:nvSpPr>
        <p:spPr>
          <a:xfrm>
            <a:off x="6400800" y="1627632"/>
            <a:ext cx="5221224" cy="2331720"/>
          </a:xfrm>
          <a:prstGeom prst="roundRect">
            <a:avLst>
              <a:gd name="adj" fmla="val 98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6" name="Text 24"/>
          <p:cNvSpPr/>
          <p:nvPr/>
        </p:nvSpPr>
        <p:spPr>
          <a:xfrm>
            <a:off x="6547104" y="1737360"/>
            <a:ext cx="3108960" cy="182880"/>
          </a:xfrm>
          <a:prstGeom prst="rect">
            <a:avLst/>
          </a:prstGeom>
          <a:noFill/>
          <a:ln/>
        </p:spPr>
        <p:txBody>
          <a:bodyPr wrap="square" lIns="0" tIns="0" rIns="0" bIns="0" rtlCol="0" anchor="t"/>
          <a:lstStyle/>
          <a:p>
            <a:pPr algn="l" indent="0" marL="0">
              <a:buNone/>
            </a:pPr>
            <a:r>
              <a:rPr lang="en-US" sz="710" b="1" spc="120" kern="0" dirty="0">
                <a:solidFill>
                  <a:srgbClr val="5C6D67"/>
                </a:solidFill>
                <a:latin typeface="Courier New" pitchFamily="34" charset="0"/>
                <a:ea typeface="Courier New" pitchFamily="34" charset="-122"/>
                <a:cs typeface="Courier New" pitchFamily="34" charset="-120"/>
              </a:rPr>
              <a:t>ISSUES POR SEVERIDAD</a:t>
            </a:r>
            <a:endParaRPr lang="en-US" sz="710" dirty="0"/>
          </a:p>
        </p:txBody>
      </p:sp>
      <p:graphicFrame>
        <p:nvGraphicFramePr>
          <p:cNvPr id="27" name="Chart 0" descr=""/>
          <p:cNvGraphicFramePr/>
          <p:nvPr/>
        </p:nvGraphicFramePr>
        <p:xfrm>
          <a:off x="6510528" y="1938528"/>
          <a:ext cx="4983480" cy="1874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4133088"/>
          <a:ext cx="11055096" cy="914400"/>
        </p:xfrm>
        <a:graphic>
          <a:graphicData uri="http://schemas.openxmlformats.org/drawingml/2006/table">
            <a:tbl>
              <a:tblPr/>
              <a:tblGrid>
                <a:gridCol w="1417320"/>
                <a:gridCol w="2743200"/>
                <a:gridCol w="6894576"/>
              </a:tblGrid>
              <a:tr h="356616">
                <a:tc>
                  <a:txBody>
                    <a:bodyPr/>
                    <a:lstStyle/>
                    <a:p>
                      <a:pPr indent="0" marL="0">
                        <a:buNone/>
                      </a:pPr>
                      <a:r>
                        <a:rPr lang="en-US" sz="800" b="1" dirty="0">
                          <a:solidFill>
                            <a:srgbClr val="FFFFFF"/>
                          </a:solidFill>
                          <a:latin typeface="Courier New" pitchFamily="34" charset="0"/>
                          <a:ea typeface="Courier New" pitchFamily="34" charset="-122"/>
                          <a:cs typeface="Courier New" pitchFamily="34" charset="-120"/>
                        </a:rPr>
                        <a:t>Hallazgo</a:t>
                      </a:r>
                      <a:endParaRPr lang="en-US" sz="80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Norma</a:t>
                      </a:r>
                      <a:endParaRPr lang="en-US" sz="80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Por qué es un incumplimiento</a:t>
                      </a:r>
                      <a:endParaRPr lang="en-US" sz="80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H-01 / H-02</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OWASP A02/A07 · Ley 19.628</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Credenciales y sesiones sin protección suficiente para datos sensibles de salud.</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H-03</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Ley 20.584</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La ficha clínica se identifica con un RUT que puede ser inválido.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H-04</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OWASP A01 · Ley 19.628</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Documentos clínicos accesibles sin control de acceso.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0,0% cobertura</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ISO/IEC 25010</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Mantenibilidad y confiabilidad no verificadas por pruebas automatizadas.</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29" name="Text 25"/>
          <p:cNvSpPr/>
          <p:nvPr/>
        </p:nvSpPr>
        <p:spPr>
          <a:xfrm>
            <a:off x="566928" y="5989320"/>
            <a:ext cx="10972800" cy="292608"/>
          </a:xfrm>
          <a:prstGeom prst="rect">
            <a:avLst/>
          </a:prstGeom>
          <a:noFill/>
          <a:ln/>
        </p:spPr>
        <p:txBody>
          <a:bodyPr wrap="square" lIns="0" tIns="0" rIns="0" bIns="0" rtlCol="0" anchor="t"/>
          <a:lstStyle/>
          <a:p>
            <a:pPr algn="l" indent="0" marL="0">
              <a:buNone/>
            </a:pPr>
            <a:r>
              <a:rPr lang="en-US" sz="1050" b="1" i="1" dirty="0">
                <a:solidFill>
                  <a:srgbClr val="8A5E0F"/>
                </a:solidFill>
                <a:latin typeface="Calibri" pitchFamily="34" charset="0"/>
                <a:ea typeface="Calibri" pitchFamily="34" charset="-122"/>
                <a:cs typeface="Calibri" pitchFamily="34" charset="-120"/>
              </a:rPr>
              <a:t>SonarQube mide patrones; la ley exige deberes. 0 vulnerabilidades automáticas no significa 0 riesgos reales.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10 · REFLEXIONES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Lo que funcionó, lo que falló y lo que decidimos no ocultar</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11 / 17</a:t>
            </a:r>
            <a:endParaRPr lang="en-US" sz="730" dirty="0"/>
          </a:p>
        </p:txBody>
      </p:sp>
      <p:sp>
        <p:nvSpPr>
          <p:cNvPr id="7" name="Shape 5"/>
          <p:cNvSpPr/>
          <p:nvPr/>
        </p:nvSpPr>
        <p:spPr>
          <a:xfrm>
            <a:off x="566928" y="1664208"/>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768096" y="1810512"/>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Calidad</a:t>
            </a:r>
            <a:endParaRPr lang="en-US" sz="1500" dirty="0"/>
          </a:p>
        </p:txBody>
      </p:sp>
      <p:sp>
        <p:nvSpPr>
          <p:cNvPr id="9" name="Text 7"/>
          <p:cNvSpPr/>
          <p:nvPr/>
        </p:nvSpPr>
        <p:spPr>
          <a:xfrm>
            <a:off x="768096" y="2194560"/>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10" name="Text 8"/>
          <p:cNvSpPr/>
          <p:nvPr/>
        </p:nvSpPr>
        <p:spPr>
          <a:xfrm>
            <a:off x="1280160" y="2176272"/>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RBAC, validaciones y auditoría responden.</a:t>
            </a:r>
            <a:endParaRPr lang="en-US" sz="930" dirty="0"/>
          </a:p>
        </p:txBody>
      </p:sp>
      <p:sp>
        <p:nvSpPr>
          <p:cNvPr id="11" name="Text 9"/>
          <p:cNvSpPr/>
          <p:nvPr/>
        </p:nvSpPr>
        <p:spPr>
          <a:xfrm>
            <a:off x="768096" y="2596896"/>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12" name="Text 10"/>
          <p:cNvSpPr/>
          <p:nvPr/>
        </p:nvSpPr>
        <p:spPr>
          <a:xfrm>
            <a:off x="1371600" y="2578608"/>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73 issues y 14,5% de duplicación.</a:t>
            </a:r>
            <a:endParaRPr lang="en-US" sz="930" dirty="0"/>
          </a:p>
        </p:txBody>
      </p:sp>
      <p:sp>
        <p:nvSpPr>
          <p:cNvPr id="13" name="Text 11"/>
          <p:cNvSpPr/>
          <p:nvPr/>
        </p:nvSpPr>
        <p:spPr>
          <a:xfrm>
            <a:off x="768096" y="2990088"/>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CP001–CP008 · SonarQube</a:t>
            </a:r>
            <a:endParaRPr lang="en-US" sz="680" dirty="0"/>
          </a:p>
        </p:txBody>
      </p:sp>
      <p:sp>
        <p:nvSpPr>
          <p:cNvPr id="14" name="Shape 12"/>
          <p:cNvSpPr/>
          <p:nvPr/>
        </p:nvSpPr>
        <p:spPr>
          <a:xfrm>
            <a:off x="6053328" y="1664208"/>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5" name="Text 13"/>
          <p:cNvSpPr/>
          <p:nvPr/>
        </p:nvSpPr>
        <p:spPr>
          <a:xfrm>
            <a:off x="6254496" y="1810512"/>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Seguridad</a:t>
            </a:r>
            <a:endParaRPr lang="en-US" sz="1500" dirty="0"/>
          </a:p>
        </p:txBody>
      </p:sp>
      <p:sp>
        <p:nvSpPr>
          <p:cNvPr id="16" name="Text 14"/>
          <p:cNvSpPr/>
          <p:nvPr/>
        </p:nvSpPr>
        <p:spPr>
          <a:xfrm>
            <a:off x="6254496" y="2194560"/>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17" name="Text 15"/>
          <p:cNvSpPr/>
          <p:nvPr/>
        </p:nvSpPr>
        <p:spPr>
          <a:xfrm>
            <a:off x="6766560" y="2176272"/>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JWT y roles bloquean accesos indebidos.</a:t>
            </a:r>
            <a:endParaRPr lang="en-US" sz="930" dirty="0"/>
          </a:p>
        </p:txBody>
      </p:sp>
      <p:sp>
        <p:nvSpPr>
          <p:cNvPr id="18" name="Text 16"/>
          <p:cNvSpPr/>
          <p:nvPr/>
        </p:nvSpPr>
        <p:spPr>
          <a:xfrm>
            <a:off x="6254496" y="2596896"/>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19" name="Text 17"/>
          <p:cNvSpPr/>
          <p:nvPr/>
        </p:nvSpPr>
        <p:spPr>
          <a:xfrm>
            <a:off x="6858000" y="2578608"/>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H-01 y CP006: credenciales y sesión.</a:t>
            </a:r>
            <a:endParaRPr lang="en-US" sz="930" dirty="0"/>
          </a:p>
        </p:txBody>
      </p:sp>
      <p:sp>
        <p:nvSpPr>
          <p:cNvPr id="20" name="Text 18"/>
          <p:cNvSpPr/>
          <p:nvPr/>
        </p:nvSpPr>
        <p:spPr>
          <a:xfrm>
            <a:off x="6254496" y="2990088"/>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CP005–CP007</a:t>
            </a:r>
            <a:endParaRPr lang="en-US" sz="680" dirty="0"/>
          </a:p>
        </p:txBody>
      </p:sp>
      <p:sp>
        <p:nvSpPr>
          <p:cNvPr id="21" name="Shape 19"/>
          <p:cNvSpPr/>
          <p:nvPr/>
        </p:nvSpPr>
        <p:spPr>
          <a:xfrm>
            <a:off x="566928" y="3456432"/>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2" name="Text 20"/>
          <p:cNvSpPr/>
          <p:nvPr/>
        </p:nvSpPr>
        <p:spPr>
          <a:xfrm>
            <a:off x="768096" y="3602736"/>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Normativo</a:t>
            </a:r>
            <a:endParaRPr lang="en-US" sz="1500" dirty="0"/>
          </a:p>
        </p:txBody>
      </p:sp>
      <p:sp>
        <p:nvSpPr>
          <p:cNvPr id="23" name="Text 21"/>
          <p:cNvSpPr/>
          <p:nvPr/>
        </p:nvSpPr>
        <p:spPr>
          <a:xfrm>
            <a:off x="768096" y="3986784"/>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24" name="Text 22"/>
          <p:cNvSpPr/>
          <p:nvPr/>
        </p:nvSpPr>
        <p:spPr>
          <a:xfrm>
            <a:off x="1280160" y="3968496"/>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Auditoría y trazabilidad de acciones.</a:t>
            </a:r>
            <a:endParaRPr lang="en-US" sz="930" dirty="0"/>
          </a:p>
        </p:txBody>
      </p:sp>
      <p:sp>
        <p:nvSpPr>
          <p:cNvPr id="25" name="Text 23"/>
          <p:cNvSpPr/>
          <p:nvPr/>
        </p:nvSpPr>
        <p:spPr>
          <a:xfrm>
            <a:off x="768096" y="4389120"/>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26" name="Text 24"/>
          <p:cNvSpPr/>
          <p:nvPr/>
        </p:nvSpPr>
        <p:spPr>
          <a:xfrm>
            <a:off x="1371600" y="4370832"/>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Ley 19.628 incumplida en H-01/H-02/H-04.</a:t>
            </a:r>
            <a:endParaRPr lang="en-US" sz="930" dirty="0"/>
          </a:p>
        </p:txBody>
      </p:sp>
      <p:sp>
        <p:nvSpPr>
          <p:cNvPr id="27" name="Text 25"/>
          <p:cNvSpPr/>
          <p:nvPr/>
        </p:nvSpPr>
        <p:spPr>
          <a:xfrm>
            <a:off x="768096" y="4782312"/>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Ley 19.628 · Ley 20.584</a:t>
            </a:r>
            <a:endParaRPr lang="en-US" sz="680" dirty="0"/>
          </a:p>
        </p:txBody>
      </p:sp>
      <p:sp>
        <p:nvSpPr>
          <p:cNvPr id="28" name="Shape 26"/>
          <p:cNvSpPr/>
          <p:nvPr/>
        </p:nvSpPr>
        <p:spPr>
          <a:xfrm>
            <a:off x="6053328" y="3456432"/>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9" name="Text 27"/>
          <p:cNvSpPr/>
          <p:nvPr/>
        </p:nvSpPr>
        <p:spPr>
          <a:xfrm>
            <a:off x="6254496" y="3602736"/>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Ético</a:t>
            </a:r>
            <a:endParaRPr lang="en-US" sz="1500" dirty="0"/>
          </a:p>
        </p:txBody>
      </p:sp>
      <p:sp>
        <p:nvSpPr>
          <p:cNvPr id="30" name="Text 28"/>
          <p:cNvSpPr/>
          <p:nvPr/>
        </p:nvSpPr>
        <p:spPr>
          <a:xfrm>
            <a:off x="6254496" y="3986784"/>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31" name="Text 29"/>
          <p:cNvSpPr/>
          <p:nvPr/>
        </p:nvSpPr>
        <p:spPr>
          <a:xfrm>
            <a:off x="6766560" y="3968496"/>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El Fail se reporta con evidencia.</a:t>
            </a:r>
            <a:endParaRPr lang="en-US" sz="930" dirty="0"/>
          </a:p>
        </p:txBody>
      </p:sp>
      <p:sp>
        <p:nvSpPr>
          <p:cNvPr id="32" name="Text 30"/>
          <p:cNvSpPr/>
          <p:nvPr/>
        </p:nvSpPr>
        <p:spPr>
          <a:xfrm>
            <a:off x="6254496" y="4389120"/>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33" name="Text 31"/>
          <p:cNvSpPr/>
          <p:nvPr/>
        </p:nvSpPr>
        <p:spPr>
          <a:xfrm>
            <a:off x="6858000" y="4370832"/>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Falta DAST y carga; se declara, no se omite.</a:t>
            </a:r>
            <a:endParaRPr lang="en-US" sz="930" dirty="0"/>
          </a:p>
        </p:txBody>
      </p:sp>
      <p:sp>
        <p:nvSpPr>
          <p:cNvPr id="34" name="Text 32"/>
          <p:cNvSpPr/>
          <p:nvPr/>
        </p:nvSpPr>
        <p:spPr>
          <a:xfrm>
            <a:off x="6254496" y="4782312"/>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Bitácora + 28 evidencias</a:t>
            </a:r>
            <a:endParaRPr lang="en-US" sz="680" dirty="0"/>
          </a:p>
        </p:txBody>
      </p:sp>
      <p:sp>
        <p:nvSpPr>
          <p:cNvPr id="35" name="Shape 33"/>
          <p:cNvSpPr/>
          <p:nvPr/>
        </p:nvSpPr>
        <p:spPr>
          <a:xfrm>
            <a:off x="566928" y="5321808"/>
            <a:ext cx="11055096" cy="749808"/>
          </a:xfrm>
          <a:prstGeom prst="roundRect">
            <a:avLst>
              <a:gd name="adj" fmla="val 3049"/>
            </a:avLst>
          </a:prstGeom>
          <a:solidFill>
            <a:srgbClr val="123B33"/>
          </a:solidFill>
          <a:ln w="7620">
            <a:solidFill>
              <a:srgbClr val="123B33"/>
            </a:solidFill>
            <a:prstDash val="solid"/>
          </a:ln>
          <a:effectLst>
            <a:outerShdw sx="100000" sy="100000" kx="0" ky="0" algn="bl" rotWithShape="0" blurRad="88900" dist="25400" dir="5400000">
              <a:srgbClr val="000000">
                <a:alpha val="5000"/>
              </a:srgbClr>
            </a:outerShdw>
          </a:effectLst>
        </p:spPr>
      </p:sp>
      <p:sp>
        <p:nvSpPr>
          <p:cNvPr id="36" name="Text 34"/>
          <p:cNvSpPr/>
          <p:nvPr/>
        </p:nvSpPr>
        <p:spPr>
          <a:xfrm>
            <a:off x="822960" y="5513832"/>
            <a:ext cx="10515600" cy="365760"/>
          </a:xfrm>
          <a:prstGeom prst="rect">
            <a:avLst/>
          </a:prstGeom>
          <a:noFill/>
          <a:ln/>
        </p:spPr>
        <p:txBody>
          <a:bodyPr wrap="square" lIns="0" tIns="0" rIns="0" bIns="0" rtlCol="0" anchor="t"/>
          <a:lstStyle/>
          <a:p>
            <a:pPr algn="l" indent="0" marL="0">
              <a:buNone/>
            </a:pPr>
            <a:r>
              <a:rPr lang="en-US" sz="1500" i="1" dirty="0">
                <a:solidFill>
                  <a:srgbClr val="FFFFFF"/>
                </a:solidFill>
                <a:latin typeface="Cambria" pitchFamily="34" charset="0"/>
                <a:ea typeface="Cambria" pitchFamily="34" charset="-122"/>
                <a:cs typeface="Cambria" pitchFamily="34" charset="-120"/>
              </a:rPr>
              <a:t>La utilidad de una auditoría se mide por lo que revela, no por lo que confirma.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11 · VEREDICTO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GO CONDICIONADO: cuatro correcciones antes de producción</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12 / 17</a:t>
            </a:r>
            <a:endParaRPr lang="en-US" sz="730" dirty="0"/>
          </a:p>
        </p:txBody>
      </p:sp>
      <p:sp>
        <p:nvSpPr>
          <p:cNvPr id="7" name="Shape 5"/>
          <p:cNvSpPr/>
          <p:nvPr/>
        </p:nvSpPr>
        <p:spPr>
          <a:xfrm>
            <a:off x="566928" y="1700784"/>
            <a:ext cx="4462272" cy="4315968"/>
          </a:xfrm>
          <a:prstGeom prst="roundRect">
            <a:avLst>
              <a:gd name="adj" fmla="val 530"/>
            </a:avLst>
          </a:prstGeom>
          <a:solidFill>
            <a:srgbClr val="123B33"/>
          </a:solidFill>
          <a:ln w="7620">
            <a:solidFill>
              <a:srgbClr val="123B33"/>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841248" y="1920240"/>
            <a:ext cx="3657600" cy="201168"/>
          </a:xfrm>
          <a:prstGeom prst="rect">
            <a:avLst/>
          </a:prstGeom>
          <a:noFill/>
          <a:ln/>
        </p:spPr>
        <p:txBody>
          <a:bodyPr wrap="square" lIns="0" tIns="0" rIns="0" bIns="0" rtlCol="0" anchor="t"/>
          <a:lstStyle/>
          <a:p>
            <a:pPr algn="l" indent="0" marL="0">
              <a:buNone/>
            </a:pPr>
            <a:r>
              <a:rPr lang="en-US" sz="760" b="1" spc="150" kern="0" dirty="0">
                <a:solidFill>
                  <a:srgbClr val="9FD3C7"/>
                </a:solidFill>
                <a:latin typeface="Courier New" pitchFamily="34" charset="0"/>
                <a:ea typeface="Courier New" pitchFamily="34" charset="-122"/>
                <a:cs typeface="Courier New" pitchFamily="34" charset="-120"/>
              </a:rPr>
              <a:t>VEREDICTO</a:t>
            </a:r>
            <a:endParaRPr lang="en-US" sz="760" dirty="0"/>
          </a:p>
        </p:txBody>
      </p:sp>
      <p:sp>
        <p:nvSpPr>
          <p:cNvPr id="9" name="Text 7"/>
          <p:cNvSpPr/>
          <p:nvPr/>
        </p:nvSpPr>
        <p:spPr>
          <a:xfrm>
            <a:off x="841248" y="2212848"/>
            <a:ext cx="3886200" cy="868680"/>
          </a:xfrm>
          <a:prstGeom prst="rect">
            <a:avLst/>
          </a:prstGeom>
          <a:noFill/>
          <a:ln/>
        </p:spPr>
        <p:txBody>
          <a:bodyPr wrap="square" lIns="0" tIns="0" rIns="0" bIns="0" rtlCol="0" anchor="t"/>
          <a:lstStyle/>
          <a:p>
            <a:pPr algn="l" indent="0" marL="0">
              <a:lnSpc>
                <a:spcPts val="3300"/>
              </a:lnSpc>
              <a:buNone/>
            </a:pPr>
            <a:r>
              <a:rPr lang="en-US" sz="2800" b="1" dirty="0">
                <a:solidFill>
                  <a:srgbClr val="FFFFFF"/>
                </a:solidFill>
                <a:latin typeface="Cambria" pitchFamily="34" charset="0"/>
                <a:ea typeface="Cambria" pitchFamily="34" charset="-122"/>
                <a:cs typeface="Cambria" pitchFamily="34" charset="-120"/>
              </a:rPr>
              <a:t>GO</a:t>
            </a:r>
            <a:endParaRPr lang="en-US" sz="2800" dirty="0"/>
          </a:p>
          <a:p>
            <a:pPr algn="l" indent="0" marL="0">
              <a:lnSpc>
                <a:spcPts val="3300"/>
              </a:lnSpc>
              <a:buNone/>
            </a:pPr>
            <a:r>
              <a:rPr lang="en-US" sz="2800" b="1" dirty="0">
                <a:solidFill>
                  <a:srgbClr val="FFFFFF"/>
                </a:solidFill>
                <a:latin typeface="Cambria" pitchFamily="34" charset="0"/>
                <a:ea typeface="Cambria" pitchFamily="34" charset="-122"/>
                <a:cs typeface="Cambria" pitchFamily="34" charset="-120"/>
              </a:rPr>
              <a:t>CONDICIONADO</a:t>
            </a:r>
            <a:endParaRPr lang="en-US" sz="2800" dirty="0"/>
          </a:p>
        </p:txBody>
      </p:sp>
      <p:sp>
        <p:nvSpPr>
          <p:cNvPr id="10" name="Text 8"/>
          <p:cNvSpPr/>
          <p:nvPr/>
        </p:nvSpPr>
        <p:spPr>
          <a:xfrm>
            <a:off x="841248" y="3246120"/>
            <a:ext cx="3794760" cy="502920"/>
          </a:xfrm>
          <a:prstGeom prst="rect">
            <a:avLst/>
          </a:prstGeom>
          <a:noFill/>
          <a:ln/>
        </p:spPr>
        <p:txBody>
          <a:bodyPr wrap="square" lIns="0" tIns="0" rIns="0" bIns="0" rtlCol="0" anchor="t"/>
          <a:lstStyle/>
          <a:p>
            <a:pPr algn="l" indent="0" marL="0">
              <a:lnSpc>
                <a:spcPts val="1500"/>
              </a:lnSpc>
              <a:buNone/>
            </a:pPr>
            <a:r>
              <a:rPr lang="en-US" sz="1100" dirty="0">
                <a:solidFill>
                  <a:srgbClr val="DCEBE5"/>
                </a:solidFill>
                <a:latin typeface="Calibri" pitchFamily="34" charset="0"/>
                <a:ea typeface="Calibri" pitchFamily="34" charset="-122"/>
                <a:cs typeface="Calibri" pitchFamily="34" charset="-120"/>
              </a:rPr>
              <a:t>Si H-01 a H-04 no se corrigen, el veredicto es NO-GO.</a:t>
            </a:r>
            <a:endParaRPr lang="en-US" sz="1100" dirty="0"/>
          </a:p>
        </p:txBody>
      </p:sp>
      <p:sp>
        <p:nvSpPr>
          <p:cNvPr id="11" name="Text 9"/>
          <p:cNvSpPr/>
          <p:nvPr/>
        </p:nvSpPr>
        <p:spPr>
          <a:xfrm>
            <a:off x="841248" y="3886200"/>
            <a:ext cx="3840480" cy="411480"/>
          </a:xfrm>
          <a:prstGeom prst="rect">
            <a:avLst/>
          </a:prstGeom>
          <a:noFill/>
          <a:ln/>
        </p:spPr>
        <p:txBody>
          <a:bodyPr wrap="square" lIns="0" tIns="0" rIns="0" bIns="0" rtlCol="0" anchor="t"/>
          <a:lstStyle/>
          <a:p>
            <a:pPr algn="l" indent="0" marL="0">
              <a:lnSpc>
                <a:spcPts val="1200"/>
              </a:lnSpc>
              <a:buNone/>
            </a:pPr>
            <a:r>
              <a:rPr lang="en-US" sz="860" dirty="0">
                <a:solidFill>
                  <a:srgbClr val="9FD3C7"/>
                </a:solidFill>
                <a:latin typeface="Calibri" pitchFamily="34" charset="0"/>
                <a:ea typeface="Calibri" pitchFamily="34" charset="-122"/>
                <a:cs typeface="Calibri" pitchFamily="34" charset="-120"/>
              </a:rPr>
              <a:t>Alcance: módulo de pacientes y controles asociados.</a:t>
            </a:r>
            <a:endParaRPr lang="en-US" sz="860" dirty="0"/>
          </a:p>
        </p:txBody>
      </p:sp>
      <p:sp>
        <p:nvSpPr>
          <p:cNvPr id="12" name="Text 10"/>
          <p:cNvSpPr/>
          <p:nvPr/>
        </p:nvSpPr>
        <p:spPr>
          <a:xfrm>
            <a:off x="841248" y="5074920"/>
            <a:ext cx="3840480" cy="502920"/>
          </a:xfrm>
          <a:prstGeom prst="rect">
            <a:avLst/>
          </a:prstGeom>
          <a:noFill/>
          <a:ln/>
        </p:spPr>
        <p:txBody>
          <a:bodyPr wrap="square" lIns="0" tIns="0" rIns="0" bIns="0" rtlCol="0" anchor="t"/>
          <a:lstStyle/>
          <a:p>
            <a:pPr algn="l" indent="0" marL="0">
              <a:lnSpc>
                <a:spcPts val="1600"/>
              </a:lnSpc>
              <a:buNone/>
            </a:pPr>
            <a:r>
              <a:rPr lang="en-US" sz="1200" i="1" dirty="0">
                <a:solidFill>
                  <a:srgbClr val="FFFFFF"/>
                </a:solidFill>
                <a:latin typeface="Cambria" pitchFamily="34" charset="0"/>
                <a:ea typeface="Cambria" pitchFamily="34" charset="-122"/>
                <a:cs typeface="Cambria" pitchFamily="34" charset="-120"/>
              </a:rPr>
              <a:t>Antes de producción, no después de un incidente.</a:t>
            </a:r>
            <a:endParaRPr lang="en-US" sz="1200" dirty="0"/>
          </a:p>
        </p:txBody>
      </p:sp>
      <p:sp>
        <p:nvSpPr>
          <p:cNvPr id="13" name="Shape 11"/>
          <p:cNvSpPr/>
          <p:nvPr/>
        </p:nvSpPr>
        <p:spPr>
          <a:xfrm>
            <a:off x="5358384" y="170078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4" name="Text 12"/>
          <p:cNvSpPr/>
          <p:nvPr/>
        </p:nvSpPr>
        <p:spPr>
          <a:xfrm>
            <a:off x="5504688" y="181051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01</a:t>
            </a:r>
            <a:endParaRPr lang="en-US" sz="800" dirty="0"/>
          </a:p>
        </p:txBody>
      </p:sp>
      <p:sp>
        <p:nvSpPr>
          <p:cNvPr id="15" name="Shape 13"/>
          <p:cNvSpPr/>
          <p:nvPr/>
        </p:nvSpPr>
        <p:spPr>
          <a:xfrm>
            <a:off x="5925312" y="1810512"/>
            <a:ext cx="566928" cy="201168"/>
          </a:xfrm>
          <a:prstGeom prst="roundRect">
            <a:avLst>
              <a:gd name="adj" fmla="val 18182"/>
            </a:avLst>
          </a:prstGeom>
          <a:solidFill>
            <a:srgbClr val="EDF4F0"/>
          </a:solidFill>
          <a:ln w="12700">
            <a:solidFill>
              <a:srgbClr val="EDF4F0"/>
            </a:solidFill>
            <a:prstDash val="solid"/>
          </a:ln>
        </p:spPr>
      </p:sp>
      <p:sp>
        <p:nvSpPr>
          <p:cNvPr id="16" name="Text 14"/>
          <p:cNvSpPr/>
          <p:nvPr/>
        </p:nvSpPr>
        <p:spPr>
          <a:xfrm>
            <a:off x="5998464" y="184708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H-01</a:t>
            </a:r>
            <a:endParaRPr lang="en-US" sz="660" dirty="0"/>
          </a:p>
        </p:txBody>
      </p:sp>
      <p:sp>
        <p:nvSpPr>
          <p:cNvPr id="17" name="Text 15"/>
          <p:cNvSpPr/>
          <p:nvPr/>
        </p:nvSpPr>
        <p:spPr>
          <a:xfrm>
            <a:off x="6620256" y="179222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Hash de contraseñas con bcrypt o argon2</a:t>
            </a:r>
            <a:endParaRPr lang="en-US" sz="1150" dirty="0"/>
          </a:p>
        </p:txBody>
      </p:sp>
      <p:sp>
        <p:nvSpPr>
          <p:cNvPr id="18" name="Text 16"/>
          <p:cNvSpPr/>
          <p:nvPr/>
        </p:nvSpPr>
        <p:spPr>
          <a:xfrm>
            <a:off x="6620256" y="213055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Ninguna contraseña legible en la base de datos.</a:t>
            </a:r>
            <a:endParaRPr lang="en-US" sz="870" dirty="0"/>
          </a:p>
        </p:txBody>
      </p:sp>
      <p:sp>
        <p:nvSpPr>
          <p:cNvPr id="19" name="Shape 17"/>
          <p:cNvSpPr/>
          <p:nvPr/>
        </p:nvSpPr>
        <p:spPr>
          <a:xfrm>
            <a:off x="5358384" y="275234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5504688" y="286207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02</a:t>
            </a:r>
            <a:endParaRPr lang="en-US" sz="800" dirty="0"/>
          </a:p>
        </p:txBody>
      </p:sp>
      <p:sp>
        <p:nvSpPr>
          <p:cNvPr id="21" name="Shape 19"/>
          <p:cNvSpPr/>
          <p:nvPr/>
        </p:nvSpPr>
        <p:spPr>
          <a:xfrm>
            <a:off x="5925312" y="2862072"/>
            <a:ext cx="566928" cy="201168"/>
          </a:xfrm>
          <a:prstGeom prst="roundRect">
            <a:avLst>
              <a:gd name="adj" fmla="val 18182"/>
            </a:avLst>
          </a:prstGeom>
          <a:solidFill>
            <a:srgbClr val="EDF4F0"/>
          </a:solidFill>
          <a:ln w="12700">
            <a:solidFill>
              <a:srgbClr val="EDF4F0"/>
            </a:solidFill>
            <a:prstDash val="solid"/>
          </a:ln>
        </p:spPr>
      </p:sp>
      <p:sp>
        <p:nvSpPr>
          <p:cNvPr id="22" name="Text 20"/>
          <p:cNvSpPr/>
          <p:nvPr/>
        </p:nvSpPr>
        <p:spPr>
          <a:xfrm>
            <a:off x="5998464" y="289864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H-02</a:t>
            </a:r>
            <a:endParaRPr lang="en-US" sz="660" dirty="0"/>
          </a:p>
        </p:txBody>
      </p:sp>
      <p:sp>
        <p:nvSpPr>
          <p:cNvPr id="23" name="Text 21"/>
          <p:cNvSpPr/>
          <p:nvPr/>
        </p:nvSpPr>
        <p:spPr>
          <a:xfrm>
            <a:off x="6620256" y="284378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Revocación de JWT y secreto por entorno</a:t>
            </a:r>
            <a:endParaRPr lang="en-US" sz="1150" dirty="0"/>
          </a:p>
        </p:txBody>
      </p:sp>
      <p:sp>
        <p:nvSpPr>
          <p:cNvPr id="24" name="Text 22"/>
          <p:cNvSpPr/>
          <p:nvPr/>
        </p:nvSpPr>
        <p:spPr>
          <a:xfrm>
            <a:off x="6620256" y="318211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Token inválido tras logout; sin secreto por defecto.</a:t>
            </a:r>
            <a:endParaRPr lang="en-US" sz="870" dirty="0"/>
          </a:p>
        </p:txBody>
      </p:sp>
      <p:sp>
        <p:nvSpPr>
          <p:cNvPr id="25" name="Shape 23"/>
          <p:cNvSpPr/>
          <p:nvPr/>
        </p:nvSpPr>
        <p:spPr>
          <a:xfrm>
            <a:off x="5358384" y="380390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6" name="Text 24"/>
          <p:cNvSpPr/>
          <p:nvPr/>
        </p:nvSpPr>
        <p:spPr>
          <a:xfrm>
            <a:off x="5504688" y="391363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03</a:t>
            </a:r>
            <a:endParaRPr lang="en-US" sz="800" dirty="0"/>
          </a:p>
        </p:txBody>
      </p:sp>
      <p:sp>
        <p:nvSpPr>
          <p:cNvPr id="27" name="Shape 25"/>
          <p:cNvSpPr/>
          <p:nvPr/>
        </p:nvSpPr>
        <p:spPr>
          <a:xfrm>
            <a:off x="5925312" y="3913632"/>
            <a:ext cx="566928" cy="201168"/>
          </a:xfrm>
          <a:prstGeom prst="roundRect">
            <a:avLst>
              <a:gd name="adj" fmla="val 18182"/>
            </a:avLst>
          </a:prstGeom>
          <a:solidFill>
            <a:srgbClr val="EDF4F0"/>
          </a:solidFill>
          <a:ln w="12700">
            <a:solidFill>
              <a:srgbClr val="EDF4F0"/>
            </a:solidFill>
            <a:prstDash val="solid"/>
          </a:ln>
        </p:spPr>
      </p:sp>
      <p:sp>
        <p:nvSpPr>
          <p:cNvPr id="28" name="Text 26"/>
          <p:cNvSpPr/>
          <p:nvPr/>
        </p:nvSpPr>
        <p:spPr>
          <a:xfrm>
            <a:off x="5998464" y="395020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H-03</a:t>
            </a:r>
            <a:endParaRPr lang="en-US" sz="660" dirty="0"/>
          </a:p>
        </p:txBody>
      </p:sp>
      <p:sp>
        <p:nvSpPr>
          <p:cNvPr id="29" name="Text 27"/>
          <p:cNvSpPr/>
          <p:nvPr/>
        </p:nvSpPr>
        <p:spPr>
          <a:xfrm>
            <a:off x="6620256" y="389534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Dígito verificador de RUT (módulo 11)</a:t>
            </a:r>
            <a:endParaRPr lang="en-US" sz="1150" dirty="0"/>
          </a:p>
        </p:txBody>
      </p:sp>
      <p:sp>
        <p:nvSpPr>
          <p:cNvPr id="30" name="Text 28"/>
          <p:cNvSpPr/>
          <p:nvPr/>
        </p:nvSpPr>
        <p:spPr>
          <a:xfrm>
            <a:off x="6620256" y="423367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12.345.678-9 rechazado; 12.345.678-5 aceptado.</a:t>
            </a:r>
            <a:endParaRPr lang="en-US" sz="870" dirty="0"/>
          </a:p>
        </p:txBody>
      </p:sp>
      <p:sp>
        <p:nvSpPr>
          <p:cNvPr id="31" name="Shape 29"/>
          <p:cNvSpPr/>
          <p:nvPr/>
        </p:nvSpPr>
        <p:spPr>
          <a:xfrm>
            <a:off x="5358384" y="485546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2" name="Text 30"/>
          <p:cNvSpPr/>
          <p:nvPr/>
        </p:nvSpPr>
        <p:spPr>
          <a:xfrm>
            <a:off x="5504688" y="496519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04</a:t>
            </a:r>
            <a:endParaRPr lang="en-US" sz="800" dirty="0"/>
          </a:p>
        </p:txBody>
      </p:sp>
      <p:sp>
        <p:nvSpPr>
          <p:cNvPr id="33" name="Shape 31"/>
          <p:cNvSpPr/>
          <p:nvPr/>
        </p:nvSpPr>
        <p:spPr>
          <a:xfrm>
            <a:off x="5925312" y="4965192"/>
            <a:ext cx="566928" cy="201168"/>
          </a:xfrm>
          <a:prstGeom prst="roundRect">
            <a:avLst>
              <a:gd name="adj" fmla="val 18182"/>
            </a:avLst>
          </a:prstGeom>
          <a:solidFill>
            <a:srgbClr val="EDF4F0"/>
          </a:solidFill>
          <a:ln w="12700">
            <a:solidFill>
              <a:srgbClr val="EDF4F0"/>
            </a:solidFill>
            <a:prstDash val="solid"/>
          </a:ln>
        </p:spPr>
      </p:sp>
      <p:sp>
        <p:nvSpPr>
          <p:cNvPr id="34" name="Text 32"/>
          <p:cNvSpPr/>
          <p:nvPr/>
        </p:nvSpPr>
        <p:spPr>
          <a:xfrm>
            <a:off x="5998464" y="500176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H-04</a:t>
            </a:r>
            <a:endParaRPr lang="en-US" sz="660" dirty="0"/>
          </a:p>
        </p:txBody>
      </p:sp>
      <p:sp>
        <p:nvSpPr>
          <p:cNvPr id="35" name="Text 33"/>
          <p:cNvSpPr/>
          <p:nvPr/>
        </p:nvSpPr>
        <p:spPr>
          <a:xfrm>
            <a:off x="6620256" y="494690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Autenticación en /uploads</a:t>
            </a:r>
            <a:endParaRPr lang="en-US" sz="1150" dirty="0"/>
          </a:p>
        </p:txBody>
      </p:sp>
      <p:sp>
        <p:nvSpPr>
          <p:cNvPr id="36" name="Text 34"/>
          <p:cNvSpPr/>
          <p:nvPr/>
        </p:nvSpPr>
        <p:spPr>
          <a:xfrm>
            <a:off x="6620256" y="528523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Documento sin sesión → 401.</a:t>
            </a:r>
            <a:endParaRPr lang="en-US" sz="870" dirty="0"/>
          </a:p>
        </p:txBody>
      </p:sp>
      <p:sp>
        <p:nvSpPr>
          <p:cNvPr id="37" name="Text 35"/>
          <p:cNvSpPr/>
          <p:nvPr/>
        </p:nvSpPr>
        <p:spPr>
          <a:xfrm>
            <a:off x="5358384" y="5989320"/>
            <a:ext cx="6263640" cy="320040"/>
          </a:xfrm>
          <a:prstGeom prst="rect">
            <a:avLst/>
          </a:prstGeom>
          <a:noFill/>
          <a:ln/>
        </p:spPr>
        <p:txBody>
          <a:bodyPr wrap="square" lIns="0" tIns="0" rIns="0" bIns="0" rtlCol="0" anchor="t"/>
          <a:lstStyle/>
          <a:p>
            <a:pPr algn="l" indent="0" marL="0">
              <a:buNone/>
            </a:pPr>
            <a:r>
              <a:rPr lang="en-US" sz="1050" i="1" dirty="0">
                <a:solidFill>
                  <a:srgbClr val="5C6D67"/>
                </a:solidFill>
                <a:latin typeface="Calibri" pitchFamily="34" charset="0"/>
                <a:ea typeface="Calibri" pitchFamily="34" charset="-122"/>
                <a:cs typeface="Calibri" pitchFamily="34" charset="-120"/>
              </a:rPr>
              <a:t>Con datos clínicos, la seguridad es un deber de cuidado, no un ítem de checklist.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3B33"/>
        </a:solidFill>
      </p:bgPr>
    </p:bg>
    <p:spTree>
      <p:nvGrpSpPr>
        <p:cNvPr id="1" name=""/>
        <p:cNvGrpSpPr/>
        <p:nvPr/>
      </p:nvGrpSpPr>
      <p:grpSpPr>
        <a:xfrm>
          <a:off x="0" y="0"/>
          <a:ext cx="0" cy="0"/>
          <a:chOff x="0" y="0"/>
          <a:chExt cx="0" cy="0"/>
        </a:xfrm>
      </p:grpSpPr>
      <p:sp>
        <p:nvSpPr>
          <p:cNvPr id="2" name="Shape 0"/>
          <p:cNvSpPr/>
          <p:nvPr/>
        </p:nvSpPr>
        <p:spPr>
          <a:xfrm>
            <a:off x="566928" y="475488"/>
            <a:ext cx="82296" cy="82296"/>
          </a:xfrm>
          <a:prstGeom prst="rect">
            <a:avLst/>
          </a:prstGeom>
          <a:solidFill>
            <a:srgbClr val="C98A1E"/>
          </a:solidFill>
          <a:ln w="12700">
            <a:solidFill>
              <a:srgbClr val="C98A1E"/>
            </a:solidFill>
            <a:prstDash val="solid"/>
          </a:ln>
        </p:spPr>
      </p:sp>
      <p:sp>
        <p:nvSpPr>
          <p:cNvPr id="3" name="Text 1"/>
          <p:cNvSpPr/>
          <p:nvPr/>
        </p:nvSpPr>
        <p:spPr>
          <a:xfrm>
            <a:off x="749808" y="393192"/>
            <a:ext cx="3657600" cy="219456"/>
          </a:xfrm>
          <a:prstGeom prst="rect">
            <a:avLst/>
          </a:prstGeom>
          <a:noFill/>
          <a:ln/>
        </p:spPr>
        <p:txBody>
          <a:bodyPr wrap="square" lIns="0" tIns="0" rIns="0" bIns="0" rtlCol="0" anchor="t"/>
          <a:lstStyle/>
          <a:p>
            <a:pPr algn="l" indent="0" marL="0">
              <a:buNone/>
            </a:pPr>
            <a:r>
              <a:rPr lang="en-US" sz="850" b="1" spc="160" kern="0" dirty="0">
                <a:solidFill>
                  <a:srgbClr val="9FD3C7"/>
                </a:solidFill>
                <a:latin typeface="Courier New" pitchFamily="34" charset="0"/>
                <a:ea typeface="Courier New" pitchFamily="34" charset="-122"/>
                <a:cs typeface="Courier New" pitchFamily="34" charset="-120"/>
              </a:rPr>
              <a:t>CIERRE</a:t>
            </a:r>
            <a:endParaRPr lang="en-US" sz="850" dirty="0"/>
          </a:p>
        </p:txBody>
      </p:sp>
      <p:sp>
        <p:nvSpPr>
          <p:cNvPr id="4" name="Text 2"/>
          <p:cNvSpPr/>
          <p:nvPr/>
        </p:nvSpPr>
        <p:spPr>
          <a:xfrm>
            <a:off x="566928" y="1417320"/>
            <a:ext cx="10881360" cy="1828800"/>
          </a:xfrm>
          <a:prstGeom prst="rect">
            <a:avLst/>
          </a:prstGeom>
          <a:noFill/>
          <a:ln/>
        </p:spPr>
        <p:txBody>
          <a:bodyPr wrap="square" lIns="0" tIns="0" rIns="0" bIns="0" rtlCol="0" anchor="t"/>
          <a:lstStyle/>
          <a:p>
            <a:pPr indent="0" marL="0">
              <a:lnSpc>
                <a:spcPts val="4200"/>
              </a:lnSpc>
              <a:buNone/>
            </a:pPr>
            <a:r>
              <a:rPr lang="en-US" sz="3200" b="1" dirty="0">
                <a:solidFill>
                  <a:srgbClr val="FFFFFF"/>
                </a:solidFill>
                <a:latin typeface="Cambria" pitchFamily="34" charset="0"/>
                <a:ea typeface="Cambria" pitchFamily="34" charset="-122"/>
                <a:cs typeface="Cambria" pitchFamily="34" charset="-120"/>
              </a:rPr>
              <a:t>La calidad no termina en un gate verde.</a:t>
            </a:r>
            <a:endParaRPr lang="en-US" sz="3200" dirty="0"/>
          </a:p>
          <a:p>
            <a:pPr indent="0" marL="0">
              <a:lnSpc>
                <a:spcPts val="4200"/>
              </a:lnSpc>
              <a:buNone/>
            </a:pPr>
            <a:r>
              <a:rPr lang="en-US" sz="3200" b="1" dirty="0">
                <a:solidFill>
                  <a:srgbClr val="9FD3C7"/>
                </a:solidFill>
                <a:latin typeface="Cambria" pitchFamily="34" charset="0"/>
                <a:ea typeface="Cambria" pitchFamily="34" charset="-122"/>
                <a:cs typeface="Cambria" pitchFamily="34" charset="-120"/>
              </a:rPr>
              <a:t>Termina cuando el sistema protege a quien confía en él.</a:t>
            </a:r>
            <a:endParaRPr lang="en-US" sz="3200" dirty="0"/>
          </a:p>
        </p:txBody>
      </p:sp>
      <p:pic>
        <p:nvPicPr>
          <p:cNvPr id="5" name="Image 0" descr="C:\Users\ibane\AppData\Local\Temp\opencode\ecg.png">    </p:cNvPr>
          <p:cNvPicPr>
            <a:picLocks noChangeAspect="1"/>
          </p:cNvPicPr>
          <p:nvPr/>
        </p:nvPicPr>
        <p:blipFill>
          <a:blip r:embed="rId1"/>
          <a:stretch>
            <a:fillRect/>
          </a:stretch>
        </p:blipFill>
        <p:spPr>
          <a:xfrm>
            <a:off x="566928" y="3858768"/>
            <a:ext cx="11055096" cy="841248"/>
          </a:xfrm>
          <a:prstGeom prst="rect">
            <a:avLst/>
          </a:prstGeom>
        </p:spPr>
      </p:pic>
      <p:sp>
        <p:nvSpPr>
          <p:cNvPr id="6" name="Text 3"/>
          <p:cNvSpPr/>
          <p:nvPr/>
        </p:nvSpPr>
        <p:spPr>
          <a:xfrm>
            <a:off x="566928" y="5074920"/>
            <a:ext cx="4572000" cy="320040"/>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Gracias. Preguntas.</a:t>
            </a:r>
            <a:endParaRPr lang="en-US" sz="1800" dirty="0"/>
          </a:p>
        </p:txBody>
      </p:sp>
      <p:sp>
        <p:nvSpPr>
          <p:cNvPr id="7" name="Text 4"/>
          <p:cNvSpPr/>
          <p:nvPr/>
        </p:nvSpPr>
        <p:spPr>
          <a:xfrm>
            <a:off x="566928" y="5468112"/>
            <a:ext cx="5486400" cy="228600"/>
          </a:xfrm>
          <a:prstGeom prst="rect">
            <a:avLst/>
          </a:prstGeom>
          <a:noFill/>
          <a:ln/>
        </p:spPr>
        <p:txBody>
          <a:bodyPr wrap="square" lIns="0" tIns="0" rIns="0" bIns="0" rtlCol="0" anchor="t"/>
          <a:lstStyle/>
          <a:p>
            <a:pPr algn="l" indent="0" marL="0">
              <a:buNone/>
            </a:pPr>
            <a:r>
              <a:rPr lang="en-US" sz="1000" dirty="0">
                <a:solidFill>
                  <a:srgbClr val="DCEBE5"/>
                </a:solidFill>
                <a:latin typeface="Calibri" pitchFamily="34" charset="0"/>
                <a:ea typeface="Calibri" pitchFamily="34" charset="-122"/>
                <a:cs typeface="Calibri" pitchFamily="34" charset="-120"/>
              </a:rPr>
              <a:t>Benjamín Ibáñez · Gerardo Vera</a:t>
            </a:r>
            <a:endParaRPr lang="en-US" sz="1000" dirty="0"/>
          </a:p>
        </p:txBody>
      </p:sp>
      <p:sp>
        <p:nvSpPr>
          <p:cNvPr id="8" name="Text 5"/>
          <p:cNvSpPr/>
          <p:nvPr/>
        </p:nvSpPr>
        <p:spPr>
          <a:xfrm>
            <a:off x="566928" y="5760720"/>
            <a:ext cx="8229600" cy="228600"/>
          </a:xfrm>
          <a:prstGeom prst="rect">
            <a:avLst/>
          </a:prstGeom>
          <a:noFill/>
          <a:ln/>
        </p:spPr>
        <p:txBody>
          <a:bodyPr wrap="square" lIns="0" tIns="0" rIns="0" bIns="0" rtlCol="0" anchor="t"/>
          <a:lstStyle/>
          <a:p>
            <a:pPr algn="l" indent="0" marL="0">
              <a:buNone/>
            </a:pPr>
            <a:r>
              <a:rPr lang="en-US" sz="860" dirty="0">
                <a:solidFill>
                  <a:srgbClr val="9FD3C7"/>
                </a:solidFill>
                <a:latin typeface="Calibri" pitchFamily="34" charset="0"/>
                <a:ea typeface="Calibri" pitchFamily="34" charset="-122"/>
                <a:cs typeface="Calibri" pitchFamily="34" charset="-120"/>
              </a:rPr>
              <a:t>Anexos A–D disponibles para trazabilidad, métricas, normativa y evidencias.</a:t>
            </a:r>
            <a:endParaRPr lang="en-US" sz="860" dirty="0"/>
          </a:p>
        </p:txBody>
      </p:sp>
      <p:sp>
        <p:nvSpPr>
          <p:cNvPr id="9" name="Text 6"/>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9FD3C7"/>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10" name="Text 7"/>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9FD3C7"/>
                </a:solidFill>
                <a:latin typeface="Courier New" pitchFamily="34" charset="0"/>
                <a:ea typeface="Courier New" pitchFamily="34" charset="-122"/>
                <a:cs typeface="Courier New" pitchFamily="34" charset="-120"/>
              </a:rPr>
              <a:t>13 / 17</a:t>
            </a:r>
            <a:endParaRPr lang="en-US" sz="7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A · CASOS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Ocho casos, un resultado por caso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14 / 17</a:t>
            </a:r>
            <a:endParaRPr lang="en-US" sz="7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55096" cy="914400"/>
        </p:xfrm>
        <a:graphic>
          <a:graphicData uri="http://schemas.openxmlformats.org/drawingml/2006/table">
            <a:tbl>
              <a:tblPr/>
              <a:tblGrid>
                <a:gridCol w="822960"/>
                <a:gridCol w="868680"/>
                <a:gridCol w="1828800"/>
                <a:gridCol w="1234440"/>
                <a:gridCol w="6300216"/>
              </a:tblGrid>
              <a:tr h="466344">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Caso</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RQ</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Tipo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Resultado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Evidencia</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CP001</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Funcional positivo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Grupo1_CP001_Front_201_Pass.png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CP002</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Funcional negativo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Grupo1_CP002_Backend_400_Pass.png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CP003</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Duplicado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Grupo1_CP003_Duplicado_400_Pass.png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CP004</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Valor límite</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Grupo1_CP004_Backend_400_Pass.png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CP005</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RQ-01</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Seguridad · login</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Grupo1_CP005_Login_200.json</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CP006</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RQ-01</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Seguridad · logout</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B23A2F"/>
                          </a:solidFill>
                          <a:latin typeface="Calibri" pitchFamily="34" charset="0"/>
                          <a:ea typeface="Calibri" pitchFamily="34" charset="-122"/>
                          <a:cs typeface="Calibri" pitchFamily="34" charset="-120"/>
                        </a:rPr>
                        <a:t>FAIL</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5DDD9"/>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Grupo1_CP006_Reuso_token_tras_logout_200.json</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CP007</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RQ-02</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Seguridad · RBAC</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Grupo1_CP007_PUT_403.json</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CP008</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RQ-03</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Integridad</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Grupo1_CP008_Integridad_y_tiempo.txt</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43600"/>
            <a:ext cx="10881360" cy="228600"/>
          </a:xfrm>
          <a:prstGeom prst="rect">
            <a:avLst/>
          </a:prstGeom>
          <a:noFill/>
          <a:ln/>
        </p:spPr>
        <p:txBody>
          <a:bodyPr wrap="square" lIns="0" tIns="0" rIns="0" bIns="0" rtlCol="0" anchor="t"/>
          <a:lstStyle/>
          <a:p>
            <a:pPr algn="l" indent="0" marL="0">
              <a:buNone/>
            </a:pPr>
            <a:r>
              <a:rPr lang="en-US" sz="860" i="1" dirty="0">
                <a:solidFill>
                  <a:srgbClr val="5C6D67"/>
                </a:solidFill>
                <a:latin typeface="Calibri" pitchFamily="34" charset="0"/>
                <a:ea typeface="Calibri" pitchFamily="34" charset="-122"/>
                <a:cs typeface="Calibri" pitchFamily="34" charset="-120"/>
              </a:rPr>
              <a:t>Todos los archivos están en Mis_Entregables/U2.3_Ejecucion/Evidencias/.</a:t>
            </a:r>
            <a:endParaRPr lang="en-US" sz="8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B · SONARQUBE</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El detalle detrás del Quality Gate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15 / 17</a:t>
            </a:r>
            <a:endParaRPr lang="en-US" sz="7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4663440" cy="914400"/>
        </p:xfrm>
        <a:graphic>
          <a:graphicData uri="http://schemas.openxmlformats.org/drawingml/2006/table">
            <a:tbl>
              <a:tblPr/>
              <a:tblGrid>
                <a:gridCol w="2926080"/>
                <a:gridCol w="1737360"/>
              </a:tblGrid>
              <a:tr h="402336">
                <a:tc>
                  <a:txBody>
                    <a:bodyPr/>
                    <a:lstStyle/>
                    <a:p>
                      <a:pPr algn="l" indent="0" marL="0">
                        <a:buNone/>
                      </a:pPr>
                      <a:r>
                        <a:rPr lang="en-US" sz="880" b="1" dirty="0">
                          <a:solidFill>
                            <a:srgbClr val="FFFFFF"/>
                          </a:solidFill>
                          <a:latin typeface="Calibri" pitchFamily="34" charset="0"/>
                          <a:ea typeface="Calibri" pitchFamily="34" charset="-122"/>
                          <a:cs typeface="Calibri" pitchFamily="34" charset="-120"/>
                        </a:rPr>
                        <a:t>Métrica</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r" indent="0" marL="0">
                        <a:buNone/>
                      </a:pPr>
                      <a:r>
                        <a:rPr lang="en-US" sz="880" b="1" dirty="0">
                          <a:solidFill>
                            <a:srgbClr val="FFFFFF"/>
                          </a:solidFill>
                          <a:latin typeface="Courier New" pitchFamily="34" charset="0"/>
                          <a:ea typeface="Courier New" pitchFamily="34" charset="-122"/>
                          <a:cs typeface="Courier New" pitchFamily="34" charset="-120"/>
                        </a:rPr>
                        <a:t>Valor</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Líneas de código</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10.133</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Issues</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73</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Críticos</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8</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Vulnerabilidades</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0</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Cobertura</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0,0%</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Duplicación</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14,5%</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Deuda técnica</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465 min</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029200"/>
            <a:ext cx="18288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RATINGS</a:t>
            </a:r>
            <a:endParaRPr lang="en-US" sz="710" dirty="0"/>
          </a:p>
        </p:txBody>
      </p:sp>
      <p:sp>
        <p:nvSpPr>
          <p:cNvPr id="9" name="Text 6"/>
          <p:cNvSpPr/>
          <p:nvPr/>
        </p:nvSpPr>
        <p:spPr>
          <a:xfrm>
            <a:off x="566928" y="5230368"/>
            <a:ext cx="4480560" cy="228600"/>
          </a:xfrm>
          <a:prstGeom prst="rect">
            <a:avLst/>
          </a:prstGeom>
          <a:noFill/>
          <a:ln/>
        </p:spPr>
        <p:txBody>
          <a:bodyPr wrap="square" lIns="0" tIns="0" rIns="0" bIns="0" rtlCol="0" anchor="t"/>
          <a:lstStyle/>
          <a:p>
            <a:pPr algn="l" indent="0" marL="0">
              <a:buNone/>
            </a:pPr>
            <a:r>
              <a:rPr lang="en-US" sz="920" dirty="0">
                <a:solidFill>
                  <a:srgbClr val="1A2A25"/>
                </a:solidFill>
                <a:latin typeface="Calibri" pitchFamily="34" charset="0"/>
                <a:ea typeface="Calibri" pitchFamily="34" charset="-122"/>
                <a:cs typeface="Calibri" pitchFamily="34" charset="-120"/>
              </a:rPr>
              <a:t>Mantenibilidad A · Seguridad A · Confiabilidad C</a:t>
            </a:r>
            <a:endParaRPr lang="en-US" sz="9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623560" y="1700784"/>
          <a:ext cx="5998464" cy="914400"/>
        </p:xfrm>
        <a:graphic>
          <a:graphicData uri="http://schemas.openxmlformats.org/drawingml/2006/table">
            <a:tbl>
              <a:tblPr/>
              <a:tblGrid>
                <a:gridCol w="4443984"/>
                <a:gridCol w="1554480"/>
              </a:tblGrid>
              <a:tr h="384048">
                <a:tc>
                  <a:txBody>
                    <a:bodyPr/>
                    <a:lstStyle/>
                    <a:p>
                      <a:pPr algn="l" indent="0" marL="0">
                        <a:buNone/>
                      </a:pPr>
                      <a:r>
                        <a:rPr lang="en-US" sz="800" b="1" dirty="0">
                          <a:solidFill>
                            <a:srgbClr val="FFFFFF"/>
                          </a:solidFill>
                          <a:latin typeface="Courier New" pitchFamily="34" charset="0"/>
                          <a:ea typeface="Courier New" pitchFamily="34" charset="-122"/>
                          <a:cs typeface="Courier New" pitchFamily="34" charset="-120"/>
                        </a:rPr>
                        <a:t>Archivo:línea</a:t>
                      </a:r>
                      <a:endParaRPr lang="en-US" sz="80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r" indent="0" marL="0">
                        <a:buNone/>
                      </a:pPr>
                      <a:r>
                        <a:rPr lang="en-US" sz="800" b="1" dirty="0">
                          <a:solidFill>
                            <a:srgbClr val="FFFFFF"/>
                          </a:solidFill>
                          <a:latin typeface="Courier New" pitchFamily="34" charset="0"/>
                          <a:ea typeface="Courier New" pitchFamily="34" charset="-122"/>
                          <a:cs typeface="Courier New" pitchFamily="34" charset="-120"/>
                        </a:rPr>
                        <a:t>Complejidad</a:t>
                      </a:r>
                      <a:endParaRPr lang="en-US" sz="80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UsuarioForm.jsx:173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39</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ExamenForm.jsx:47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33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users.js:283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users.js:437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24</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PacienteForm.jsx:21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22</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pacientes.js:48</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22</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pacientes.js:276</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auth.js:71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17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11" name="Text 7"/>
          <p:cNvSpPr/>
          <p:nvPr/>
        </p:nvSpPr>
        <p:spPr>
          <a:xfrm>
            <a:off x="5623560" y="5257800"/>
            <a:ext cx="594360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Los ocho issues críticos son S3776: complejidad cognitiva alta.</a:t>
            </a:r>
            <a:endParaRPr lang="en-US" sz="900" dirty="0"/>
          </a:p>
        </p:txBody>
      </p:sp>
      <p:sp>
        <p:nvSpPr>
          <p:cNvPr id="12" name="Text 8"/>
          <p:cNvSpPr/>
          <p:nvPr/>
        </p:nvSpPr>
        <p:spPr>
          <a:xfrm>
            <a:off x="5623560" y="5532120"/>
            <a:ext cx="5943600" cy="365760"/>
          </a:xfrm>
          <a:prstGeom prst="rect">
            <a:avLst/>
          </a:prstGeom>
          <a:noFill/>
          <a:ln/>
        </p:spPr>
        <p:txBody>
          <a:bodyPr wrap="square" lIns="0" tIns="0" rIns="0" bIns="0" rtlCol="0" anchor="t"/>
          <a:lstStyle/>
          <a:p>
            <a:pPr algn="l" indent="0" marL="0">
              <a:lnSpc>
                <a:spcPts val="1200"/>
              </a:lnSpc>
              <a:buNone/>
            </a:pPr>
            <a:r>
              <a:rPr lang="en-US" sz="900" i="1" dirty="0">
                <a:solidFill>
                  <a:srgbClr val="8A5E0F"/>
                </a:solidFill>
                <a:latin typeface="Calibri" pitchFamily="34" charset="0"/>
                <a:ea typeface="Calibri" pitchFamily="34" charset="-122"/>
                <a:cs typeface="Calibri" pitchFamily="34" charset="-120"/>
              </a:rPr>
              <a:t>El Quality Gate evalúa las condiciones configuradas; no equivale a una auditoría de seguridad.</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C · MARCO NORMATIVO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Qué exige la norma y dónde falla Cuidarte+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16 / 17</a:t>
            </a:r>
            <a:endParaRPr lang="en-US" sz="7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55096" cy="914400"/>
        </p:xfrm>
        <a:graphic>
          <a:graphicData uri="http://schemas.openxmlformats.org/drawingml/2006/table">
            <a:tbl>
              <a:tblPr/>
              <a:tblGrid>
                <a:gridCol w="2148840"/>
                <a:gridCol w="4160520"/>
                <a:gridCol w="4745736"/>
              </a:tblGrid>
              <a:tr h="640080">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Norma</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Qué exige</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Dónde se incumple</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Ley 19.628</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Proteger datos personales sensibles, confidencialidad y seguridad.</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H-01, H-02 y H-04: credenciales, sesión y documentos.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Ley 20.584</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Reserva de la ficha clínica y acceso controlado y trazado.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H-02 y H-03: sesión no revocada; RUT inválido.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OWASP A01</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Controlar el acceso a recursos y funciones.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H-04: /uploads sin autenticación.</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OWASP A02/A07</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Proteger credenciales y sesiones.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H-01/H-02: texto plano y JWT sin revocación.</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ISO/IEC 25010 · NFR-SEG-8/9</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Calidad verificable y cumplimiento normativo.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0,0% cobertura y controles de sesión incompletos.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806440"/>
            <a:ext cx="10881360" cy="274320"/>
          </a:xfrm>
          <a:prstGeom prst="rect">
            <a:avLst/>
          </a:prstGeom>
          <a:noFill/>
          <a:ln/>
        </p:spPr>
        <p:txBody>
          <a:bodyPr wrap="square" lIns="0" tIns="0" rIns="0" bIns="0" rtlCol="0" anchor="t"/>
          <a:lstStyle/>
          <a:p>
            <a:pPr algn="l" indent="0" marL="0">
              <a:buNone/>
            </a:pPr>
            <a:r>
              <a:rPr lang="en-US" sz="900" i="1" dirty="0">
                <a:solidFill>
                  <a:srgbClr val="5C6D67"/>
                </a:solidFill>
                <a:latin typeface="Calibri" pitchFamily="34" charset="0"/>
                <a:ea typeface="Calibri" pitchFamily="34" charset="-122"/>
                <a:cs typeface="Calibri" pitchFamily="34" charset="-120"/>
              </a:rPr>
              <a:t>El análisis no constituye asesoría legal: es una lectura técnica del ERS y de la normativa chilena aplicable.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D · EVIDENCIAS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28 archivos, una convención y trazabilidad por caso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17 / 17</a:t>
            </a:r>
            <a:endParaRPr lang="en-US" sz="730" dirty="0"/>
          </a:p>
        </p:txBody>
      </p:sp>
      <p:sp>
        <p:nvSpPr>
          <p:cNvPr id="7" name="Text 5"/>
          <p:cNvSpPr/>
          <p:nvPr/>
        </p:nvSpPr>
        <p:spPr>
          <a:xfrm>
            <a:off x="566928"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28</a:t>
            </a:r>
            <a:endParaRPr lang="en-US" sz="2800" dirty="0"/>
          </a:p>
        </p:txBody>
      </p:sp>
      <p:sp>
        <p:nvSpPr>
          <p:cNvPr id="8" name="Text 6"/>
          <p:cNvSpPr/>
          <p:nvPr/>
        </p:nvSpPr>
        <p:spPr>
          <a:xfrm>
            <a:off x="1207008"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archivos</a:t>
            </a:r>
            <a:endParaRPr lang="en-US" sz="880" dirty="0"/>
          </a:p>
        </p:txBody>
      </p:sp>
      <p:sp>
        <p:nvSpPr>
          <p:cNvPr id="9" name="Text 7"/>
          <p:cNvSpPr/>
          <p:nvPr/>
        </p:nvSpPr>
        <p:spPr>
          <a:xfrm>
            <a:off x="3328416"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6</a:t>
            </a:r>
            <a:endParaRPr lang="en-US" sz="2800" dirty="0"/>
          </a:p>
        </p:txBody>
      </p:sp>
      <p:sp>
        <p:nvSpPr>
          <p:cNvPr id="10" name="Text 8"/>
          <p:cNvSpPr/>
          <p:nvPr/>
        </p:nvSpPr>
        <p:spPr>
          <a:xfrm>
            <a:off x="3968496"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PNG</a:t>
            </a:r>
            <a:endParaRPr lang="en-US" sz="880" dirty="0"/>
          </a:p>
        </p:txBody>
      </p:sp>
      <p:sp>
        <p:nvSpPr>
          <p:cNvPr id="11" name="Text 9"/>
          <p:cNvSpPr/>
          <p:nvPr/>
        </p:nvSpPr>
        <p:spPr>
          <a:xfrm>
            <a:off x="6089904"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15</a:t>
            </a:r>
            <a:endParaRPr lang="en-US" sz="2800" dirty="0"/>
          </a:p>
        </p:txBody>
      </p:sp>
      <p:sp>
        <p:nvSpPr>
          <p:cNvPr id="12" name="Text 10"/>
          <p:cNvSpPr/>
          <p:nvPr/>
        </p:nvSpPr>
        <p:spPr>
          <a:xfrm>
            <a:off x="6729984"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JSON</a:t>
            </a:r>
            <a:endParaRPr lang="en-US" sz="880" dirty="0"/>
          </a:p>
        </p:txBody>
      </p:sp>
      <p:sp>
        <p:nvSpPr>
          <p:cNvPr id="13" name="Text 11"/>
          <p:cNvSpPr/>
          <p:nvPr/>
        </p:nvSpPr>
        <p:spPr>
          <a:xfrm>
            <a:off x="8851392"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7</a:t>
            </a:r>
            <a:endParaRPr lang="en-US" sz="2800" dirty="0"/>
          </a:p>
        </p:txBody>
      </p:sp>
      <p:sp>
        <p:nvSpPr>
          <p:cNvPr id="14" name="Text 12"/>
          <p:cNvSpPr/>
          <p:nvPr/>
        </p:nvSpPr>
        <p:spPr>
          <a:xfrm>
            <a:off x="9491472"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TXT + PDF</a:t>
            </a:r>
            <a:endParaRPr lang="en-US" sz="880" dirty="0"/>
          </a:p>
        </p:txBody>
      </p:sp>
      <p:sp>
        <p:nvSpPr>
          <p:cNvPr id="15" name="Shape 13"/>
          <p:cNvSpPr/>
          <p:nvPr/>
        </p:nvSpPr>
        <p:spPr>
          <a:xfrm>
            <a:off x="566928" y="2395728"/>
            <a:ext cx="4892040" cy="2651760"/>
          </a:xfrm>
          <a:prstGeom prst="roundRect">
            <a:avLst>
              <a:gd name="adj" fmla="val 862"/>
            </a:avLst>
          </a:prstGeom>
          <a:solidFill>
            <a:srgbClr val="123B33"/>
          </a:solidFill>
          <a:ln w="7620">
            <a:solidFill>
              <a:srgbClr val="123B33"/>
            </a:solidFill>
            <a:prstDash val="solid"/>
          </a:ln>
          <a:effectLst>
            <a:outerShdw sx="100000" sy="100000" kx="0" ky="0" algn="bl" rotWithShape="0" blurRad="88900" dist="25400" dir="5400000">
              <a:srgbClr val="000000">
                <a:alpha val="5000"/>
              </a:srgbClr>
            </a:outerShdw>
          </a:effectLst>
        </p:spPr>
      </p:sp>
      <p:sp>
        <p:nvSpPr>
          <p:cNvPr id="16" name="Text 14"/>
          <p:cNvSpPr/>
          <p:nvPr/>
        </p:nvSpPr>
        <p:spPr>
          <a:xfrm>
            <a:off x="768096" y="2560320"/>
            <a:ext cx="4480560" cy="182880"/>
          </a:xfrm>
          <a:prstGeom prst="rect">
            <a:avLst/>
          </a:prstGeom>
          <a:noFill/>
          <a:ln/>
        </p:spPr>
        <p:txBody>
          <a:bodyPr wrap="square" lIns="0" tIns="0" rIns="0" bIns="0" rtlCol="0" anchor="t"/>
          <a:lstStyle/>
          <a:p>
            <a:pPr algn="l" indent="0" marL="0">
              <a:buNone/>
            </a:pPr>
            <a:r>
              <a:rPr lang="en-US" sz="710" b="1" spc="110" kern="0" dirty="0">
                <a:solidFill>
                  <a:srgbClr val="9FD3C7"/>
                </a:solidFill>
                <a:latin typeface="Courier New" pitchFamily="34" charset="0"/>
                <a:ea typeface="Courier New" pitchFamily="34" charset="-122"/>
                <a:cs typeface="Courier New" pitchFamily="34" charset="-120"/>
              </a:rPr>
              <a:t>CONVENCIÓN DE NOMBRE</a:t>
            </a:r>
            <a:endParaRPr lang="en-US" sz="710" dirty="0"/>
          </a:p>
        </p:txBody>
      </p:sp>
      <p:sp>
        <p:nvSpPr>
          <p:cNvPr id="17" name="Text 15"/>
          <p:cNvSpPr/>
          <p:nvPr/>
        </p:nvSpPr>
        <p:spPr>
          <a:xfrm>
            <a:off x="768096" y="2852928"/>
            <a:ext cx="4480560" cy="256032"/>
          </a:xfrm>
          <a:prstGeom prst="rect">
            <a:avLst/>
          </a:prstGeom>
          <a:noFill/>
          <a:ln/>
        </p:spPr>
        <p:txBody>
          <a:bodyPr wrap="square" lIns="0" tIns="0" rIns="0" bIns="0" rtlCol="0" anchor="t"/>
          <a:lstStyle/>
          <a:p>
            <a:pPr algn="l" indent="0" marL="0">
              <a:buNone/>
            </a:pPr>
            <a:r>
              <a:rPr lang="en-US" sz="960" b="1" dirty="0">
                <a:solidFill>
                  <a:srgbClr val="FFFFFF"/>
                </a:solidFill>
                <a:latin typeface="Courier New" pitchFamily="34" charset="0"/>
                <a:ea typeface="Courier New" pitchFamily="34" charset="-122"/>
                <a:cs typeface="Courier New" pitchFamily="34" charset="-120"/>
              </a:rPr>
              <a:t>Grupo1_&lt;CP&gt;_&lt;vista&gt;_&lt;resultado&gt;.&lt;ext&gt;</a:t>
            </a:r>
            <a:endParaRPr lang="en-US" sz="960" dirty="0"/>
          </a:p>
        </p:txBody>
      </p:sp>
      <p:sp>
        <p:nvSpPr>
          <p:cNvPr id="18" name="Text 16"/>
          <p:cNvSpPr/>
          <p:nvPr/>
        </p:nvSpPr>
        <p:spPr>
          <a:xfrm>
            <a:off x="768096" y="3310128"/>
            <a:ext cx="4480560" cy="1143000"/>
          </a:xfrm>
          <a:prstGeom prst="rect">
            <a:avLst/>
          </a:prstGeom>
          <a:noFill/>
          <a:ln/>
        </p:spPr>
        <p:txBody>
          <a:bodyPr wrap="square" lIns="0" tIns="0" rIns="0" bIns="0" rtlCol="0" anchor="t"/>
          <a:lstStyle/>
          <a:p>
            <a:pPr algn="l" indent="0" marL="0">
              <a:lnSpc>
                <a:spcPts val="1800"/>
              </a:lnSpc>
              <a:buNone/>
            </a:pPr>
            <a:r>
              <a:rPr lang="en-US" sz="780" dirty="0">
                <a:solidFill>
                  <a:srgbClr val="DCEBE5"/>
                </a:solidFill>
                <a:latin typeface="Courier New" pitchFamily="34" charset="0"/>
                <a:ea typeface="Courier New" pitchFamily="34" charset="-122"/>
                <a:cs typeface="Courier New" pitchFamily="34" charset="-120"/>
              </a:rPr>
              <a:t>Grupo1_CP001_Front_201_Pass.png</a:t>
            </a:r>
            <a:endParaRPr lang="en-US" sz="780" dirty="0"/>
          </a:p>
          <a:p>
            <a:pPr algn="l" indent="0" marL="0">
              <a:lnSpc>
                <a:spcPts val="1800"/>
              </a:lnSpc>
              <a:buNone/>
            </a:pPr>
            <a:r>
              <a:rPr lang="en-US" sz="780" dirty="0">
                <a:solidFill>
                  <a:srgbClr val="DCEBE5"/>
                </a:solidFill>
                <a:latin typeface="Courier New" pitchFamily="34" charset="0"/>
                <a:ea typeface="Courier New" pitchFamily="34" charset="-122"/>
                <a:cs typeface="Courier New" pitchFamily="34" charset="-120"/>
              </a:rPr>
              <a:t>Grupo1_CP006_Reuso_token_tras_logout_200.json</a:t>
            </a:r>
            <a:endParaRPr lang="en-US" sz="780" dirty="0"/>
          </a:p>
          <a:p>
            <a:pPr algn="l" indent="0" marL="0">
              <a:lnSpc>
                <a:spcPts val="1800"/>
              </a:lnSpc>
              <a:buNone/>
            </a:pPr>
            <a:r>
              <a:rPr lang="en-US" sz="780" dirty="0">
                <a:solidFill>
                  <a:srgbClr val="DCEBE5"/>
                </a:solidFill>
                <a:latin typeface="Courier New" pitchFamily="34" charset="0"/>
                <a:ea typeface="Courier New" pitchFamily="34" charset="-122"/>
                <a:cs typeface="Courier New" pitchFamily="34" charset="-120"/>
              </a:rPr>
              <a:t>Grupo1_CP008_Integridad_y_tiempo.txt</a:t>
            </a:r>
            <a:endParaRPr lang="en-US" sz="780" dirty="0"/>
          </a:p>
        </p:txBody>
      </p:sp>
      <p:sp>
        <p:nvSpPr>
          <p:cNvPr id="19" name="Text 17"/>
          <p:cNvSpPr/>
          <p:nvPr/>
        </p:nvSpPr>
        <p:spPr>
          <a:xfrm>
            <a:off x="768096" y="4572000"/>
            <a:ext cx="4434840" cy="365760"/>
          </a:xfrm>
          <a:prstGeom prst="rect">
            <a:avLst/>
          </a:prstGeom>
          <a:noFill/>
          <a:ln/>
        </p:spPr>
        <p:txBody>
          <a:bodyPr wrap="square" lIns="0" tIns="0" rIns="0" bIns="0" rtlCol="0" anchor="t"/>
          <a:lstStyle/>
          <a:p>
            <a:pPr algn="l" indent="0" marL="0">
              <a:lnSpc>
                <a:spcPts val="1100"/>
              </a:lnSpc>
              <a:buNone/>
            </a:pPr>
            <a:r>
              <a:rPr lang="en-US" sz="840" dirty="0">
                <a:solidFill>
                  <a:srgbClr val="9FD3C7"/>
                </a:solidFill>
                <a:latin typeface="Calibri" pitchFamily="34" charset="0"/>
                <a:ea typeface="Calibri" pitchFamily="34" charset="-122"/>
                <a:cs typeface="Calibri" pitchFamily="34" charset="-120"/>
              </a:rPr>
              <a:t>Caso, vista, resultado y extensión: la evidencia se puede ubicar sin abrir la bitácora.</a:t>
            </a:r>
            <a:endParaRPr lang="en-US" sz="84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806440" y="2395728"/>
          <a:ext cx="5815584" cy="914400"/>
        </p:xfrm>
        <a:graphic>
          <a:graphicData uri="http://schemas.openxmlformats.org/drawingml/2006/table">
            <a:tbl>
              <a:tblPr/>
              <a:tblGrid>
                <a:gridCol w="1600200"/>
                <a:gridCol w="2011680"/>
                <a:gridCol w="2203704"/>
              </a:tblGrid>
              <a:tr h="530352">
                <a:tc>
                  <a:txBody>
                    <a:bodyPr/>
                    <a:lstStyle/>
                    <a:p>
                      <a:pPr indent="0" marL="0">
                        <a:buNone/>
                      </a:pPr>
                      <a:r>
                        <a:rPr lang="en-US" sz="800" b="1" dirty="0">
                          <a:solidFill>
                            <a:srgbClr val="FFFFFF"/>
                          </a:solidFill>
                        </a:rPr>
                        <a:t>Grupo</a:t>
                      </a:r>
                      <a:endParaRPr lang="en-US" sz="80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rPr>
                        <a:t>Archivos</a:t>
                      </a:r>
                      <a:endParaRPr lang="en-US" sz="80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rPr>
                        <a:t>Qué demuestra</a:t>
                      </a:r>
                      <a:endParaRPr lang="en-US" sz="80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530352">
                <a:tc>
                  <a:txBody>
                    <a:bodyPr/>
                    <a:lstStyle/>
                    <a:p>
                      <a:pPr indent="0" marL="0">
                        <a:buNone/>
                      </a:pPr>
                      <a:r>
                        <a:rPr lang="en-US" sz="850" dirty="0">
                          <a:solidFill>
                            <a:srgbClr val="1A2A25"/>
                          </a:solidFill>
                        </a:rPr>
                        <a:t>CP001–CP004</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6 PNG + request/response</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Validación funcional y duplicado.</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530352">
                <a:tc>
                  <a:txBody>
                    <a:bodyPr/>
                    <a:lstStyle/>
                    <a:p>
                      <a:pPr indent="0" marL="0">
                        <a:buNone/>
                      </a:pPr>
                      <a:r>
                        <a:rPr lang="en-US" sz="850" dirty="0">
                          <a:solidFill>
                            <a:srgbClr val="1A2A25"/>
                          </a:solidFill>
                        </a:rPr>
                        <a:t>CP005–CP007</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JSON + TXT</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Login, logout y RBAC.</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530352">
                <a:tc>
                  <a:txBody>
                    <a:bodyPr/>
                    <a:lstStyle/>
                    <a:p>
                      <a:pPr indent="0" marL="0">
                        <a:buNone/>
                      </a:pPr>
                      <a:r>
                        <a:rPr lang="en-US" sz="850" dirty="0">
                          <a:solidFill>
                            <a:srgbClr val="1A2A25"/>
                          </a:solidFill>
                        </a:rPr>
                        <a:t>CP008</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PDF + TXT</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Integridad documental y tiempos.</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530352">
                <a:tc>
                  <a:txBody>
                    <a:bodyPr/>
                    <a:lstStyle/>
                    <a:p>
                      <a:pPr indent="0" marL="0">
                        <a:buNone/>
                      </a:pPr>
                      <a:r>
                        <a:rPr lang="en-US" sz="850" dirty="0">
                          <a:solidFill>
                            <a:srgbClr val="1A2A25"/>
                          </a:solidFill>
                        </a:rPr>
                        <a:t>SonarQube</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5 JSON/TXT</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Análisis estático y Quality Gate.</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21" name="Text 18"/>
          <p:cNvSpPr/>
          <p:nvPr/>
        </p:nvSpPr>
        <p:spPr>
          <a:xfrm>
            <a:off x="5806440" y="5394960"/>
            <a:ext cx="5760720" cy="228600"/>
          </a:xfrm>
          <a:prstGeom prst="rect">
            <a:avLst/>
          </a:prstGeom>
          <a:noFill/>
          <a:ln/>
        </p:spPr>
        <p:txBody>
          <a:bodyPr wrap="square" lIns="0" tIns="0" rIns="0" bIns="0" rtlCol="0" anchor="t"/>
          <a:lstStyle/>
          <a:p>
            <a:pPr algn="l" indent="0" marL="0">
              <a:buNone/>
            </a:pPr>
            <a:r>
              <a:rPr lang="en-US" sz="860" i="1" dirty="0">
                <a:solidFill>
                  <a:srgbClr val="5C6D67"/>
                </a:solidFill>
                <a:latin typeface="Calibri" pitchFamily="34" charset="0"/>
                <a:ea typeface="Calibri" pitchFamily="34" charset="-122"/>
                <a:cs typeface="Calibri" pitchFamily="34" charset="-120"/>
              </a:rPr>
              <a:t>La bitácora completa está en U2.3_Ejecucion/Bitacora_Ejecucion_2.3_Cuidarte.docx.</a:t>
            </a:r>
            <a:endParaRPr lang="en-US" sz="860" dirty="0"/>
          </a:p>
        </p:txBody>
      </p:sp>
      <p:sp>
        <p:nvSpPr>
          <p:cNvPr id="22" name="Text 19"/>
          <p:cNvSpPr/>
          <p:nvPr/>
        </p:nvSpPr>
        <p:spPr>
          <a:xfrm>
            <a:off x="5806440" y="5669280"/>
            <a:ext cx="5760720" cy="228600"/>
          </a:xfrm>
          <a:prstGeom prst="rect">
            <a:avLst/>
          </a:prstGeom>
          <a:noFill/>
          <a:ln/>
        </p:spPr>
        <p:txBody>
          <a:bodyPr wrap="square" lIns="0" tIns="0" rIns="0" bIns="0" rtlCol="0" anchor="t"/>
          <a:lstStyle/>
          <a:p>
            <a:pPr algn="l" indent="0" marL="0">
              <a:buNone/>
            </a:pPr>
            <a:r>
              <a:rPr lang="en-US" sz="900" b="1" dirty="0">
                <a:solidFill>
                  <a:srgbClr val="123B33"/>
                </a:solidFill>
                <a:latin typeface="Calibri" pitchFamily="34" charset="0"/>
                <a:ea typeface="Calibri" pitchFamily="34" charset="-122"/>
                <a:cs typeface="Calibri" pitchFamily="34" charset="-120"/>
              </a:rPr>
              <a:t>Cada resultado Pass o Fail tiene al menos un archivo asociado.</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ISY1102 · Seguridad y Calidad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Cuidarte+ · Auditoría de calidad, seguridad y cumplimiento normativo</dc:title>
  <dc:subject>Evaluación Parcial 4 · Presentación</dc:subject>
  <dc:creator>Benjamín Ibáñez · Gerardo Vera</dc:creator>
  <cp:lastModifiedBy>Benjamín Ibáñez · Gerardo Vera</cp:lastModifiedBy>
  <cp:revision>1</cp:revision>
  <dcterms:created xsi:type="dcterms:W3CDTF">2026-10-19T22:15:12Z</dcterms:created>
  <dcterms:modified xsi:type="dcterms:W3CDTF">2026-10-19T22:15:12Z</dcterms:modified>
</cp:coreProperties>
</file>