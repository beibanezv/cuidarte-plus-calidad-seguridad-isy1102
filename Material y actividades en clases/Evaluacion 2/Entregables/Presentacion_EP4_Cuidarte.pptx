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Issues</c:v>
                </c:pt>
              </c:strCache>
            </c:strRef>
          </c:tx>
          <c:spPr>
            <a:solidFill>
              <a:srgbClr val="A93A2E"/>
            </a:solidFill>
            <a:effectLst/>
          </c:spPr>
          <c:invertIfNegative val="0"/>
          <c:dLbls>
            <c:numFmt formatCode="#,##0" sourceLinked="0"/>
            <c:txPr>
              <a:bodyPr/>
              <a:lstStyle/>
              <a:p>
                <a:pPr>
                  <a:defRPr b="0" i="0" strike="noStrike" sz="800" u="none">
                    <a:solidFill>
                      <a:srgbClr val="1A2A25"/>
                    </a:solidFill>
                    <a:latin typeface="Courier New"/>
                  </a:defRPr>
                </a:pPr>
              </a:p>
            </c:txPr>
            <c:showLegendKey val="0"/>
            <c:showVal val="1"/>
            <c:showCatName val="0"/>
            <c:showSerName val="0"/>
            <c:showPercent val="0"/>
            <c:showBubbleSize val="0"/>
            <c:showLeaderLines val="0"/>
          </c:dLbls>
          <c:dPt>
            <c:idx val="0"/>
            <c:invertIfNegative val="0"/>
            <c:bubble3D val="0"/>
            <c:spPr>
              <a:solidFill>
                <a:srgbClr val="A93A2E"/>
              </a:solidFill>
              <a:effectLst/>
            </c:spPr>
          </c:dPt>
          <c:dPt>
            <c:idx val="1"/>
            <c:invertIfNegative val="0"/>
            <c:bubble3D val="0"/>
            <c:spPr>
              <a:solidFill>
                <a:srgbClr val="C98A1E"/>
              </a:solidFill>
              <a:effectLst/>
            </c:spPr>
          </c:dPt>
          <c:dPt>
            <c:idx val="2"/>
            <c:invertIfNegative val="0"/>
            <c:bubble3D val="0"/>
            <c:spPr>
              <a:solidFill>
                <a:srgbClr val="5C6D67"/>
              </a:solidFill>
              <a:effectLst/>
            </c:spPr>
          </c:dPt>
          <c:dPt>
            <c:idx val="3"/>
            <c:invertIfNegative val="0"/>
            <c:bubble3D val="0"/>
            <c:spPr>
              <a:solidFill>
                <a:srgbClr val="8A9A94"/>
              </a:solidFill>
              <a:effectLst/>
            </c:spPr>
          </c:dPt>
          <c:cat>
            <c:multiLvlStrRef>
              <c:f>Sheet1!$A$2:$A$5</c:f>
              <c:multiLvlStrCache>
                <c:ptCount val="4"/>
                <c:lvl>
                  <c:pt idx="0">
                    <c:v>Crítico</c:v>
                  </c:pt>
                  <c:pt idx="1">
                    <c:v>Major</c:v>
                  </c:pt>
                  <c:pt idx="2">
                    <c:v>Minor</c:v>
                  </c:pt>
                  <c:pt idx="3">
                    <c:v>Info</c:v>
                  </c:pt>
                </c:lvl>
              </c:multiLvlStrCache>
            </c:multiLvlStrRef>
          </c:cat>
          <c:val>
            <c:numRef>
              <c:f>Sheet1!$B$2:$B$5</c:f>
              <c:numCache>
                <c:formatCode>General</c:formatCode>
                <c:ptCount val="4"/>
                <c:pt idx="0">
                  <c:v>8</c:v>
                </c:pt>
                <c:pt idx="1">
                  <c:v>32</c:v>
                </c:pt>
                <c:pt idx="2">
                  <c:v>32</c:v>
                </c:pt>
                <c:pt idx="3">
                  <c:v>1</c:v>
                </c:pt>
              </c:numCache>
            </c:numRef>
          </c:val>
        </c:ser>
        <c:dLbls>
          <c:numFmt formatCode="#,##0" sourceLinked="0"/>
          <c:txPr>
            <a:bodyPr/>
            <a:lstStyle/>
            <a:p>
              <a:pPr>
                <a:defRPr b="0" i="0" strike="noStrike" sz="800" u="none">
                  <a:solidFill>
                    <a:srgbClr val="1A2A25"/>
                  </a:solidFill>
                  <a:latin typeface="Courier New"/>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800" b="0" i="0" u="none" strike="noStrike">
                <a:solidFill>
                  <a:srgbClr val="5C6D67"/>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00:00–00:20 · Portada.
Buenos días. Somos Benjamín Ibáñez y Gerardo Vera González. Presentamos la auditoría de calidad, seguridad y cumplimiento normativo de Cuidarte+, ejecutada sobre el módulo de pacientes y los controles que protegen los datos clínicos.
El resultado central está a la vista: ocho casos ejecutados, siete aprobados y un fallo reproducible. La línea que cruza la portada no es decorativa: es la evidencia del CP006, un token que sigue funcionando después del logout.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00:20–00:55 · El caso.
Cuidarte+ es una plataforma para centros de salud: pacientes, exámenes y documentos clínicos. No auditamos toda la plataforma: priorizamos el registro de pacientes y la cadena de controles que lo rodea.
Los tres roles del ERS son la base del modelo de autorización: admin con acceso total, médico con información clínica y paciente solo lectura. Si un control de rol falla, falla la separación entre esos mundos.
Dato para preguntas: el alcance se declara explícitamente para no convertir una prueba acotada en una promesa de seguridad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00:55–01:55 · Estrategia.
La estrategia no fue probar todo: fue ordenar por riesgo. La matriz cruza impacto y probabilidad. Los riesgos del Plan Maestro son RS-01 escalación de JWT, RS-02 fuga de datos clínicos, RS-03 lentitud por el delay de cinco segundos y RS-04 auditoría incompleta.
Ese orden explica por qué seguridad e integridad pesan más que una cobertura funcional amplia: Cuidarte+ trata datos sensibles de salud, y la Ley 19.628 exige confidencialidad mientras la Ley 20.584 exige control y trazabilidad de la ficha. La ejecución combina revisión manual contra OWASP, análisis estático y evidencia reproducible en Docker con PostgreSQL.
Si preguntan por carga: no se simularon 200 usuarios; se declara como trabajo futuro, no se inventa.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01:55–02:50 · Tipos de prueba, primera parte.
Este slide responde al 38% de la rúbrica: qué tipos se aplicaron, de dónde salen y qué impacto tienen. No elegimos técnicas al azar: cada bloque nace de un requisito y de un riesgo.
Funcional: cuatro casos sobre el registro de pacientes, con positivo, negativo, duplicado y borde. Seguridad: tres casos sobre JWT, logout y RBAC. Integridad: un caso de carga y descarga con SHA-256. Estático: SonarQube sobre 10.133 líneas.
La frase final es importante: no vendemos cobertura total; vendemos cobertura priorizada y declarada.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02:50–03:45 · Tipos de prueba, segunda parte.
Aquí está el impacto real de cada tipo. Funcional detecta datos inválidos antes de que lleguen a la base. Seguridad detecta que un token reutilizado sigue dando 200 y que un paciente no puede modificar un examen, que sí funciona con 403. Integridad demuestra que el archivo subido y el descargado tienen el mismo SHA-256. Estático encuentra 73 issues, ocho críticos.
También declaro lo que no se probó: carga, usabilidad y DAST. Y lo digo con una frase que vale para toda la defensa: no probado no es aprobado.
Pregunta probable: ¿por qué los tiempos son de cinco segundos? Por el middleware delay de cinco segundos del backend, que se aplica a pacientes, exámenes y documentos. Por eso no los uso como aprobación de rendimiento.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03:45–04:30 · Trazabilidad.
Este es el slide que responde a la cobertura: siete requisitos priorizados del ERS, ocho casos y evidencia archivada para los cuatro casos formales. Hay una distinción honesta: cuatro RQ tienen caso formal y tres se verificaron por observación, revisión de código o prueba manual.
RQ-04, tiempos, se observa con CP007 y CP008. RQ-05, auditoría, se revisa en el código (insert en pacientes.js) y se apoya en CP001. RQ-06, RUT, se prueba manualmente y se documenta como H-03, sin captura archivada.
Cobertura de requisitos no es cobertura de código. SonarQube marca 0,0% de cobertura automatizada y eso también es un hallazgo de calidad.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04:30–05:10 · Herramientas.
Cada herramienta tiene una función distinta. Docker Compose permite reproducir el entorno; Swagger/OpenAPI da el contrato; curl y Postman capturan la evidencia; PostgreSQL permite verificar el efecto real, por ejemplo que el intento de CP007 no cambió la base; SonarQube hace el análisis estático.
No usamos ZAP. Lo digo antes de que lo pregunten: no se ejecutó y queda como trabajo futuro. Es más honesto declararlo que presentar un escaneo que no existe.
Si preguntan por SonarQube: versión 9.9.8, perfil OWASP, 10.133 líneas, Quality Gate OK, aunque el gate no tenía condiciones configuradas.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05:10–06:00 · Ejecución.
Dos jornadas. El 6 de octubre ejecutamos CP001 a CP004: registro válido, email inválido, duplicado y borde de nombre. Cuatro pass. El 16 de octubre ejecutamos CP005 a CP008: login, reuso de token, RBAC e integridad documental, más SonarQube. Tres pass y un fail.
La captura de la izquierda es CP003: el formulario muestra el error y la red confirma 400. La tarjeta roja es CP006: después del logout, el token anterior sigue devolviendo 200 con la lista completa de pacientes. Ese es el fallo que sostiene el veredicto condicionado.
Pregunta probable: ¿el fail es del cliente o del servidor? Del servidor: no hay lista de revocación ni invalidación del token; el logout solo elimina el token del navegador.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06:00–07:10 · Hallazgos.
Siete hallazgos, clasificados con una escala explícita: crítico, grave, moderado y leve. El crítico es H-01: las contraseñas se guardan y comparan en texto plano en auth.js, líneas 21 y 110. Eso incumple la Ley 19.628 y OWASP A02.
H-02 es el JWT sin revocación y con secreto por defecto; CP006 lo confirma. H-03 es el RUT sin dígito verificador: acepta 21.437.351-4 aunque el DV real es 3. H-04 es latente: express.static sirve /files/documentos sin autenticación.
H-05, H-06 y H-07 son moderados y leve: delay de cinco segundos, CORS abierto y mensajes internos expuestos. La clasificación no es decorativa: define qué se corrige antes de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07:10–08:00 · SonarQube frente al marco legal.
El Quality Gate está en verde, aunque el gate no tenía condiciones configuradas: ese verde certifica que el análisis corrió, no que se superaran umbrales. Eso suele leerse como "todo bien", pero el propio SonarQube muestra 73 issues, ocho críticos, 0,0% de cobertura y 465 minutos de deuda. Y no ve las contraseñas en texto plano ni la revocación de sesión, porque son fallos de diseño, no patrones que su motor detecte.
Por eso el slide cruza cada hallazgo con la norma: H-01 y H-02 con OWASP A02/A07 y la Ley 19.628; H-03 con la Ley 20.584; H-04 con OWASP A01 y la Ley 19.628. La ausencia de cobertura se cruza con ISO 25010.
La frase final es la tesis: SonarQube mide patrones; la ley exige deberes.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08:00–08:50 · Reflexiones.
Este slide separa lo que funcionó de lo que no. En calidad, RBAC, validaciones y auditoría responden; la brecha es deuda técnica: 73 issues y 14,5% de duplicación. En seguridad, JWT y roles bloquean accesos indebidos; la brecha es H-01 y CP006. En lo normativo, la auditoría y la trazabilidad existen; la Ley 19.628 se incumple en H-01, H-02 y H-04. En lo ético, reportamos el fail y declaramos lo que no probamos.
La frase de cierre es la que quiero dejar: una auditoría se mide por lo que revela, no por lo que confirma.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08:50–09:20 · Veredicto y cierre de la presentación.
El veredicto es GO CONDICIONADO. El sistema puede seguir en desarrollo y puede usarse en un entorno controlado, pero no pasa a producción con datos reales hasta corregir cuatro cosas: hash de contraseñas, revocación de JWT y secreto por entorno, validación del dígito verificador del RUT y autenticación en /files/documentos.
Cada acción tiene un criterio de aceptación verificable. No decimos "mejorar la seguridad"; decimos qué se corrige y cómo se comprueba.
Si H-01 a H-04 no se corrigen, el veredicto cambia a NO-GO. Con datos clínicos, la seguridad es un deber de cuidado, no un ítem de checklist.
[Cierre a los 09:40, con 20 segundos de margen. Los anexos quedan para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09:20–09:40 · Cierre. Agradecer y abrir preguntas. Si la pregunta es de detalle, saltar al anexo correspondiente: A casos, B SonarQube, C normativa, D evidencias.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 Detalle de los ocho casos, su requisito, tipo, resultado y archivo de evidencia. Usar si preguntan por un caso específico o por la nomenclatura.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B. Métricas completas de SonarQube y los ocho issues críticos S3776 con su complejidad. Si preguntan por qué el gate pasa con 0% de cobertura: el proyecto no tenía condiciones configuradas en el gate, así que el verde no equivale a una auditoría integral; la cobertura ausente se reporta como brecha.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C. Marco normativo y mapeo con los hallazgos. La aclaración final es importante: somos estudiantes de ingeniería, no abogados; esto es una lectura técnica, no asesoría legal.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D. Inventario de evidencias: 28 archivos, 6 capturas PNG, 15 JSON, 6 TXT y 1 PDF. La convención permite ubicar caso, vista y resultado sin abrir la bitácora. Si preguntan por una evidencia puntual, se puede mostrar el archivo en el explorador.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B33"/>
        </a:solidFill>
      </p:bgPr>
    </p:bg>
    <p:spTree>
      <p:nvGrpSpPr>
        <p:cNvPr id="1" name=""/>
        <p:cNvGrpSpPr/>
        <p:nvPr/>
      </p:nvGrpSpPr>
      <p:grpSpPr>
        <a:xfrm>
          <a:off x="0" y="0"/>
          <a:ext cx="0" cy="0"/>
          <a:chOff x="0" y="0"/>
          <a:chExt cx="0" cy="0"/>
        </a:xfrm>
      </p:grpSpPr>
      <p:sp>
        <p:nvSpPr>
          <p:cNvPr id="2" name="Shape 0"/>
          <p:cNvSpPr/>
          <p:nvPr/>
        </p:nvSpPr>
        <p:spPr>
          <a:xfrm>
            <a:off x="566928" y="475488"/>
            <a:ext cx="82296" cy="82296"/>
          </a:xfrm>
          <a:prstGeom prst="rect">
            <a:avLst/>
          </a:prstGeom>
          <a:solidFill>
            <a:srgbClr val="C98A1E"/>
          </a:solidFill>
          <a:ln w="12700">
            <a:solidFill>
              <a:srgbClr val="C98A1E"/>
            </a:solidFill>
            <a:prstDash val="solid"/>
          </a:ln>
        </p:spPr>
      </p:sp>
      <p:sp>
        <p:nvSpPr>
          <p:cNvPr id="3" name="Text 1"/>
          <p:cNvSpPr/>
          <p:nvPr/>
        </p:nvSpPr>
        <p:spPr>
          <a:xfrm>
            <a:off x="749808" y="393192"/>
            <a:ext cx="7315200" cy="219456"/>
          </a:xfrm>
          <a:prstGeom prst="rect">
            <a:avLst/>
          </a:prstGeom>
          <a:noFill/>
          <a:ln/>
        </p:spPr>
        <p:txBody>
          <a:bodyPr wrap="square" lIns="0" tIns="0" rIns="0" bIns="0" rtlCol="0" anchor="t"/>
          <a:lstStyle/>
          <a:p>
            <a:pPr algn="l" indent="0" marL="0">
              <a:buNone/>
            </a:pPr>
            <a:r>
              <a:rPr lang="en-US" sz="850" b="1" spc="160" kern="0" dirty="0">
                <a:solidFill>
                  <a:srgbClr val="9FD3C7"/>
                </a:solidFill>
                <a:latin typeface="Courier New" pitchFamily="34" charset="0"/>
                <a:ea typeface="Courier New" pitchFamily="34" charset="-122"/>
                <a:cs typeface="Courier New" pitchFamily="34" charset="-120"/>
              </a:rPr>
              <a:t>ISY1102 · EVALUACIÓN PARCIAL 4</a:t>
            </a:r>
            <a:endParaRPr lang="en-US" sz="850" dirty="0"/>
          </a:p>
        </p:txBody>
      </p:sp>
      <p:sp>
        <p:nvSpPr>
          <p:cNvPr id="4" name="Text 2"/>
          <p:cNvSpPr/>
          <p:nvPr/>
        </p:nvSpPr>
        <p:spPr>
          <a:xfrm>
            <a:off x="566928" y="1078992"/>
            <a:ext cx="9052560" cy="2423160"/>
          </a:xfrm>
          <a:prstGeom prst="rect">
            <a:avLst/>
          </a:prstGeom>
          <a:noFill/>
          <a:ln/>
        </p:spPr>
        <p:txBody>
          <a:bodyPr wrap="square" lIns="0" tIns="0" rIns="0" bIns="0" rtlCol="0" anchor="t"/>
          <a:lstStyle/>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Verificando la calidad,</a:t>
            </a:r>
            <a:endParaRPr lang="en-US" sz="4000" dirty="0"/>
          </a:p>
          <a:p>
            <a:pPr indent="0" marL="0">
              <a:lnSpc>
                <a:spcPts val="4800"/>
              </a:lnSpc>
              <a:buNone/>
            </a:pPr>
            <a:r>
              <a:rPr lang="en-US" sz="4000" b="1" dirty="0">
                <a:solidFill>
                  <a:srgbClr val="FFFFFF"/>
                </a:solidFill>
                <a:latin typeface="Cambria" pitchFamily="34" charset="0"/>
                <a:ea typeface="Cambria" pitchFamily="34" charset="-122"/>
                <a:cs typeface="Cambria" pitchFamily="34" charset="-120"/>
              </a:rPr>
              <a:t>la seguridad y el</a:t>
            </a:r>
            <a:endParaRPr lang="en-US" sz="4000" dirty="0"/>
          </a:p>
          <a:p>
            <a:pPr indent="0" marL="0">
              <a:lnSpc>
                <a:spcPts val="4800"/>
              </a:lnSpc>
              <a:buNone/>
            </a:pPr>
            <a:r>
              <a:rPr lang="en-US" sz="4000" b="1" dirty="0">
                <a:solidFill>
                  <a:srgbClr val="9FD3C7"/>
                </a:solidFill>
                <a:latin typeface="Cambria" pitchFamily="34" charset="0"/>
                <a:ea typeface="Cambria" pitchFamily="34" charset="-122"/>
                <a:cs typeface="Cambria" pitchFamily="34" charset="-120"/>
              </a:rPr>
              <a:t>cumplimiento normativo</a:t>
            </a:r>
            <a:endParaRPr lang="en-US" sz="4000" dirty="0"/>
          </a:p>
        </p:txBody>
      </p:sp>
      <p:sp>
        <p:nvSpPr>
          <p:cNvPr id="5" name="Text 3"/>
          <p:cNvSpPr/>
          <p:nvPr/>
        </p:nvSpPr>
        <p:spPr>
          <a:xfrm>
            <a:off x="566928" y="3639312"/>
            <a:ext cx="8686800" cy="365760"/>
          </a:xfrm>
          <a:prstGeom prst="rect">
            <a:avLst/>
          </a:prstGeom>
          <a:noFill/>
          <a:ln/>
        </p:spPr>
        <p:txBody>
          <a:bodyPr wrap="square" lIns="0" tIns="0" rIns="0" bIns="0" rtlCol="0" anchor="t"/>
          <a:lstStyle/>
          <a:p>
            <a:pPr algn="l" indent="0" marL="0">
              <a:buNone/>
            </a:pPr>
            <a:r>
              <a:rPr lang="en-US" sz="1550" dirty="0">
                <a:solidFill>
                  <a:srgbClr val="DCEBE5"/>
                </a:solidFill>
                <a:latin typeface="Calibri" pitchFamily="34" charset="0"/>
                <a:ea typeface="Calibri" pitchFamily="34" charset="-122"/>
                <a:cs typeface="Calibri" pitchFamily="34" charset="-120"/>
              </a:rPr>
              <a:t>Auditoría técnica de Cuidarte+ · Módulo de pacientes</a:t>
            </a:r>
            <a:endParaRPr lang="en-US" sz="1550" dirty="0"/>
          </a:p>
        </p:txBody>
      </p:sp>
      <p:sp>
        <p:nvSpPr>
          <p:cNvPr id="6" name="Text 4"/>
          <p:cNvSpPr/>
          <p:nvPr/>
        </p:nvSpPr>
        <p:spPr>
          <a:xfrm>
            <a:off x="566928" y="4370832"/>
            <a:ext cx="2834640" cy="182880"/>
          </a:xfrm>
          <a:prstGeom prst="rect">
            <a:avLst/>
          </a:prstGeom>
          <a:noFill/>
          <a:ln/>
        </p:spPr>
        <p:txBody>
          <a:bodyPr wrap="square" lIns="0" tIns="0" rIns="0" bIns="0" rtlCol="0" anchor="t"/>
          <a:lstStyle/>
          <a:p>
            <a:pPr algn="l" indent="0" marL="0">
              <a:buNone/>
            </a:pPr>
            <a:r>
              <a:rPr lang="en-US" sz="720" spc="150" kern="0" dirty="0">
                <a:solidFill>
                  <a:srgbClr val="9FD3C7"/>
                </a:solidFill>
                <a:latin typeface="Courier New" pitchFamily="34" charset="0"/>
                <a:ea typeface="Courier New" pitchFamily="34" charset="-122"/>
                <a:cs typeface="Courier New" pitchFamily="34" charset="-120"/>
              </a:rPr>
              <a:t>EQUIPO</a:t>
            </a:r>
            <a:endParaRPr lang="en-US" sz="720" dirty="0"/>
          </a:p>
        </p:txBody>
      </p:sp>
      <p:sp>
        <p:nvSpPr>
          <p:cNvPr id="7" name="Text 5"/>
          <p:cNvSpPr/>
          <p:nvPr/>
        </p:nvSpPr>
        <p:spPr>
          <a:xfrm>
            <a:off x="566928" y="4590288"/>
            <a:ext cx="2926080" cy="274320"/>
          </a:xfrm>
          <a:prstGeom prst="rect">
            <a:avLst/>
          </a:prstGeom>
          <a:noFill/>
          <a:ln/>
        </p:spPr>
        <p:txBody>
          <a:bodyPr wrap="square" lIns="0" tIns="0" rIns="0" bIns="0"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Benjamín Ibáñez · Gerardo Vera González</a:t>
            </a:r>
            <a:endParaRPr lang="en-US" sz="1050" dirty="0"/>
          </a:p>
        </p:txBody>
      </p:sp>
      <p:sp>
        <p:nvSpPr>
          <p:cNvPr id="8" name="Text 6"/>
          <p:cNvSpPr/>
          <p:nvPr/>
        </p:nvSpPr>
        <p:spPr>
          <a:xfrm>
            <a:off x="3721608" y="4370832"/>
            <a:ext cx="2834640" cy="182880"/>
          </a:xfrm>
          <a:prstGeom prst="rect">
            <a:avLst/>
          </a:prstGeom>
          <a:noFill/>
          <a:ln/>
        </p:spPr>
        <p:txBody>
          <a:bodyPr wrap="square" lIns="0" tIns="0" rIns="0" bIns="0" rtlCol="0" anchor="t"/>
          <a:lstStyle/>
          <a:p>
            <a:pPr algn="l" indent="0" marL="0">
              <a:buNone/>
            </a:pPr>
            <a:r>
              <a:rPr lang="en-US" sz="720" spc="150" kern="0" dirty="0">
                <a:solidFill>
                  <a:srgbClr val="9FD3C7"/>
                </a:solidFill>
                <a:latin typeface="Courier New" pitchFamily="34" charset="0"/>
                <a:ea typeface="Courier New" pitchFamily="34" charset="-122"/>
                <a:cs typeface="Courier New" pitchFamily="34" charset="-120"/>
              </a:rPr>
              <a:t>FECHA</a:t>
            </a:r>
            <a:endParaRPr lang="en-US" sz="720" dirty="0"/>
          </a:p>
        </p:txBody>
      </p:sp>
      <p:sp>
        <p:nvSpPr>
          <p:cNvPr id="9" name="Text 7"/>
          <p:cNvSpPr/>
          <p:nvPr/>
        </p:nvSpPr>
        <p:spPr>
          <a:xfrm>
            <a:off x="3721608" y="4590288"/>
            <a:ext cx="2926080" cy="274320"/>
          </a:xfrm>
          <a:prstGeom prst="rect">
            <a:avLst/>
          </a:prstGeom>
          <a:noFill/>
          <a:ln/>
        </p:spPr>
        <p:txBody>
          <a:bodyPr wrap="square" lIns="0" tIns="0" rIns="0" bIns="0"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Octubre 2026</a:t>
            </a:r>
            <a:endParaRPr lang="en-US" sz="1050" dirty="0"/>
          </a:p>
        </p:txBody>
      </p:sp>
      <p:sp>
        <p:nvSpPr>
          <p:cNvPr id="10" name="Text 8"/>
          <p:cNvSpPr/>
          <p:nvPr/>
        </p:nvSpPr>
        <p:spPr>
          <a:xfrm>
            <a:off x="6876288" y="4370832"/>
            <a:ext cx="2834640" cy="182880"/>
          </a:xfrm>
          <a:prstGeom prst="rect">
            <a:avLst/>
          </a:prstGeom>
          <a:noFill/>
          <a:ln/>
        </p:spPr>
        <p:txBody>
          <a:bodyPr wrap="square" lIns="0" tIns="0" rIns="0" bIns="0" rtlCol="0" anchor="t"/>
          <a:lstStyle/>
          <a:p>
            <a:pPr algn="l" indent="0" marL="0">
              <a:buNone/>
            </a:pPr>
            <a:r>
              <a:rPr lang="en-US" sz="720" spc="150" kern="0" dirty="0">
                <a:solidFill>
                  <a:srgbClr val="9FD3C7"/>
                </a:solidFill>
                <a:latin typeface="Courier New" pitchFamily="34" charset="0"/>
                <a:ea typeface="Courier New" pitchFamily="34" charset="-122"/>
                <a:cs typeface="Courier New" pitchFamily="34" charset="-120"/>
              </a:rPr>
              <a:t>ALCANCE</a:t>
            </a:r>
            <a:endParaRPr lang="en-US" sz="720" dirty="0"/>
          </a:p>
        </p:txBody>
      </p:sp>
      <p:sp>
        <p:nvSpPr>
          <p:cNvPr id="11" name="Text 9"/>
          <p:cNvSpPr/>
          <p:nvPr/>
        </p:nvSpPr>
        <p:spPr>
          <a:xfrm>
            <a:off x="6876288" y="4590288"/>
            <a:ext cx="2926080" cy="274320"/>
          </a:xfrm>
          <a:prstGeom prst="rect">
            <a:avLst/>
          </a:prstGeom>
          <a:noFill/>
          <a:ln/>
        </p:spPr>
        <p:txBody>
          <a:bodyPr wrap="square" lIns="0" tIns="0" rIns="0" bIns="0" rtlCol="0" anchor="t"/>
          <a:lstStyle/>
          <a:p>
            <a:pPr algn="l" indent="0" marL="0">
              <a:buNone/>
            </a:pPr>
            <a:r>
              <a:rPr lang="en-US" sz="1050" dirty="0">
                <a:solidFill>
                  <a:srgbClr val="FFFFFF"/>
                </a:solidFill>
                <a:latin typeface="Calibri" pitchFamily="34" charset="0"/>
                <a:ea typeface="Calibri" pitchFamily="34" charset="-122"/>
                <a:cs typeface="Calibri" pitchFamily="34" charset="-120"/>
              </a:rPr>
              <a:t>8 casos · 7 pass · 1 fail</a:t>
            </a:r>
            <a:endParaRPr lang="en-US" sz="1050" dirty="0"/>
          </a:p>
        </p:txBody>
      </p:sp>
      <p:sp>
        <p:nvSpPr>
          <p:cNvPr id="12" name="Text 10"/>
          <p:cNvSpPr/>
          <p:nvPr/>
        </p:nvSpPr>
        <p:spPr>
          <a:xfrm>
            <a:off x="2148840" y="5010912"/>
            <a:ext cx="3291840" cy="201168"/>
          </a:xfrm>
          <a:prstGeom prst="rect">
            <a:avLst/>
          </a:prstGeom>
          <a:noFill/>
          <a:ln/>
        </p:spPr>
        <p:txBody>
          <a:bodyPr wrap="square" lIns="0" tIns="0" rIns="0" bIns="0" rtlCol="0" anchor="t"/>
          <a:lstStyle/>
          <a:p>
            <a:pPr algn="l" indent="0" marL="0">
              <a:buNone/>
            </a:pPr>
            <a:r>
              <a:rPr lang="en-US" sz="740" b="1" spc="90" kern="0" dirty="0">
                <a:solidFill>
                  <a:srgbClr val="E07A6E"/>
                </a:solidFill>
                <a:latin typeface="Courier New" pitchFamily="34" charset="0"/>
                <a:ea typeface="Courier New" pitchFamily="34" charset="-122"/>
                <a:cs typeface="Courier New" pitchFamily="34" charset="-120"/>
              </a:rPr>
              <a:t>CP006 · SESIÓN NO REVOCADA</a:t>
            </a:r>
            <a:endParaRPr lang="en-US" sz="740" dirty="0"/>
          </a:p>
        </p:txBody>
      </p:sp>
      <p:pic>
        <p:nvPicPr>
          <p:cNvPr id="13" name="Image 0" descr="C:\Users\ibane\AppData\Local\Temp\opencode\ecg.png">    </p:cNvPr>
          <p:cNvPicPr>
            <a:picLocks noChangeAspect="1"/>
          </p:cNvPicPr>
          <p:nvPr/>
        </p:nvPicPr>
        <p:blipFill>
          <a:blip r:embed="rId1"/>
          <a:stretch>
            <a:fillRect/>
          </a:stretch>
        </p:blipFill>
        <p:spPr>
          <a:xfrm>
            <a:off x="566928" y="5376672"/>
            <a:ext cx="11055096" cy="841248"/>
          </a:xfrm>
          <a:prstGeom prst="rect">
            <a:avLst/>
          </a:prstGeom>
        </p:spPr>
      </p:pic>
      <p:sp>
        <p:nvSpPr>
          <p:cNvPr id="14" name="Text 11"/>
          <p:cNvSpPr/>
          <p:nvPr/>
        </p:nvSpPr>
        <p:spPr>
          <a:xfrm>
            <a:off x="566928" y="6547104"/>
            <a:ext cx="5943600" cy="182880"/>
          </a:xfrm>
          <a:prstGeom prst="rect">
            <a:avLst/>
          </a:prstGeom>
          <a:noFill/>
          <a:ln/>
        </p:spPr>
        <p:txBody>
          <a:bodyPr wrap="square" lIns="0" tIns="0" rIns="0" bIns="0" rtlCol="0" anchor="t"/>
          <a:lstStyle/>
          <a:p>
            <a:pPr algn="l" indent="0" marL="0">
              <a:buNone/>
            </a:pPr>
            <a:r>
              <a:rPr lang="en-US" sz="730" spc="60" kern="0" dirty="0">
                <a:solidFill>
                  <a:srgbClr val="9FD3C7"/>
                </a:solidFill>
                <a:latin typeface="Courier New" pitchFamily="34" charset="0"/>
                <a:ea typeface="Courier New" pitchFamily="34" charset="-122"/>
                <a:cs typeface="Courier New" pitchFamily="34" charset="-120"/>
              </a:rPr>
              <a:t>Cuidarte+ · Auditoría de calidad y seguridad</a:t>
            </a:r>
            <a:endParaRPr lang="en-US" sz="730" dirty="0"/>
          </a:p>
        </p:txBody>
      </p:sp>
      <p:sp>
        <p:nvSpPr>
          <p:cNvPr id="15" name="Text 12"/>
          <p:cNvSpPr/>
          <p:nvPr/>
        </p:nvSpPr>
        <p:spPr>
          <a:xfrm>
            <a:off x="10561320" y="6547104"/>
            <a:ext cx="1060704" cy="182880"/>
          </a:xfrm>
          <a:prstGeom prst="rect">
            <a:avLst/>
          </a:prstGeom>
          <a:noFill/>
          <a:ln/>
        </p:spPr>
        <p:txBody>
          <a:bodyPr wrap="square" lIns="0" tIns="0" rIns="0" bIns="0" rtlCol="0" anchor="t"/>
          <a:lstStyle/>
          <a:p>
            <a:pPr algn="r" indent="0" marL="0">
              <a:buNone/>
            </a:pPr>
            <a:r>
              <a:rPr lang="en-US" sz="730" spc="60" kern="0" dirty="0">
                <a:solidFill>
                  <a:srgbClr val="9FD3C7"/>
                </a:solidFill>
                <a:latin typeface="Courier New" pitchFamily="34" charset="0"/>
                <a:ea typeface="Courier New" pitchFamily="34" charset="-122"/>
                <a:cs typeface="Courier New" pitchFamily="34" charset="-120"/>
              </a:rPr>
              <a:t>01 / 17</a:t>
            </a:r>
            <a:endParaRPr lang="en-US" sz="7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566928" y="411480"/>
            <a:ext cx="77724" cy="77724"/>
          </a:xfrm>
          <a:prstGeom prst="rect">
            <a:avLst/>
          </a:prstGeom>
          <a:solidFill>
            <a:srgbClr val="C98A1E"/>
          </a:solidFill>
          <a:ln w="12700">
            <a:solidFill>
              <a:srgbClr val="C98A1E"/>
            </a:solidFill>
            <a:prstDash val="solid"/>
          </a:ln>
        </p:spPr>
      </p:sp>
      <p:sp>
        <p:nvSpPr>
          <p:cNvPr id="3" name="Text 1"/>
          <p:cNvSpPr/>
          <p:nvPr/>
        </p:nvSpPr>
        <p:spPr>
          <a:xfrm>
            <a:off x="731520" y="338328"/>
            <a:ext cx="9601200" cy="201168"/>
          </a:xfrm>
          <a:prstGeom prst="rect">
            <a:avLst/>
          </a:prstGeom>
          <a:noFill/>
          <a:ln/>
        </p:spPr>
        <p:txBody>
          <a:bodyPr wrap="square" lIns="0" tIns="0" rIns="0" bIns="0" rtlCol="0" anchor="t"/>
          <a:lstStyle/>
          <a:p>
            <a:pPr algn="l" indent="0" marL="0">
              <a:buNone/>
            </a:pPr>
            <a:r>
              <a:rPr lang="en-US" sz="800" b="1" spc="130" kern="0" dirty="0">
                <a:solidFill>
                  <a:srgbClr val="5C6D67"/>
                </a:solidFill>
                <a:latin typeface="Courier New" pitchFamily="34" charset="0"/>
                <a:ea typeface="Courier New" pitchFamily="34" charset="-122"/>
                <a:cs typeface="Courier New" pitchFamily="34" charset="-120"/>
              </a:rPr>
              <a:t>01 · CONTEXTO</a:t>
            </a:r>
            <a:endParaRPr lang="en-US" sz="800" dirty="0"/>
          </a:p>
        </p:txBody>
      </p:sp>
      <p:sp>
        <p:nvSpPr>
          <p:cNvPr id="4" name="Text 2"/>
          <p:cNvSpPr/>
          <p:nvPr/>
        </p:nvSpPr>
        <p:spPr>
          <a:xfrm>
            <a:off x="566928" y="640080"/>
            <a:ext cx="11057839" cy="941832"/>
          </a:xfrm>
          <a:prstGeom prst="rect">
            <a:avLst/>
          </a:prstGeom>
          <a:noFill/>
          <a:ln/>
        </p:spPr>
        <p:txBody>
          <a:bodyPr wrap="square" lIns="0" tIns="0" rIns="0" bIns="0" rtlCol="0" anchor="t"/>
          <a:lstStyle/>
          <a:p>
            <a:pPr algn="l" indent="0" marL="0">
              <a:lnSpc>
                <a:spcPts val="3000"/>
              </a:lnSpc>
              <a:buNone/>
            </a:pPr>
            <a:r>
              <a:rPr lang="en-US" sz="2500" b="1" dirty="0">
                <a:solidFill>
                  <a:srgbClr val="1A2A25"/>
                </a:solidFill>
                <a:latin typeface="Cambria" pitchFamily="34" charset="0"/>
                <a:ea typeface="Cambria" pitchFamily="34" charset="-122"/>
                <a:cs typeface="Cambria" pitchFamily="34" charset="-120"/>
              </a:rPr>
              <a:t>Cuidarte+ concentra datos clínicos; la auditoría se enfocó en la puerta de entrada</a:t>
            </a:r>
            <a:endParaRPr lang="en-US" sz="2500" dirty="0"/>
          </a:p>
        </p:txBody>
      </p:sp>
      <p:sp>
        <p:nvSpPr>
          <p:cNvPr id="5" name="Text 3"/>
          <p:cNvSpPr/>
          <p:nvPr/>
        </p:nvSpPr>
        <p:spPr>
          <a:xfrm>
            <a:off x="566928" y="6547104"/>
            <a:ext cx="5943600" cy="182880"/>
          </a:xfrm>
          <a:prstGeom prst="rect">
            <a:avLst/>
          </a:prstGeom>
          <a:noFill/>
          <a:ln/>
        </p:spPr>
        <p:txBody>
          <a:bodyPr wrap="square" lIns="0" tIns="0" rIns="0" bIns="0" rtlCol="0" anchor="t"/>
          <a:lstStyle/>
          <a:p>
            <a:pPr algn="l" indent="0" marL="0">
              <a:buNone/>
            </a:pPr>
            <a:r>
              <a:rPr lang="en-US" sz="730" spc="60" kern="0" dirty="0">
                <a:solidFill>
                  <a:srgbClr val="8A9A94"/>
                </a:solidFill>
                <a:latin typeface="Courier New" pitchFamily="34" charset="0"/>
                <a:ea typeface="Courier New" pitchFamily="34" charset="-122"/>
                <a:cs typeface="Courier New" pitchFamily="34" charset="-120"/>
              </a:rPr>
              <a:t>Cuidarte+ · Auditoría de calidad y seguridad</a:t>
            </a:r>
            <a:endParaRPr lang="en-US" sz="730" dirty="0"/>
          </a:p>
        </p:txBody>
      </p:sp>
      <p:sp>
        <p:nvSpPr>
          <p:cNvPr id="6" name="Text 4"/>
          <p:cNvSpPr/>
          <p:nvPr/>
        </p:nvSpPr>
        <p:spPr>
          <a:xfrm>
            <a:off x="10561320" y="6547104"/>
            <a:ext cx="1060704" cy="182880"/>
          </a:xfrm>
          <a:prstGeom prst="rect">
            <a:avLst/>
          </a:prstGeom>
          <a:noFill/>
          <a:ln/>
        </p:spPr>
        <p:txBody>
          <a:bodyPr wrap="square" lIns="0" tIns="0" rIns="0" bIns="0" rtlCol="0" anchor="t"/>
          <a:lstStyle/>
          <a:p>
            <a:pPr algn="r" indent="0" marL="0">
              <a:buNone/>
            </a:pPr>
            <a:r>
              <a:rPr lang="en-US" sz="730" spc="60" kern="0" dirty="0">
                <a:solidFill>
                  <a:srgbClr val="8A9A94"/>
                </a:solidFill>
                <a:latin typeface="Courier New" pitchFamily="34" charset="0"/>
                <a:ea typeface="Courier New" pitchFamily="34" charset="-122"/>
                <a:cs typeface="Courier New" pitchFamily="34" charset="-120"/>
              </a:rPr>
              <a:t>02 / 17</a:t>
            </a:r>
            <a:endParaRPr lang="en-US" sz="730" dirty="0"/>
          </a:p>
        </p:txBody>
      </p:sp>
      <p:sp>
        <p:nvSpPr>
          <p:cNvPr id="7" name="Text 5"/>
          <p:cNvSpPr/>
          <p:nvPr/>
        </p:nvSpPr>
        <p:spPr>
          <a:xfrm>
            <a:off x="566928" y="1664208"/>
            <a:ext cx="5806440" cy="960120"/>
          </a:xfrm>
          <a:prstGeom prst="rect">
            <a:avLst/>
          </a:prstGeom>
          <a:noFill/>
          <a:ln/>
        </p:spPr>
        <p:txBody>
          <a:bodyPr wrap="square" lIns="0" tIns="0" rIns="0" bIns="0" rtlCol="0" anchor="t"/>
          <a:lstStyle/>
          <a:p>
            <a:pPr algn="l" indent="0" marL="0">
              <a:lnSpc>
                <a:spcPts val="1600"/>
              </a:lnSpc>
              <a:buNone/>
            </a:pPr>
            <a:r>
              <a:rPr lang="en-US" sz="1100" dirty="0">
                <a:solidFill>
                  <a:srgbClr val="1A2A25"/>
                </a:solidFill>
                <a:latin typeface="Calibri" pitchFamily="34" charset="0"/>
                <a:ea typeface="Calibri" pitchFamily="34" charset="-122"/>
                <a:cs typeface="Calibri" pitchFamily="34" charset="-120"/>
              </a:rPr>
              <a:t>Cuidarte+ gestiona pacientes, exámenes y documentos clínicos. El módulo auditado fue el registro de pacientes (POST /pacientes), junto con los controles que protegen esos datos: autenticación, autorización, validación e integridad.</a:t>
            </a:r>
            <a:endParaRPr lang="en-US" sz="1100" dirty="0"/>
          </a:p>
        </p:txBody>
      </p:sp>
      <p:sp>
        <p:nvSpPr>
          <p:cNvPr id="8" name="Shape 6"/>
          <p:cNvSpPr/>
          <p:nvPr/>
        </p:nvSpPr>
        <p:spPr>
          <a:xfrm>
            <a:off x="566928" y="2761488"/>
            <a:ext cx="566928" cy="265176"/>
          </a:xfrm>
          <a:prstGeom prst="roundRect">
            <a:avLst>
              <a:gd name="adj" fmla="val 20690"/>
            </a:avLst>
          </a:prstGeom>
          <a:solidFill>
            <a:srgbClr val="FFFFFF"/>
          </a:solidFill>
          <a:ln w="7620">
            <a:solidFill>
              <a:srgbClr val="D7E0DB"/>
            </a:solidFill>
            <a:prstDash val="solid"/>
          </a:ln>
        </p:spPr>
      </p:sp>
      <p:sp>
        <p:nvSpPr>
          <p:cNvPr id="9" name="Text 7"/>
          <p:cNvSpPr/>
          <p:nvPr/>
        </p:nvSpPr>
        <p:spPr>
          <a:xfrm>
            <a:off x="649224" y="2811780"/>
            <a:ext cx="402336" cy="182880"/>
          </a:xfrm>
          <a:prstGeom prst="rect">
            <a:avLst/>
          </a:prstGeom>
          <a:noFill/>
          <a:ln/>
        </p:spPr>
        <p:txBody>
          <a:bodyPr wrap="square" lIns="0" tIns="0" rIns="0" bIns="0" rtlCol="0" anchor="t"/>
          <a:lstStyle/>
          <a:p>
            <a:pPr algn="l" indent="0" marL="0">
              <a:buNone/>
            </a:pPr>
            <a:r>
              <a:rPr lang="en-US" sz="740" spc="40" kern="0" dirty="0">
                <a:solidFill>
                  <a:srgbClr val="5C6D67"/>
                </a:solidFill>
                <a:latin typeface="Courier New" pitchFamily="34" charset="0"/>
                <a:ea typeface="Courier New" pitchFamily="34" charset="-122"/>
                <a:cs typeface="Courier New" pitchFamily="34" charset="-120"/>
              </a:rPr>
              <a:t>JWT</a:t>
            </a:r>
            <a:endParaRPr lang="en-US" sz="740" dirty="0"/>
          </a:p>
        </p:txBody>
      </p:sp>
      <p:sp>
        <p:nvSpPr>
          <p:cNvPr id="10" name="Shape 8"/>
          <p:cNvSpPr/>
          <p:nvPr/>
        </p:nvSpPr>
        <p:spPr>
          <a:xfrm>
            <a:off x="1243584" y="2761488"/>
            <a:ext cx="658368" cy="265176"/>
          </a:xfrm>
          <a:prstGeom prst="roundRect">
            <a:avLst>
              <a:gd name="adj" fmla="val 20690"/>
            </a:avLst>
          </a:prstGeom>
          <a:solidFill>
            <a:srgbClr val="FFFFFF"/>
          </a:solidFill>
          <a:ln w="7620">
            <a:solidFill>
              <a:srgbClr val="D7E0DB"/>
            </a:solidFill>
            <a:prstDash val="solid"/>
          </a:ln>
        </p:spPr>
      </p:sp>
      <p:sp>
        <p:nvSpPr>
          <p:cNvPr id="11" name="Text 9"/>
          <p:cNvSpPr/>
          <p:nvPr/>
        </p:nvSpPr>
        <p:spPr>
          <a:xfrm>
            <a:off x="1325880" y="2811780"/>
            <a:ext cx="493776" cy="182880"/>
          </a:xfrm>
          <a:prstGeom prst="rect">
            <a:avLst/>
          </a:prstGeom>
          <a:noFill/>
          <a:ln/>
        </p:spPr>
        <p:txBody>
          <a:bodyPr wrap="square" lIns="0" tIns="0" rIns="0" bIns="0" rtlCol="0" anchor="t"/>
          <a:lstStyle/>
          <a:p>
            <a:pPr algn="l" indent="0" marL="0">
              <a:buNone/>
            </a:pPr>
            <a:r>
              <a:rPr lang="en-US" sz="740" spc="40" kern="0" dirty="0">
                <a:solidFill>
                  <a:srgbClr val="5C6D67"/>
                </a:solidFill>
                <a:latin typeface="Courier New" pitchFamily="34" charset="0"/>
                <a:ea typeface="Courier New" pitchFamily="34" charset="-122"/>
                <a:cs typeface="Courier New" pitchFamily="34" charset="-120"/>
              </a:rPr>
              <a:t>RBAC</a:t>
            </a:r>
            <a:endParaRPr lang="en-US" sz="740" dirty="0"/>
          </a:p>
        </p:txBody>
      </p:sp>
      <p:sp>
        <p:nvSpPr>
          <p:cNvPr id="12" name="Shape 10"/>
          <p:cNvSpPr/>
          <p:nvPr/>
        </p:nvSpPr>
        <p:spPr>
          <a:xfrm>
            <a:off x="2011680" y="2761488"/>
            <a:ext cx="1508760" cy="265176"/>
          </a:xfrm>
          <a:prstGeom prst="roundRect">
            <a:avLst>
              <a:gd name="adj" fmla="val 20690"/>
            </a:avLst>
          </a:prstGeom>
          <a:solidFill>
            <a:srgbClr val="FFFFFF"/>
          </a:solidFill>
          <a:ln w="7620">
            <a:solidFill>
              <a:srgbClr val="D7E0DB"/>
            </a:solidFill>
            <a:prstDash val="solid"/>
          </a:ln>
        </p:spPr>
      </p:sp>
      <p:sp>
        <p:nvSpPr>
          <p:cNvPr id="13" name="Text 11"/>
          <p:cNvSpPr/>
          <p:nvPr/>
        </p:nvSpPr>
        <p:spPr>
          <a:xfrm>
            <a:off x="2093976" y="2811780"/>
            <a:ext cx="1344168" cy="182880"/>
          </a:xfrm>
          <a:prstGeom prst="rect">
            <a:avLst/>
          </a:prstGeom>
          <a:noFill/>
          <a:ln/>
        </p:spPr>
        <p:txBody>
          <a:bodyPr wrap="square" lIns="0" tIns="0" rIns="0" bIns="0" rtlCol="0" anchor="t"/>
          <a:lstStyle/>
          <a:p>
            <a:pPr algn="l" indent="0" marL="0">
              <a:buNone/>
            </a:pPr>
            <a:r>
              <a:rPr lang="en-US" sz="740" spc="40" kern="0" dirty="0">
                <a:solidFill>
                  <a:srgbClr val="5C6D67"/>
                </a:solidFill>
                <a:latin typeface="Courier New" pitchFamily="34" charset="0"/>
                <a:ea typeface="Courier New" pitchFamily="34" charset="-122"/>
                <a:cs typeface="Courier New" pitchFamily="34" charset="-120"/>
              </a:rPr>
              <a:t>POST /pacientes</a:t>
            </a:r>
            <a:endParaRPr lang="en-US" sz="740" dirty="0"/>
          </a:p>
        </p:txBody>
      </p:sp>
      <p:sp>
        <p:nvSpPr>
          <p:cNvPr id="14" name="Shape 12"/>
          <p:cNvSpPr/>
          <p:nvPr/>
        </p:nvSpPr>
        <p:spPr>
          <a:xfrm>
            <a:off x="3630168" y="2761488"/>
            <a:ext cx="960120" cy="265176"/>
          </a:xfrm>
          <a:prstGeom prst="roundRect">
            <a:avLst>
              <a:gd name="adj" fmla="val 20690"/>
            </a:avLst>
          </a:prstGeom>
          <a:solidFill>
            <a:srgbClr val="FFFFFF"/>
          </a:solidFill>
          <a:ln w="7620">
            <a:solidFill>
              <a:srgbClr val="D7E0DB"/>
            </a:solidFill>
            <a:prstDash val="solid"/>
          </a:ln>
        </p:spPr>
      </p:sp>
      <p:sp>
        <p:nvSpPr>
          <p:cNvPr id="15" name="Text 13"/>
          <p:cNvSpPr/>
          <p:nvPr/>
        </p:nvSpPr>
        <p:spPr>
          <a:xfrm>
            <a:off x="3712464" y="2811780"/>
            <a:ext cx="795528" cy="182880"/>
          </a:xfrm>
          <a:prstGeom prst="rect">
            <a:avLst/>
          </a:prstGeom>
          <a:noFill/>
          <a:ln/>
        </p:spPr>
        <p:txBody>
          <a:bodyPr wrap="square" lIns="0" tIns="0" rIns="0" bIns="0" rtlCol="0" anchor="t"/>
          <a:lstStyle/>
          <a:p>
            <a:pPr algn="l" indent="0" marL="0">
              <a:buNone/>
            </a:pPr>
            <a:r>
              <a:rPr lang="en-US" sz="740" spc="40" kern="0" dirty="0">
                <a:solidFill>
                  <a:srgbClr val="5C6D67"/>
                </a:solidFill>
                <a:latin typeface="Courier New" pitchFamily="34" charset="0"/>
                <a:ea typeface="Courier New" pitchFamily="34" charset="-122"/>
                <a:cs typeface="Courier New" pitchFamily="34" charset="-120"/>
              </a:rPr>
              <a:t>Exámenes</a:t>
            </a:r>
            <a:endParaRPr lang="en-US" sz="740" dirty="0"/>
          </a:p>
        </p:txBody>
      </p:sp>
      <p:sp>
        <p:nvSpPr>
          <p:cNvPr id="16" name="Shape 14"/>
          <p:cNvSpPr/>
          <p:nvPr/>
        </p:nvSpPr>
        <p:spPr>
          <a:xfrm>
            <a:off x="4700016" y="2761488"/>
            <a:ext cx="1078992" cy="265176"/>
          </a:xfrm>
          <a:prstGeom prst="roundRect">
            <a:avLst>
              <a:gd name="adj" fmla="val 20690"/>
            </a:avLst>
          </a:prstGeom>
          <a:solidFill>
            <a:srgbClr val="FFFFFF"/>
          </a:solidFill>
          <a:ln w="7620">
            <a:solidFill>
              <a:srgbClr val="D7E0DB"/>
            </a:solidFill>
            <a:prstDash val="solid"/>
          </a:ln>
        </p:spPr>
      </p:sp>
      <p:sp>
        <p:nvSpPr>
          <p:cNvPr id="17" name="Text 15"/>
          <p:cNvSpPr/>
          <p:nvPr/>
        </p:nvSpPr>
        <p:spPr>
          <a:xfrm>
            <a:off x="4782312" y="2811780"/>
            <a:ext cx="914400" cy="182880"/>
          </a:xfrm>
          <a:prstGeom prst="rect">
            <a:avLst/>
          </a:prstGeom>
          <a:noFill/>
          <a:ln/>
        </p:spPr>
        <p:txBody>
          <a:bodyPr wrap="square" lIns="0" tIns="0" rIns="0" bIns="0" rtlCol="0" anchor="t"/>
          <a:lstStyle/>
          <a:p>
            <a:pPr algn="l" indent="0" marL="0">
              <a:buNone/>
            </a:pPr>
            <a:r>
              <a:rPr lang="en-US" sz="740" spc="40" kern="0" dirty="0">
                <a:solidFill>
                  <a:srgbClr val="5C6D67"/>
                </a:solidFill>
                <a:latin typeface="Courier New" pitchFamily="34" charset="0"/>
                <a:ea typeface="Courier New" pitchFamily="34" charset="-122"/>
                <a:cs typeface="Courier New" pitchFamily="34" charset="-120"/>
              </a:rPr>
              <a:t>Documentos</a:t>
            </a:r>
            <a:endParaRPr lang="en-US" sz="740" dirty="0"/>
          </a:p>
        </p:txBody>
      </p:sp>
      <p:sp>
        <p:nvSpPr>
          <p:cNvPr id="18" name="Shape 16"/>
          <p:cNvSpPr/>
          <p:nvPr/>
        </p:nvSpPr>
        <p:spPr>
          <a:xfrm>
            <a:off x="566928" y="3127248"/>
            <a:ext cx="932688" cy="265176"/>
          </a:xfrm>
          <a:prstGeom prst="roundRect">
            <a:avLst>
              <a:gd name="adj" fmla="val 20690"/>
            </a:avLst>
          </a:prstGeom>
          <a:solidFill>
            <a:srgbClr val="FFFFFF"/>
          </a:solidFill>
          <a:ln w="7620">
            <a:solidFill>
              <a:srgbClr val="D7E0DB"/>
            </a:solidFill>
            <a:prstDash val="solid"/>
          </a:ln>
        </p:spPr>
      </p:sp>
      <p:sp>
        <p:nvSpPr>
          <p:cNvPr id="19" name="Text 17"/>
          <p:cNvSpPr/>
          <p:nvPr/>
        </p:nvSpPr>
        <p:spPr>
          <a:xfrm>
            <a:off x="649224" y="3177540"/>
            <a:ext cx="768096" cy="182880"/>
          </a:xfrm>
          <a:prstGeom prst="rect">
            <a:avLst/>
          </a:prstGeom>
          <a:noFill/>
          <a:ln/>
        </p:spPr>
        <p:txBody>
          <a:bodyPr wrap="square" lIns="0" tIns="0" rIns="0" bIns="0" rtlCol="0" anchor="t"/>
          <a:lstStyle/>
          <a:p>
            <a:pPr algn="l" indent="0" marL="0">
              <a:buNone/>
            </a:pPr>
            <a:r>
              <a:rPr lang="en-US" sz="740" spc="40" kern="0" dirty="0">
                <a:solidFill>
                  <a:srgbClr val="5C6D67"/>
                </a:solidFill>
                <a:latin typeface="Courier New" pitchFamily="34" charset="0"/>
                <a:ea typeface="Courier New" pitchFamily="34" charset="-122"/>
                <a:cs typeface="Courier New" pitchFamily="34" charset="-120"/>
              </a:rPr>
              <a:t>Auditoría</a:t>
            </a:r>
            <a:endParaRPr lang="en-US" sz="740" dirty="0"/>
          </a:p>
        </p:txBody>
      </p:sp>
      <p:sp>
        <p:nvSpPr>
          <p:cNvPr id="20" name="Shape 18"/>
          <p:cNvSpPr/>
          <p:nvPr/>
        </p:nvSpPr>
        <p:spPr>
          <a:xfrm>
            <a:off x="1609344" y="3127248"/>
            <a:ext cx="1078992" cy="265176"/>
          </a:xfrm>
          <a:prstGeom prst="roundRect">
            <a:avLst>
              <a:gd name="adj" fmla="val 20690"/>
            </a:avLst>
          </a:prstGeom>
          <a:solidFill>
            <a:srgbClr val="FFFFFF"/>
          </a:solidFill>
          <a:ln w="7620">
            <a:solidFill>
              <a:srgbClr val="D7E0DB"/>
            </a:solidFill>
            <a:prstDash val="solid"/>
          </a:ln>
        </p:spPr>
      </p:sp>
      <p:sp>
        <p:nvSpPr>
          <p:cNvPr id="21" name="Text 19"/>
          <p:cNvSpPr/>
          <p:nvPr/>
        </p:nvSpPr>
        <p:spPr>
          <a:xfrm>
            <a:off x="1691640" y="3177540"/>
            <a:ext cx="914400" cy="182880"/>
          </a:xfrm>
          <a:prstGeom prst="rect">
            <a:avLst/>
          </a:prstGeom>
          <a:noFill/>
          <a:ln/>
        </p:spPr>
        <p:txBody>
          <a:bodyPr wrap="square" lIns="0" tIns="0" rIns="0" bIns="0" rtlCol="0" anchor="t"/>
          <a:lstStyle/>
          <a:p>
            <a:pPr algn="l" indent="0" marL="0">
              <a:buNone/>
            </a:pPr>
            <a:r>
              <a:rPr lang="en-US" sz="740" spc="40" kern="0" dirty="0">
                <a:solidFill>
                  <a:srgbClr val="5C6D67"/>
                </a:solidFill>
                <a:latin typeface="Courier New" pitchFamily="34" charset="0"/>
                <a:ea typeface="Courier New" pitchFamily="34" charset="-122"/>
                <a:cs typeface="Courier New" pitchFamily="34" charset="-120"/>
              </a:rPr>
              <a:t>PostgreSQL</a:t>
            </a:r>
            <a:endParaRPr lang="en-US" sz="740" dirty="0"/>
          </a:p>
        </p:txBody>
      </p:sp>
      <p:sp>
        <p:nvSpPr>
          <p:cNvPr id="22" name="Shape 20"/>
          <p:cNvSpPr/>
          <p:nvPr/>
        </p:nvSpPr>
        <p:spPr>
          <a:xfrm>
            <a:off x="2798064" y="3127248"/>
            <a:ext cx="1371600" cy="265176"/>
          </a:xfrm>
          <a:prstGeom prst="roundRect">
            <a:avLst>
              <a:gd name="adj" fmla="val 20690"/>
            </a:avLst>
          </a:prstGeom>
          <a:solidFill>
            <a:srgbClr val="FFFFFF"/>
          </a:solidFill>
          <a:ln w="7620">
            <a:solidFill>
              <a:srgbClr val="D7E0DB"/>
            </a:solidFill>
            <a:prstDash val="solid"/>
          </a:ln>
        </p:spPr>
      </p:sp>
      <p:sp>
        <p:nvSpPr>
          <p:cNvPr id="23" name="Text 21"/>
          <p:cNvSpPr/>
          <p:nvPr/>
        </p:nvSpPr>
        <p:spPr>
          <a:xfrm>
            <a:off x="2880360" y="3177540"/>
            <a:ext cx="1207008" cy="182880"/>
          </a:xfrm>
          <a:prstGeom prst="rect">
            <a:avLst/>
          </a:prstGeom>
          <a:noFill/>
          <a:ln/>
        </p:spPr>
        <p:txBody>
          <a:bodyPr wrap="square" lIns="0" tIns="0" rIns="0" bIns="0" rtlCol="0" anchor="t"/>
          <a:lstStyle/>
          <a:p>
            <a:pPr algn="l" indent="0" marL="0">
              <a:buNone/>
            </a:pPr>
            <a:r>
              <a:rPr lang="en-US" sz="740" spc="40" kern="0" dirty="0">
                <a:solidFill>
                  <a:srgbClr val="5C6D67"/>
                </a:solidFill>
                <a:latin typeface="Courier New" pitchFamily="34" charset="0"/>
                <a:ea typeface="Courier New" pitchFamily="34" charset="-122"/>
                <a:cs typeface="Courier New" pitchFamily="34" charset="-120"/>
              </a:rPr>
              <a:t>Docker Compose</a:t>
            </a:r>
            <a:endParaRPr lang="en-US" sz="740" dirty="0"/>
          </a:p>
        </p:txBody>
      </p:sp>
      <p:sp>
        <p:nvSpPr>
          <p:cNvPr id="24" name="Text 22"/>
          <p:cNvSpPr/>
          <p:nvPr/>
        </p:nvSpPr>
        <p:spPr>
          <a:xfrm>
            <a:off x="566928" y="3675888"/>
            <a:ext cx="5669280" cy="182880"/>
          </a:xfrm>
          <a:prstGeom prst="rect">
            <a:avLst/>
          </a:prstGeom>
          <a:noFill/>
          <a:ln/>
        </p:spPr>
        <p:txBody>
          <a:bodyPr wrap="square" lIns="0" tIns="0" rIns="0" bIns="0" rtlCol="0" anchor="t"/>
          <a:lstStyle/>
          <a:p>
            <a:pPr algn="l" indent="0" marL="0">
              <a:buNone/>
            </a:pPr>
            <a:r>
              <a:rPr lang="en-US" sz="720" b="1" spc="140" kern="0" dirty="0">
                <a:solidFill>
                  <a:srgbClr val="5C6D67"/>
                </a:solidFill>
                <a:latin typeface="Courier New" pitchFamily="34" charset="0"/>
                <a:ea typeface="Courier New" pitchFamily="34" charset="-122"/>
                <a:cs typeface="Courier New" pitchFamily="34" charset="-120"/>
              </a:rPr>
              <a:t>SUPERFICIE AUDITADA</a:t>
            </a:r>
            <a:endParaRPr lang="en-US" sz="720" dirty="0"/>
          </a:p>
        </p:txBody>
      </p:sp>
      <p:sp>
        <p:nvSpPr>
          <p:cNvPr id="25" name="Text 23"/>
          <p:cNvSpPr/>
          <p:nvPr/>
        </p:nvSpPr>
        <p:spPr>
          <a:xfrm>
            <a:off x="566928" y="3950208"/>
            <a:ext cx="1371600" cy="438912"/>
          </a:xfrm>
          <a:prstGeom prst="rect">
            <a:avLst/>
          </a:prstGeom>
          <a:noFill/>
          <a:ln/>
        </p:spPr>
        <p:txBody>
          <a:bodyPr wrap="square" lIns="0" tIns="0" rIns="0" bIns="0" rtlCol="0" anchor="t"/>
          <a:lstStyle/>
          <a:p>
            <a:pPr algn="l" indent="0" marL="0">
              <a:buNone/>
            </a:pPr>
            <a:r>
              <a:rPr lang="en-US" sz="2500" b="1" dirty="0">
                <a:solidFill>
                  <a:srgbClr val="123B33"/>
                </a:solidFill>
                <a:latin typeface="Cambria" pitchFamily="34" charset="0"/>
                <a:ea typeface="Cambria" pitchFamily="34" charset="-122"/>
                <a:cs typeface="Cambria" pitchFamily="34" charset="-120"/>
              </a:rPr>
              <a:t>10.133</a:t>
            </a:r>
            <a:endParaRPr lang="en-US" sz="2500" dirty="0"/>
          </a:p>
        </p:txBody>
      </p:sp>
      <p:sp>
        <p:nvSpPr>
          <p:cNvPr id="26" name="Text 24"/>
          <p:cNvSpPr/>
          <p:nvPr/>
        </p:nvSpPr>
        <p:spPr>
          <a:xfrm>
            <a:off x="566928" y="4407408"/>
            <a:ext cx="1371600" cy="201168"/>
          </a:xfrm>
          <a:prstGeom prst="rect">
            <a:avLst/>
          </a:prstGeom>
          <a:noFill/>
          <a:ln/>
        </p:spPr>
        <p:txBody>
          <a:bodyPr wrap="square" lIns="0" tIns="0" rIns="0" bIns="0" rtlCol="0" anchor="t"/>
          <a:lstStyle/>
          <a:p>
            <a:pPr algn="l" indent="0" marL="0">
              <a:buNone/>
            </a:pPr>
            <a:r>
              <a:rPr lang="en-US" sz="800" dirty="0">
                <a:solidFill>
                  <a:srgbClr val="5C6D67"/>
                </a:solidFill>
                <a:latin typeface="Calibri" pitchFamily="34" charset="0"/>
                <a:ea typeface="Calibri" pitchFamily="34" charset="-122"/>
                <a:cs typeface="Calibri" pitchFamily="34" charset="-120"/>
              </a:rPr>
              <a:t>líneas de código</a:t>
            </a:r>
            <a:endParaRPr lang="en-US" sz="800" dirty="0"/>
          </a:p>
        </p:txBody>
      </p:sp>
      <p:sp>
        <p:nvSpPr>
          <p:cNvPr id="27" name="Text 25"/>
          <p:cNvSpPr/>
          <p:nvPr/>
        </p:nvSpPr>
        <p:spPr>
          <a:xfrm>
            <a:off x="2029968" y="3950208"/>
            <a:ext cx="1371600" cy="438912"/>
          </a:xfrm>
          <a:prstGeom prst="rect">
            <a:avLst/>
          </a:prstGeom>
          <a:noFill/>
          <a:ln/>
        </p:spPr>
        <p:txBody>
          <a:bodyPr wrap="square" lIns="0" tIns="0" rIns="0" bIns="0" rtlCol="0" anchor="t"/>
          <a:lstStyle/>
          <a:p>
            <a:pPr algn="l" indent="0" marL="0">
              <a:buNone/>
            </a:pPr>
            <a:r>
              <a:rPr lang="en-US" sz="2500" b="1" dirty="0">
                <a:solidFill>
                  <a:srgbClr val="123B33"/>
                </a:solidFill>
                <a:latin typeface="Cambria" pitchFamily="34" charset="0"/>
                <a:ea typeface="Cambria" pitchFamily="34" charset="-122"/>
                <a:cs typeface="Cambria" pitchFamily="34" charset="-120"/>
              </a:rPr>
              <a:t>8</a:t>
            </a:r>
            <a:endParaRPr lang="en-US" sz="2500" dirty="0"/>
          </a:p>
        </p:txBody>
      </p:sp>
      <p:sp>
        <p:nvSpPr>
          <p:cNvPr id="28" name="Text 26"/>
          <p:cNvSpPr/>
          <p:nvPr/>
        </p:nvSpPr>
        <p:spPr>
          <a:xfrm>
            <a:off x="2029968" y="4407408"/>
            <a:ext cx="1371600" cy="201168"/>
          </a:xfrm>
          <a:prstGeom prst="rect">
            <a:avLst/>
          </a:prstGeom>
          <a:noFill/>
          <a:ln/>
        </p:spPr>
        <p:txBody>
          <a:bodyPr wrap="square" lIns="0" tIns="0" rIns="0" bIns="0" rtlCol="0" anchor="t"/>
          <a:lstStyle/>
          <a:p>
            <a:pPr algn="l" indent="0" marL="0">
              <a:buNone/>
            </a:pPr>
            <a:r>
              <a:rPr lang="en-US" sz="800" dirty="0">
                <a:solidFill>
                  <a:srgbClr val="5C6D67"/>
                </a:solidFill>
                <a:latin typeface="Calibri" pitchFamily="34" charset="0"/>
                <a:ea typeface="Calibri" pitchFamily="34" charset="-122"/>
                <a:cs typeface="Calibri" pitchFamily="34" charset="-120"/>
              </a:rPr>
              <a:t>casos ejecutados</a:t>
            </a:r>
            <a:endParaRPr lang="en-US" sz="800" dirty="0"/>
          </a:p>
        </p:txBody>
      </p:sp>
      <p:sp>
        <p:nvSpPr>
          <p:cNvPr id="29" name="Text 27"/>
          <p:cNvSpPr/>
          <p:nvPr/>
        </p:nvSpPr>
        <p:spPr>
          <a:xfrm>
            <a:off x="3493008" y="3950208"/>
            <a:ext cx="1371600" cy="438912"/>
          </a:xfrm>
          <a:prstGeom prst="rect">
            <a:avLst/>
          </a:prstGeom>
          <a:noFill/>
          <a:ln/>
        </p:spPr>
        <p:txBody>
          <a:bodyPr wrap="square" lIns="0" tIns="0" rIns="0" bIns="0" rtlCol="0" anchor="t"/>
          <a:lstStyle/>
          <a:p>
            <a:pPr algn="l" indent="0" marL="0">
              <a:buNone/>
            </a:pPr>
            <a:r>
              <a:rPr lang="en-US" sz="2500" b="1" dirty="0">
                <a:solidFill>
                  <a:srgbClr val="123B33"/>
                </a:solidFill>
                <a:latin typeface="Cambria" pitchFamily="34" charset="0"/>
                <a:ea typeface="Cambria" pitchFamily="34" charset="-122"/>
                <a:cs typeface="Cambria" pitchFamily="34" charset="-120"/>
              </a:rPr>
              <a:t>7</a:t>
            </a:r>
            <a:endParaRPr lang="en-US" sz="2500" dirty="0"/>
          </a:p>
        </p:txBody>
      </p:sp>
      <p:sp>
        <p:nvSpPr>
          <p:cNvPr id="30" name="Text 28"/>
          <p:cNvSpPr/>
          <p:nvPr/>
        </p:nvSpPr>
        <p:spPr>
          <a:xfrm>
            <a:off x="3493008" y="4407408"/>
            <a:ext cx="1371600" cy="201168"/>
          </a:xfrm>
          <a:prstGeom prst="rect">
            <a:avLst/>
          </a:prstGeom>
          <a:noFill/>
          <a:ln/>
        </p:spPr>
        <p:txBody>
          <a:bodyPr wrap="square" lIns="0" tIns="0" rIns="0" bIns="0" rtlCol="0" anchor="t"/>
          <a:lstStyle/>
          <a:p>
            <a:pPr algn="l" indent="0" marL="0">
              <a:buNone/>
            </a:pPr>
            <a:r>
              <a:rPr lang="en-US" sz="800" dirty="0">
                <a:solidFill>
                  <a:srgbClr val="5C6D67"/>
                </a:solidFill>
                <a:latin typeface="Calibri" pitchFamily="34" charset="0"/>
                <a:ea typeface="Calibri" pitchFamily="34" charset="-122"/>
                <a:cs typeface="Calibri" pitchFamily="34" charset="-120"/>
              </a:rPr>
              <a:t>hallazgos</a:t>
            </a:r>
            <a:endParaRPr lang="en-US" sz="800" dirty="0"/>
          </a:p>
        </p:txBody>
      </p:sp>
      <p:sp>
        <p:nvSpPr>
          <p:cNvPr id="31" name="Text 29"/>
          <p:cNvSpPr/>
          <p:nvPr/>
        </p:nvSpPr>
        <p:spPr>
          <a:xfrm>
            <a:off x="4956048" y="3950208"/>
            <a:ext cx="1371600" cy="438912"/>
          </a:xfrm>
          <a:prstGeom prst="rect">
            <a:avLst/>
          </a:prstGeom>
          <a:noFill/>
          <a:ln/>
        </p:spPr>
        <p:txBody>
          <a:bodyPr wrap="square" lIns="0" tIns="0" rIns="0" bIns="0" rtlCol="0" anchor="t"/>
          <a:lstStyle/>
          <a:p>
            <a:pPr algn="l" indent="0" marL="0">
              <a:buNone/>
            </a:pPr>
            <a:r>
              <a:rPr lang="en-US" sz="2500" b="1" dirty="0">
                <a:solidFill>
                  <a:srgbClr val="123B33"/>
                </a:solidFill>
                <a:latin typeface="Cambria" pitchFamily="34" charset="0"/>
                <a:ea typeface="Cambria" pitchFamily="34" charset="-122"/>
                <a:cs typeface="Cambria" pitchFamily="34" charset="-120"/>
              </a:rPr>
              <a:t>2</a:t>
            </a:r>
            <a:endParaRPr lang="en-US" sz="2500" dirty="0"/>
          </a:p>
        </p:txBody>
      </p:sp>
      <p:sp>
        <p:nvSpPr>
          <p:cNvPr id="32" name="Text 30"/>
          <p:cNvSpPr/>
          <p:nvPr/>
        </p:nvSpPr>
        <p:spPr>
          <a:xfrm>
            <a:off x="4956048" y="4407408"/>
            <a:ext cx="1371600" cy="201168"/>
          </a:xfrm>
          <a:prstGeom prst="rect">
            <a:avLst/>
          </a:prstGeom>
          <a:noFill/>
          <a:ln/>
        </p:spPr>
        <p:txBody>
          <a:bodyPr wrap="square" lIns="0" tIns="0" rIns="0" bIns="0" rtlCol="0" anchor="t"/>
          <a:lstStyle/>
          <a:p>
            <a:pPr algn="l" indent="0" marL="0">
              <a:buNone/>
            </a:pPr>
            <a:r>
              <a:rPr lang="en-US" sz="800" dirty="0">
                <a:solidFill>
                  <a:srgbClr val="5C6D67"/>
                </a:solidFill>
                <a:latin typeface="Calibri" pitchFamily="34" charset="0"/>
                <a:ea typeface="Calibri" pitchFamily="34" charset="-122"/>
                <a:cs typeface="Calibri" pitchFamily="34" charset="-120"/>
              </a:rPr>
              <a:t>jornadas</a:t>
            </a:r>
            <a:endParaRPr lang="en-US" sz="800" dirty="0"/>
          </a:p>
        </p:txBody>
      </p:sp>
      <p:sp>
        <p:nvSpPr>
          <p:cNvPr id="33" name="Shape 31"/>
          <p:cNvSpPr/>
          <p:nvPr/>
        </p:nvSpPr>
        <p:spPr>
          <a:xfrm>
            <a:off x="566928" y="5074920"/>
            <a:ext cx="5806440" cy="960120"/>
          </a:xfrm>
          <a:prstGeom prst="roundRect">
            <a:avLst>
              <a:gd name="adj" fmla="val 2381"/>
            </a:avLst>
          </a:prstGeom>
          <a:solidFill>
            <a:srgbClr val="F6E8CD"/>
          </a:solidFill>
          <a:ln w="7620">
            <a:solidFill>
              <a:srgbClr val="F6E8CD"/>
            </a:solidFill>
            <a:prstDash val="solid"/>
          </a:ln>
          <a:effectLst>
            <a:outerShdw sx="100000" sy="100000" kx="0" ky="0" algn="bl" rotWithShape="0" blurRad="88900" dist="25400" dir="5400000">
              <a:srgbClr val="000000">
                <a:alpha val="5000"/>
              </a:srgbClr>
            </a:outerShdw>
          </a:effectLst>
        </p:spPr>
      </p:sp>
      <p:sp>
        <p:nvSpPr>
          <p:cNvPr id="34" name="Text 32"/>
          <p:cNvSpPr/>
          <p:nvPr/>
        </p:nvSpPr>
        <p:spPr>
          <a:xfrm>
            <a:off x="731520" y="5193792"/>
            <a:ext cx="5394960" cy="182880"/>
          </a:xfrm>
          <a:prstGeom prst="rect">
            <a:avLst/>
          </a:prstGeom>
          <a:noFill/>
          <a:ln/>
        </p:spPr>
        <p:txBody>
          <a:bodyPr wrap="square" lIns="0" tIns="0" rIns="0" bIns="0" rtlCol="0" anchor="t"/>
          <a:lstStyle/>
          <a:p>
            <a:pPr algn="l" indent="0" marL="0">
              <a:buNone/>
            </a:pPr>
            <a:r>
              <a:rPr lang="en-US" sz="720" b="1" spc="120" kern="0" dirty="0">
                <a:solidFill>
                  <a:srgbClr val="8A5E0F"/>
                </a:solidFill>
                <a:latin typeface="Courier New" pitchFamily="34" charset="0"/>
                <a:ea typeface="Courier New" pitchFamily="34" charset="-122"/>
                <a:cs typeface="Courier New" pitchFamily="34" charset="-120"/>
              </a:rPr>
              <a:t>ALCANCE DECLARADO</a:t>
            </a:r>
            <a:endParaRPr lang="en-US" sz="720" dirty="0"/>
          </a:p>
        </p:txBody>
      </p:sp>
      <p:sp>
        <p:nvSpPr>
          <p:cNvPr id="35" name="Text 33"/>
          <p:cNvSpPr/>
          <p:nvPr/>
        </p:nvSpPr>
        <p:spPr>
          <a:xfrm>
            <a:off x="731520" y="5422392"/>
            <a:ext cx="5468112" cy="502920"/>
          </a:xfrm>
          <a:prstGeom prst="rect">
            <a:avLst/>
          </a:prstGeom>
          <a:noFill/>
          <a:ln/>
        </p:spPr>
        <p:txBody>
          <a:bodyPr wrap="square" lIns="0" tIns="0" rIns="0" bIns="0" rtlCol="0" anchor="t"/>
          <a:lstStyle/>
          <a:p>
            <a:pPr algn="l" indent="0" marL="0">
              <a:lnSpc>
                <a:spcPts val="1300"/>
              </a:lnSpc>
              <a:buNone/>
            </a:pPr>
            <a:r>
              <a:rPr lang="en-US" sz="950" dirty="0">
                <a:solidFill>
                  <a:srgbClr val="1A2A25"/>
                </a:solidFill>
                <a:latin typeface="Calibri" pitchFamily="34" charset="0"/>
                <a:ea typeface="Calibri" pitchFamily="34" charset="-122"/>
                <a:cs typeface="Calibri" pitchFamily="34" charset="-120"/>
              </a:rPr>
              <a:t>Entorno Docker del equipo, datos de prueba y módulo de pacientes. No es una auditoría de infraestructura ni de dispositivos médicos.</a:t>
            </a:r>
            <a:endParaRPr lang="en-US" sz="950" dirty="0"/>
          </a:p>
        </p:txBody>
      </p:sp>
      <p:sp>
        <p:nvSpPr>
          <p:cNvPr id="36" name="Text 34"/>
          <p:cNvSpPr/>
          <p:nvPr/>
        </p:nvSpPr>
        <p:spPr>
          <a:xfrm>
            <a:off x="6720840" y="1627632"/>
            <a:ext cx="4754880" cy="182880"/>
          </a:xfrm>
          <a:prstGeom prst="rect">
            <a:avLst/>
          </a:prstGeom>
          <a:noFill/>
          <a:ln/>
        </p:spPr>
        <p:txBody>
          <a:bodyPr wrap="square" lIns="0" tIns="0" rIns="0" bIns="0" rtlCol="0" anchor="t"/>
          <a:lstStyle/>
          <a:p>
            <a:pPr algn="l" indent="0" marL="0">
              <a:buNone/>
            </a:pPr>
            <a:r>
              <a:rPr lang="en-US" sz="720" b="1" spc="140" kern="0" dirty="0">
                <a:solidFill>
                  <a:srgbClr val="5C6D67"/>
                </a:solidFill>
                <a:latin typeface="Courier New" pitchFamily="34" charset="0"/>
                <a:ea typeface="Courier New" pitchFamily="34" charset="-122"/>
                <a:cs typeface="Courier New" pitchFamily="34" charset="-120"/>
              </a:rPr>
              <a:t>TRES ROLES, TRES LÍMITES</a:t>
            </a:r>
            <a:endParaRPr lang="en-US" sz="720" dirty="0"/>
          </a:p>
        </p:txBody>
      </p:sp>
      <p:sp>
        <p:nvSpPr>
          <p:cNvPr id="37" name="Shape 35"/>
          <p:cNvSpPr/>
          <p:nvPr/>
        </p:nvSpPr>
        <p:spPr>
          <a:xfrm>
            <a:off x="6720840" y="1901952"/>
            <a:ext cx="4892040" cy="1188720"/>
          </a:xfrm>
          <a:prstGeom prst="roundRect">
            <a:avLst>
              <a:gd name="adj" fmla="val 1923"/>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38" name="Shape 36"/>
          <p:cNvSpPr/>
          <p:nvPr/>
        </p:nvSpPr>
        <p:spPr>
          <a:xfrm>
            <a:off x="6903720" y="2066544"/>
            <a:ext cx="402336" cy="402336"/>
          </a:xfrm>
          <a:prstGeom prst="ellipse">
            <a:avLst/>
          </a:prstGeom>
          <a:solidFill>
            <a:srgbClr val="DCEBE5"/>
          </a:solidFill>
          <a:ln w="12700">
            <a:solidFill>
              <a:srgbClr val="DCEBE5"/>
            </a:solidFill>
            <a:prstDash val="solid"/>
          </a:ln>
        </p:spPr>
      </p:sp>
      <p:sp>
        <p:nvSpPr>
          <p:cNvPr id="39" name="Text 37"/>
          <p:cNvSpPr/>
          <p:nvPr/>
        </p:nvSpPr>
        <p:spPr>
          <a:xfrm>
            <a:off x="6903720" y="2130552"/>
            <a:ext cx="402336" cy="237744"/>
          </a:xfrm>
          <a:prstGeom prst="rect">
            <a:avLst/>
          </a:prstGeom>
          <a:noFill/>
          <a:ln/>
        </p:spPr>
        <p:txBody>
          <a:bodyPr wrap="square" lIns="0" tIns="0" rIns="0" bIns="0" rtlCol="0" anchor="t"/>
          <a:lstStyle/>
          <a:p>
            <a:pPr algn="ctr" indent="0" marL="0">
              <a:buNone/>
            </a:pPr>
            <a:r>
              <a:rPr lang="en-US" sz="1500" b="1" dirty="0">
                <a:solidFill>
                  <a:srgbClr val="123B33"/>
                </a:solidFill>
                <a:latin typeface="Cambria" pitchFamily="34" charset="0"/>
                <a:ea typeface="Cambria" pitchFamily="34" charset="-122"/>
                <a:cs typeface="Cambria" pitchFamily="34" charset="-120"/>
              </a:rPr>
              <a:t>A</a:t>
            </a:r>
            <a:endParaRPr lang="en-US" sz="1500" dirty="0"/>
          </a:p>
        </p:txBody>
      </p:sp>
      <p:sp>
        <p:nvSpPr>
          <p:cNvPr id="40" name="Text 38"/>
          <p:cNvSpPr/>
          <p:nvPr/>
        </p:nvSpPr>
        <p:spPr>
          <a:xfrm>
            <a:off x="7443216" y="2048256"/>
            <a:ext cx="1828800" cy="274320"/>
          </a:xfrm>
          <a:prstGeom prst="rect">
            <a:avLst/>
          </a:prstGeom>
          <a:noFill/>
          <a:ln/>
        </p:spPr>
        <p:txBody>
          <a:bodyPr wrap="square" lIns="0" tIns="0" rIns="0" bIns="0" rtlCol="0" anchor="t"/>
          <a:lstStyle/>
          <a:p>
            <a:pPr algn="l" indent="0" marL="0">
              <a:buNone/>
            </a:pPr>
            <a:r>
              <a:rPr lang="en-US" sz="1400" b="1" dirty="0">
                <a:solidFill>
                  <a:srgbClr val="1A2A25"/>
                </a:solidFill>
                <a:latin typeface="Cambria" pitchFamily="34" charset="0"/>
                <a:ea typeface="Cambria" pitchFamily="34" charset="-122"/>
                <a:cs typeface="Cambria" pitchFamily="34" charset="-120"/>
              </a:rPr>
              <a:t>Admin</a:t>
            </a:r>
            <a:endParaRPr lang="en-US" sz="1400" dirty="0"/>
          </a:p>
        </p:txBody>
      </p:sp>
      <p:sp>
        <p:nvSpPr>
          <p:cNvPr id="41" name="Text 39"/>
          <p:cNvSpPr/>
          <p:nvPr/>
        </p:nvSpPr>
        <p:spPr>
          <a:xfrm>
            <a:off x="7443216" y="2322576"/>
            <a:ext cx="3931920" cy="182880"/>
          </a:xfrm>
          <a:prstGeom prst="rect">
            <a:avLst/>
          </a:prstGeom>
          <a:noFill/>
          <a:ln/>
        </p:spPr>
        <p:txBody>
          <a:bodyPr wrap="square" lIns="0" tIns="0" rIns="0" bIns="0" rtlCol="0" anchor="t"/>
          <a:lstStyle/>
          <a:p>
            <a:pPr algn="l" indent="0" marL="0">
              <a:buNone/>
            </a:pPr>
            <a:r>
              <a:rPr lang="en-US" sz="710" spc="40" kern="0" dirty="0">
                <a:solidFill>
                  <a:srgbClr val="5C6D67"/>
                </a:solidFill>
                <a:latin typeface="Courier New" pitchFamily="34" charset="0"/>
                <a:ea typeface="Courier New" pitchFamily="34" charset="-122"/>
                <a:cs typeface="Courier New" pitchFamily="34" charset="-120"/>
              </a:rPr>
              <a:t>RB-2 · acceso total</a:t>
            </a:r>
            <a:endParaRPr lang="en-US" sz="710" dirty="0"/>
          </a:p>
        </p:txBody>
      </p:sp>
      <p:sp>
        <p:nvSpPr>
          <p:cNvPr id="42" name="Text 40"/>
          <p:cNvSpPr/>
          <p:nvPr/>
        </p:nvSpPr>
        <p:spPr>
          <a:xfrm>
            <a:off x="7443216" y="2560320"/>
            <a:ext cx="3977640" cy="411480"/>
          </a:xfrm>
          <a:prstGeom prst="rect">
            <a:avLst/>
          </a:prstGeom>
          <a:noFill/>
          <a:ln/>
        </p:spPr>
        <p:txBody>
          <a:bodyPr wrap="square" lIns="0" tIns="0" rIns="0" bIns="0" rtlCol="0" anchor="t"/>
          <a:lstStyle/>
          <a:p>
            <a:pPr algn="l" indent="0" marL="0">
              <a:lnSpc>
                <a:spcPts val="1200"/>
              </a:lnSpc>
              <a:buNone/>
            </a:pPr>
            <a:r>
              <a:rPr lang="en-US" sz="920" dirty="0">
                <a:solidFill>
                  <a:srgbClr val="5C6D67"/>
                </a:solidFill>
                <a:latin typeface="Calibri" pitchFamily="34" charset="0"/>
                <a:ea typeface="Calibri" pitchFamily="34" charset="-122"/>
                <a:cs typeface="Calibri" pitchFamily="34" charset="-120"/>
              </a:rPr>
              <a:t>Configura usuarios y ve todos los módulos.</a:t>
            </a:r>
            <a:endParaRPr lang="en-US" sz="920" dirty="0"/>
          </a:p>
        </p:txBody>
      </p:sp>
      <p:sp>
        <p:nvSpPr>
          <p:cNvPr id="43" name="Shape 41"/>
          <p:cNvSpPr/>
          <p:nvPr/>
        </p:nvSpPr>
        <p:spPr>
          <a:xfrm>
            <a:off x="6720840" y="3227832"/>
            <a:ext cx="4892040" cy="1188720"/>
          </a:xfrm>
          <a:prstGeom prst="roundRect">
            <a:avLst>
              <a:gd name="adj" fmla="val 1923"/>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44" name="Shape 42"/>
          <p:cNvSpPr/>
          <p:nvPr/>
        </p:nvSpPr>
        <p:spPr>
          <a:xfrm>
            <a:off x="6903720" y="3392424"/>
            <a:ext cx="402336" cy="402336"/>
          </a:xfrm>
          <a:prstGeom prst="ellipse">
            <a:avLst/>
          </a:prstGeom>
          <a:solidFill>
            <a:srgbClr val="DCEBE5"/>
          </a:solidFill>
          <a:ln w="12700">
            <a:solidFill>
              <a:srgbClr val="DCEBE5"/>
            </a:solidFill>
            <a:prstDash val="solid"/>
          </a:ln>
        </p:spPr>
      </p:sp>
      <p:sp>
        <p:nvSpPr>
          <p:cNvPr id="45" name="Text 43"/>
          <p:cNvSpPr/>
          <p:nvPr/>
        </p:nvSpPr>
        <p:spPr>
          <a:xfrm>
            <a:off x="6903720" y="3456432"/>
            <a:ext cx="402336" cy="237744"/>
          </a:xfrm>
          <a:prstGeom prst="rect">
            <a:avLst/>
          </a:prstGeom>
          <a:noFill/>
          <a:ln/>
        </p:spPr>
        <p:txBody>
          <a:bodyPr wrap="square" lIns="0" tIns="0" rIns="0" bIns="0" rtlCol="0" anchor="t"/>
          <a:lstStyle/>
          <a:p>
            <a:pPr algn="ctr" indent="0" marL="0">
              <a:buNone/>
            </a:pPr>
            <a:r>
              <a:rPr lang="en-US" sz="1500" b="1" dirty="0">
                <a:solidFill>
                  <a:srgbClr val="123B33"/>
                </a:solidFill>
                <a:latin typeface="Cambria" pitchFamily="34" charset="0"/>
                <a:ea typeface="Cambria" pitchFamily="34" charset="-122"/>
                <a:cs typeface="Cambria" pitchFamily="34" charset="-120"/>
              </a:rPr>
              <a:t>M</a:t>
            </a:r>
            <a:endParaRPr lang="en-US" sz="1500" dirty="0"/>
          </a:p>
        </p:txBody>
      </p:sp>
      <p:sp>
        <p:nvSpPr>
          <p:cNvPr id="46" name="Text 44"/>
          <p:cNvSpPr/>
          <p:nvPr/>
        </p:nvSpPr>
        <p:spPr>
          <a:xfrm>
            <a:off x="7443216" y="3374136"/>
            <a:ext cx="1828800" cy="274320"/>
          </a:xfrm>
          <a:prstGeom prst="rect">
            <a:avLst/>
          </a:prstGeom>
          <a:noFill/>
          <a:ln/>
        </p:spPr>
        <p:txBody>
          <a:bodyPr wrap="square" lIns="0" tIns="0" rIns="0" bIns="0" rtlCol="0" anchor="t"/>
          <a:lstStyle/>
          <a:p>
            <a:pPr algn="l" indent="0" marL="0">
              <a:buNone/>
            </a:pPr>
            <a:r>
              <a:rPr lang="en-US" sz="1400" b="1" dirty="0">
                <a:solidFill>
                  <a:srgbClr val="1A2A25"/>
                </a:solidFill>
                <a:latin typeface="Cambria" pitchFamily="34" charset="0"/>
                <a:ea typeface="Cambria" pitchFamily="34" charset="-122"/>
                <a:cs typeface="Cambria" pitchFamily="34" charset="-120"/>
              </a:rPr>
              <a:t>Médico</a:t>
            </a:r>
            <a:endParaRPr lang="en-US" sz="1400" dirty="0"/>
          </a:p>
        </p:txBody>
      </p:sp>
      <p:sp>
        <p:nvSpPr>
          <p:cNvPr id="47" name="Text 45"/>
          <p:cNvSpPr/>
          <p:nvPr/>
        </p:nvSpPr>
        <p:spPr>
          <a:xfrm>
            <a:off x="7443216" y="3648456"/>
            <a:ext cx="3931920" cy="182880"/>
          </a:xfrm>
          <a:prstGeom prst="rect">
            <a:avLst/>
          </a:prstGeom>
          <a:noFill/>
          <a:ln/>
        </p:spPr>
        <p:txBody>
          <a:bodyPr wrap="square" lIns="0" tIns="0" rIns="0" bIns="0" rtlCol="0" anchor="t"/>
          <a:lstStyle/>
          <a:p>
            <a:pPr algn="l" indent="0" marL="0">
              <a:buNone/>
            </a:pPr>
            <a:r>
              <a:rPr lang="en-US" sz="710" spc="40" kern="0" dirty="0">
                <a:solidFill>
                  <a:srgbClr val="5C6D67"/>
                </a:solidFill>
                <a:latin typeface="Courier New" pitchFamily="34" charset="0"/>
                <a:ea typeface="Courier New" pitchFamily="34" charset="-122"/>
                <a:cs typeface="Courier New" pitchFamily="34" charset="-120"/>
              </a:rPr>
              <a:t>RB-3 · información clínica</a:t>
            </a:r>
            <a:endParaRPr lang="en-US" sz="710" dirty="0"/>
          </a:p>
        </p:txBody>
      </p:sp>
      <p:sp>
        <p:nvSpPr>
          <p:cNvPr id="48" name="Text 46"/>
          <p:cNvSpPr/>
          <p:nvPr/>
        </p:nvSpPr>
        <p:spPr>
          <a:xfrm>
            <a:off x="7443216" y="3886200"/>
            <a:ext cx="3977640" cy="411480"/>
          </a:xfrm>
          <a:prstGeom prst="rect">
            <a:avLst/>
          </a:prstGeom>
          <a:noFill/>
          <a:ln/>
        </p:spPr>
        <p:txBody>
          <a:bodyPr wrap="square" lIns="0" tIns="0" rIns="0" bIns="0" rtlCol="0" anchor="t"/>
          <a:lstStyle/>
          <a:p>
            <a:pPr algn="l" indent="0" marL="0">
              <a:lnSpc>
                <a:spcPts val="1200"/>
              </a:lnSpc>
              <a:buNone/>
            </a:pPr>
            <a:r>
              <a:rPr lang="en-US" sz="920" dirty="0">
                <a:solidFill>
                  <a:srgbClr val="5C6D67"/>
                </a:solidFill>
                <a:latin typeface="Calibri" pitchFamily="34" charset="0"/>
                <a:ea typeface="Calibri" pitchFamily="34" charset="-122"/>
                <a:cs typeface="Calibri" pitchFamily="34" charset="-120"/>
              </a:rPr>
              <a:t>Accede a exámenes y documentos de sus pacientes.</a:t>
            </a:r>
            <a:endParaRPr lang="en-US" sz="920" dirty="0"/>
          </a:p>
        </p:txBody>
      </p:sp>
      <p:sp>
        <p:nvSpPr>
          <p:cNvPr id="49" name="Shape 47"/>
          <p:cNvSpPr/>
          <p:nvPr/>
        </p:nvSpPr>
        <p:spPr>
          <a:xfrm>
            <a:off x="6720840" y="4553712"/>
            <a:ext cx="4892040" cy="1188720"/>
          </a:xfrm>
          <a:prstGeom prst="roundRect">
            <a:avLst>
              <a:gd name="adj" fmla="val 1923"/>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50" name="Shape 48"/>
          <p:cNvSpPr/>
          <p:nvPr/>
        </p:nvSpPr>
        <p:spPr>
          <a:xfrm>
            <a:off x="6903720" y="4718304"/>
            <a:ext cx="402336" cy="402336"/>
          </a:xfrm>
          <a:prstGeom prst="ellipse">
            <a:avLst/>
          </a:prstGeom>
          <a:solidFill>
            <a:srgbClr val="DCEBE5"/>
          </a:solidFill>
          <a:ln w="12700">
            <a:solidFill>
              <a:srgbClr val="DCEBE5"/>
            </a:solidFill>
            <a:prstDash val="solid"/>
          </a:ln>
        </p:spPr>
      </p:sp>
      <p:sp>
        <p:nvSpPr>
          <p:cNvPr id="51" name="Text 49"/>
          <p:cNvSpPr/>
          <p:nvPr/>
        </p:nvSpPr>
        <p:spPr>
          <a:xfrm>
            <a:off x="6903720" y="4782312"/>
            <a:ext cx="402336" cy="237744"/>
          </a:xfrm>
          <a:prstGeom prst="rect">
            <a:avLst/>
          </a:prstGeom>
          <a:noFill/>
          <a:ln/>
        </p:spPr>
        <p:txBody>
          <a:bodyPr wrap="square" lIns="0" tIns="0" rIns="0" bIns="0" rtlCol="0" anchor="t"/>
          <a:lstStyle/>
          <a:p>
            <a:pPr algn="ctr" indent="0" marL="0">
              <a:buNone/>
            </a:pPr>
            <a:r>
              <a:rPr lang="en-US" sz="1500" b="1" dirty="0">
                <a:solidFill>
                  <a:srgbClr val="123B33"/>
                </a:solidFill>
                <a:latin typeface="Cambria" pitchFamily="34" charset="0"/>
                <a:ea typeface="Cambria" pitchFamily="34" charset="-122"/>
                <a:cs typeface="Cambria" pitchFamily="34" charset="-120"/>
              </a:rPr>
              <a:t>P</a:t>
            </a:r>
            <a:endParaRPr lang="en-US" sz="1500" dirty="0"/>
          </a:p>
        </p:txBody>
      </p:sp>
      <p:sp>
        <p:nvSpPr>
          <p:cNvPr id="52" name="Text 50"/>
          <p:cNvSpPr/>
          <p:nvPr/>
        </p:nvSpPr>
        <p:spPr>
          <a:xfrm>
            <a:off x="7443216" y="4700016"/>
            <a:ext cx="1828800" cy="274320"/>
          </a:xfrm>
          <a:prstGeom prst="rect">
            <a:avLst/>
          </a:prstGeom>
          <a:noFill/>
          <a:ln/>
        </p:spPr>
        <p:txBody>
          <a:bodyPr wrap="square" lIns="0" tIns="0" rIns="0" bIns="0" rtlCol="0" anchor="t"/>
          <a:lstStyle/>
          <a:p>
            <a:pPr algn="l" indent="0" marL="0">
              <a:buNone/>
            </a:pPr>
            <a:r>
              <a:rPr lang="en-US" sz="1400" b="1" dirty="0">
                <a:solidFill>
                  <a:srgbClr val="1A2A25"/>
                </a:solidFill>
                <a:latin typeface="Cambria" pitchFamily="34" charset="0"/>
                <a:ea typeface="Cambria" pitchFamily="34" charset="-122"/>
                <a:cs typeface="Cambria" pitchFamily="34" charset="-120"/>
              </a:rPr>
              <a:t>Paciente</a:t>
            </a:r>
            <a:endParaRPr lang="en-US" sz="1400" dirty="0"/>
          </a:p>
        </p:txBody>
      </p:sp>
      <p:sp>
        <p:nvSpPr>
          <p:cNvPr id="53" name="Text 51"/>
          <p:cNvSpPr/>
          <p:nvPr/>
        </p:nvSpPr>
        <p:spPr>
          <a:xfrm>
            <a:off x="7443216" y="4974336"/>
            <a:ext cx="3931920" cy="182880"/>
          </a:xfrm>
          <a:prstGeom prst="rect">
            <a:avLst/>
          </a:prstGeom>
          <a:noFill/>
          <a:ln/>
        </p:spPr>
        <p:txBody>
          <a:bodyPr wrap="square" lIns="0" tIns="0" rIns="0" bIns="0" rtlCol="0" anchor="t"/>
          <a:lstStyle/>
          <a:p>
            <a:pPr algn="l" indent="0" marL="0">
              <a:buNone/>
            </a:pPr>
            <a:r>
              <a:rPr lang="en-US" sz="710" spc="40" kern="0" dirty="0">
                <a:solidFill>
                  <a:srgbClr val="5C6D67"/>
                </a:solidFill>
                <a:latin typeface="Courier New" pitchFamily="34" charset="0"/>
                <a:ea typeface="Courier New" pitchFamily="34" charset="-122"/>
                <a:cs typeface="Courier New" pitchFamily="34" charset="-120"/>
              </a:rPr>
              <a:t>RB-1 · solo lectura</a:t>
            </a:r>
            <a:endParaRPr lang="en-US" sz="710" dirty="0"/>
          </a:p>
        </p:txBody>
      </p:sp>
      <p:sp>
        <p:nvSpPr>
          <p:cNvPr id="54" name="Text 52"/>
          <p:cNvSpPr/>
          <p:nvPr/>
        </p:nvSpPr>
        <p:spPr>
          <a:xfrm>
            <a:off x="7443216" y="5212080"/>
            <a:ext cx="3977640" cy="411480"/>
          </a:xfrm>
          <a:prstGeom prst="rect">
            <a:avLst/>
          </a:prstGeom>
          <a:noFill/>
          <a:ln/>
        </p:spPr>
        <p:txBody>
          <a:bodyPr wrap="square" lIns="0" tIns="0" rIns="0" bIns="0" rtlCol="0" anchor="t"/>
          <a:lstStyle/>
          <a:p>
            <a:pPr algn="l" indent="0" marL="0">
              <a:lnSpc>
                <a:spcPts val="1200"/>
              </a:lnSpc>
              <a:buNone/>
            </a:pPr>
            <a:r>
              <a:rPr lang="en-US" sz="920" dirty="0">
                <a:solidFill>
                  <a:srgbClr val="5C6D67"/>
                </a:solidFill>
                <a:latin typeface="Calibri" pitchFamily="34" charset="0"/>
                <a:ea typeface="Calibri" pitchFamily="34" charset="-122"/>
                <a:cs typeface="Calibri" pitchFamily="34" charset="-120"/>
              </a:rPr>
              <a:t>Consulta únicamente su propia información.</a:t>
            </a:r>
            <a:endParaRPr lang="en-US" sz="9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566928" y="411480"/>
            <a:ext cx="77724" cy="77724"/>
          </a:xfrm>
          <a:prstGeom prst="rect">
            <a:avLst/>
          </a:prstGeom>
          <a:solidFill>
            <a:srgbClr val="C98A1E"/>
          </a:solidFill>
          <a:ln w="12700">
            <a:solidFill>
              <a:srgbClr val="C98A1E"/>
            </a:solidFill>
            <a:prstDash val="solid"/>
          </a:ln>
        </p:spPr>
      </p:sp>
      <p:sp>
        <p:nvSpPr>
          <p:cNvPr id="3" name="Text 1"/>
          <p:cNvSpPr/>
          <p:nvPr/>
        </p:nvSpPr>
        <p:spPr>
          <a:xfrm>
            <a:off x="731520" y="338328"/>
            <a:ext cx="9601200" cy="201168"/>
          </a:xfrm>
          <a:prstGeom prst="rect">
            <a:avLst/>
          </a:prstGeom>
          <a:noFill/>
          <a:ln/>
        </p:spPr>
        <p:txBody>
          <a:bodyPr wrap="square" lIns="0" tIns="0" rIns="0" bIns="0" rtlCol="0" anchor="t"/>
          <a:lstStyle/>
          <a:p>
            <a:pPr algn="l" indent="0" marL="0">
              <a:buNone/>
            </a:pPr>
            <a:r>
              <a:rPr lang="en-US" sz="800" b="1" spc="130" kern="0" dirty="0">
                <a:solidFill>
                  <a:srgbClr val="5C6D67"/>
                </a:solidFill>
                <a:latin typeface="Courier New" pitchFamily="34" charset="0"/>
                <a:ea typeface="Courier New" pitchFamily="34" charset="-122"/>
                <a:cs typeface="Courier New" pitchFamily="34" charset="-120"/>
              </a:rPr>
              <a:t>02 · ESTRATEGIA</a:t>
            </a:r>
            <a:endParaRPr lang="en-US" sz="800" dirty="0"/>
          </a:p>
        </p:txBody>
      </p:sp>
      <p:sp>
        <p:nvSpPr>
          <p:cNvPr id="4" name="Text 2"/>
          <p:cNvSpPr/>
          <p:nvPr/>
        </p:nvSpPr>
        <p:spPr>
          <a:xfrm>
            <a:off x="566928" y="640080"/>
            <a:ext cx="11057839" cy="941832"/>
          </a:xfrm>
          <a:prstGeom prst="rect">
            <a:avLst/>
          </a:prstGeom>
          <a:noFill/>
          <a:ln/>
        </p:spPr>
        <p:txBody>
          <a:bodyPr wrap="square" lIns="0" tIns="0" rIns="0" bIns="0" rtlCol="0" anchor="t"/>
          <a:lstStyle/>
          <a:p>
            <a:pPr algn="l" indent="0" marL="0">
              <a:lnSpc>
                <a:spcPts val="3100"/>
              </a:lnSpc>
              <a:buNone/>
            </a:pPr>
            <a:r>
              <a:rPr lang="en-US" sz="2600" b="1" dirty="0">
                <a:solidFill>
                  <a:srgbClr val="1A2A25"/>
                </a:solidFill>
                <a:latin typeface="Cambria" pitchFamily="34" charset="0"/>
                <a:ea typeface="Cambria" pitchFamily="34" charset="-122"/>
                <a:cs typeface="Cambria" pitchFamily="34" charset="-120"/>
              </a:rPr>
              <a:t>Priorizar por riesgo, no por cobertura aparente</a:t>
            </a:r>
            <a:endParaRPr lang="en-US" sz="2600" dirty="0"/>
          </a:p>
        </p:txBody>
      </p:sp>
      <p:sp>
        <p:nvSpPr>
          <p:cNvPr id="5" name="Text 3"/>
          <p:cNvSpPr/>
          <p:nvPr/>
        </p:nvSpPr>
        <p:spPr>
          <a:xfrm>
            <a:off x="566928" y="6547104"/>
            <a:ext cx="5943600" cy="182880"/>
          </a:xfrm>
          <a:prstGeom prst="rect">
            <a:avLst/>
          </a:prstGeom>
          <a:noFill/>
          <a:ln/>
        </p:spPr>
        <p:txBody>
          <a:bodyPr wrap="square" lIns="0" tIns="0" rIns="0" bIns="0" rtlCol="0" anchor="t"/>
          <a:lstStyle/>
          <a:p>
            <a:pPr algn="l" indent="0" marL="0">
              <a:buNone/>
            </a:pPr>
            <a:r>
              <a:rPr lang="en-US" sz="730" spc="60" kern="0" dirty="0">
                <a:solidFill>
                  <a:srgbClr val="8A9A94"/>
                </a:solidFill>
                <a:latin typeface="Courier New" pitchFamily="34" charset="0"/>
                <a:ea typeface="Courier New" pitchFamily="34" charset="-122"/>
                <a:cs typeface="Courier New" pitchFamily="34" charset="-120"/>
              </a:rPr>
              <a:t>Cuidarte+ · Auditoría de calidad y seguridad</a:t>
            </a:r>
            <a:endParaRPr lang="en-US" sz="730" dirty="0"/>
          </a:p>
        </p:txBody>
      </p:sp>
      <p:sp>
        <p:nvSpPr>
          <p:cNvPr id="6" name="Text 4"/>
          <p:cNvSpPr/>
          <p:nvPr/>
        </p:nvSpPr>
        <p:spPr>
          <a:xfrm>
            <a:off x="10561320" y="6547104"/>
            <a:ext cx="1060704" cy="182880"/>
          </a:xfrm>
          <a:prstGeom prst="rect">
            <a:avLst/>
          </a:prstGeom>
          <a:noFill/>
          <a:ln/>
        </p:spPr>
        <p:txBody>
          <a:bodyPr wrap="square" lIns="0" tIns="0" rIns="0" bIns="0" rtlCol="0" anchor="t"/>
          <a:lstStyle/>
          <a:p>
            <a:pPr algn="r" indent="0" marL="0">
              <a:buNone/>
            </a:pPr>
            <a:r>
              <a:rPr lang="en-US" sz="730" spc="60" kern="0" dirty="0">
                <a:solidFill>
                  <a:srgbClr val="8A9A94"/>
                </a:solidFill>
                <a:latin typeface="Courier New" pitchFamily="34" charset="0"/>
                <a:ea typeface="Courier New" pitchFamily="34" charset="-122"/>
                <a:cs typeface="Courier New" pitchFamily="34" charset="-120"/>
              </a:rPr>
              <a:t>03 / 17</a:t>
            </a:r>
            <a:endParaRPr lang="en-US" sz="730" dirty="0"/>
          </a:p>
        </p:txBody>
      </p:sp>
      <p:sp>
        <p:nvSpPr>
          <p:cNvPr id="7" name="Text 5"/>
          <p:cNvSpPr/>
          <p:nvPr/>
        </p:nvSpPr>
        <p:spPr>
          <a:xfrm>
            <a:off x="566928" y="1554480"/>
            <a:ext cx="3657600" cy="182880"/>
          </a:xfrm>
          <a:prstGeom prst="rect">
            <a:avLst/>
          </a:prstGeom>
          <a:noFill/>
          <a:ln/>
        </p:spPr>
        <p:txBody>
          <a:bodyPr wrap="square" lIns="0" tIns="0" rIns="0" bIns="0" rtlCol="0" anchor="t"/>
          <a:lstStyle/>
          <a:p>
            <a:pPr algn="l" indent="0" marL="0">
              <a:buNone/>
            </a:pPr>
            <a:r>
              <a:rPr lang="en-US" sz="720" b="1" spc="130" kern="0" dirty="0">
                <a:solidFill>
                  <a:srgbClr val="5C6D67"/>
                </a:solidFill>
                <a:latin typeface="Courier New" pitchFamily="34" charset="0"/>
                <a:ea typeface="Courier New" pitchFamily="34" charset="-122"/>
                <a:cs typeface="Courier New" pitchFamily="34" charset="-120"/>
              </a:rPr>
              <a:t>PROBABILIDAD ↑</a:t>
            </a:r>
            <a:endParaRPr lang="en-US" sz="720" dirty="0"/>
          </a:p>
        </p:txBody>
      </p:sp>
      <p:sp>
        <p:nvSpPr>
          <p:cNvPr id="8" name="Text 6"/>
          <p:cNvSpPr/>
          <p:nvPr/>
        </p:nvSpPr>
        <p:spPr>
          <a:xfrm>
            <a:off x="4160520" y="5486400"/>
            <a:ext cx="2240280" cy="182880"/>
          </a:xfrm>
          <a:prstGeom prst="rect">
            <a:avLst/>
          </a:prstGeom>
          <a:noFill/>
          <a:ln/>
        </p:spPr>
        <p:txBody>
          <a:bodyPr wrap="square" lIns="0" tIns="0" rIns="0" bIns="0" rtlCol="0" anchor="t"/>
          <a:lstStyle/>
          <a:p>
            <a:pPr algn="r" indent="0" marL="0">
              <a:buNone/>
            </a:pPr>
            <a:r>
              <a:rPr lang="en-US" sz="720" b="1" spc="130" kern="0" dirty="0">
                <a:solidFill>
                  <a:srgbClr val="5C6D67"/>
                </a:solidFill>
                <a:latin typeface="Courier New" pitchFamily="34" charset="0"/>
                <a:ea typeface="Courier New" pitchFamily="34" charset="-122"/>
                <a:cs typeface="Courier New" pitchFamily="34" charset="-120"/>
              </a:rPr>
              <a:t>IMPACTO →</a:t>
            </a:r>
            <a:endParaRPr lang="en-US" sz="720" dirty="0"/>
          </a:p>
        </p:txBody>
      </p:sp>
      <p:sp>
        <p:nvSpPr>
          <p:cNvPr id="9" name="Shape 7"/>
          <p:cNvSpPr/>
          <p:nvPr/>
        </p:nvSpPr>
        <p:spPr>
          <a:xfrm>
            <a:off x="566928" y="1847088"/>
            <a:ext cx="3099816" cy="1760220"/>
          </a:xfrm>
          <a:prstGeom prst="rect">
            <a:avLst/>
          </a:prstGeom>
          <a:solidFill>
            <a:srgbClr val="F6E8CD"/>
          </a:solidFill>
          <a:ln w="15240">
            <a:solidFill>
              <a:srgbClr val="FFFFFF"/>
            </a:solidFill>
            <a:prstDash val="solid"/>
          </a:ln>
        </p:spPr>
      </p:sp>
      <p:sp>
        <p:nvSpPr>
          <p:cNvPr id="10" name="Text 8"/>
          <p:cNvSpPr/>
          <p:nvPr/>
        </p:nvSpPr>
        <p:spPr>
          <a:xfrm>
            <a:off x="676656" y="1938528"/>
            <a:ext cx="2880360" cy="182880"/>
          </a:xfrm>
          <a:prstGeom prst="rect">
            <a:avLst/>
          </a:prstGeom>
          <a:noFill/>
          <a:ln/>
        </p:spPr>
        <p:txBody>
          <a:bodyPr wrap="square" lIns="0" tIns="0" rIns="0" bIns="0" rtlCol="0" anchor="t"/>
          <a:lstStyle/>
          <a:p>
            <a:pPr algn="r" indent="0" marL="0">
              <a:buNone/>
            </a:pPr>
            <a:r>
              <a:rPr lang="en-US" sz="700" b="1" spc="120" kern="0" dirty="0">
                <a:solidFill>
                  <a:srgbClr val="5C6D67"/>
                </a:solidFill>
                <a:latin typeface="Courier New" pitchFamily="34" charset="0"/>
                <a:ea typeface="Courier New" pitchFamily="34" charset="-122"/>
                <a:cs typeface="Courier New" pitchFamily="34" charset="-120"/>
              </a:rPr>
              <a:t>MONITOREAR</a:t>
            </a:r>
            <a:endParaRPr lang="en-US" sz="700" dirty="0"/>
          </a:p>
        </p:txBody>
      </p:sp>
      <p:sp>
        <p:nvSpPr>
          <p:cNvPr id="11" name="Shape 9"/>
          <p:cNvSpPr/>
          <p:nvPr/>
        </p:nvSpPr>
        <p:spPr>
          <a:xfrm>
            <a:off x="3666744" y="1847088"/>
            <a:ext cx="3099816" cy="1760220"/>
          </a:xfrm>
          <a:prstGeom prst="rect">
            <a:avLst/>
          </a:prstGeom>
          <a:solidFill>
            <a:srgbClr val="F5DDD9"/>
          </a:solidFill>
          <a:ln w="15240">
            <a:solidFill>
              <a:srgbClr val="FFFFFF"/>
            </a:solidFill>
            <a:prstDash val="solid"/>
          </a:ln>
        </p:spPr>
      </p:sp>
      <p:sp>
        <p:nvSpPr>
          <p:cNvPr id="12" name="Text 10"/>
          <p:cNvSpPr/>
          <p:nvPr/>
        </p:nvSpPr>
        <p:spPr>
          <a:xfrm>
            <a:off x="3776472" y="1938528"/>
            <a:ext cx="2880360" cy="182880"/>
          </a:xfrm>
          <a:prstGeom prst="rect">
            <a:avLst/>
          </a:prstGeom>
          <a:noFill/>
          <a:ln/>
        </p:spPr>
        <p:txBody>
          <a:bodyPr wrap="square" lIns="0" tIns="0" rIns="0" bIns="0" rtlCol="0" anchor="t"/>
          <a:lstStyle/>
          <a:p>
            <a:pPr algn="r" indent="0" marL="0">
              <a:buNone/>
            </a:pPr>
            <a:r>
              <a:rPr lang="en-US" sz="700" b="1" spc="120" kern="0" dirty="0">
                <a:solidFill>
                  <a:srgbClr val="5C6D67"/>
                </a:solidFill>
                <a:latin typeface="Courier New" pitchFamily="34" charset="0"/>
                <a:ea typeface="Courier New" pitchFamily="34" charset="-122"/>
                <a:cs typeface="Courier New" pitchFamily="34" charset="-120"/>
              </a:rPr>
              <a:t>CRÍTICO</a:t>
            </a:r>
            <a:endParaRPr lang="en-US" sz="700" dirty="0"/>
          </a:p>
        </p:txBody>
      </p:sp>
      <p:sp>
        <p:nvSpPr>
          <p:cNvPr id="13" name="Shape 11"/>
          <p:cNvSpPr/>
          <p:nvPr/>
        </p:nvSpPr>
        <p:spPr>
          <a:xfrm>
            <a:off x="566928" y="3607308"/>
            <a:ext cx="3099816" cy="1760220"/>
          </a:xfrm>
          <a:prstGeom prst="rect">
            <a:avLst/>
          </a:prstGeom>
          <a:solidFill>
            <a:srgbClr val="EDF4F0"/>
          </a:solidFill>
          <a:ln w="15240">
            <a:solidFill>
              <a:srgbClr val="FFFFFF"/>
            </a:solidFill>
            <a:prstDash val="solid"/>
          </a:ln>
        </p:spPr>
      </p:sp>
      <p:sp>
        <p:nvSpPr>
          <p:cNvPr id="14" name="Text 12"/>
          <p:cNvSpPr/>
          <p:nvPr/>
        </p:nvSpPr>
        <p:spPr>
          <a:xfrm>
            <a:off x="676656" y="3698748"/>
            <a:ext cx="2880360" cy="182880"/>
          </a:xfrm>
          <a:prstGeom prst="rect">
            <a:avLst/>
          </a:prstGeom>
          <a:noFill/>
          <a:ln/>
        </p:spPr>
        <p:txBody>
          <a:bodyPr wrap="square" lIns="0" tIns="0" rIns="0" bIns="0" rtlCol="0" anchor="t"/>
          <a:lstStyle/>
          <a:p>
            <a:pPr algn="r" indent="0" marL="0">
              <a:buNone/>
            </a:pPr>
            <a:r>
              <a:rPr lang="en-US" sz="700" b="1" spc="120" kern="0" dirty="0">
                <a:solidFill>
                  <a:srgbClr val="5C6D67"/>
                </a:solidFill>
                <a:latin typeface="Courier New" pitchFamily="34" charset="0"/>
                <a:ea typeface="Courier New" pitchFamily="34" charset="-122"/>
                <a:cs typeface="Courier New" pitchFamily="34" charset="-120"/>
              </a:rPr>
              <a:t>ACEPTAR</a:t>
            </a:r>
            <a:endParaRPr lang="en-US" sz="700" dirty="0"/>
          </a:p>
        </p:txBody>
      </p:sp>
      <p:sp>
        <p:nvSpPr>
          <p:cNvPr id="15" name="Shape 13"/>
          <p:cNvSpPr/>
          <p:nvPr/>
        </p:nvSpPr>
        <p:spPr>
          <a:xfrm>
            <a:off x="3666744" y="3607308"/>
            <a:ext cx="3099816" cy="1760220"/>
          </a:xfrm>
          <a:prstGeom prst="rect">
            <a:avLst/>
          </a:prstGeom>
          <a:solidFill>
            <a:srgbClr val="DCEBE5"/>
          </a:solidFill>
          <a:ln w="15240">
            <a:solidFill>
              <a:srgbClr val="FFFFFF"/>
            </a:solidFill>
            <a:prstDash val="solid"/>
          </a:ln>
        </p:spPr>
      </p:sp>
      <p:sp>
        <p:nvSpPr>
          <p:cNvPr id="16" name="Text 14"/>
          <p:cNvSpPr/>
          <p:nvPr/>
        </p:nvSpPr>
        <p:spPr>
          <a:xfrm>
            <a:off x="3776472" y="3698748"/>
            <a:ext cx="2880360" cy="182880"/>
          </a:xfrm>
          <a:prstGeom prst="rect">
            <a:avLst/>
          </a:prstGeom>
          <a:noFill/>
          <a:ln/>
        </p:spPr>
        <p:txBody>
          <a:bodyPr wrap="square" lIns="0" tIns="0" rIns="0" bIns="0" rtlCol="0" anchor="t"/>
          <a:lstStyle/>
          <a:p>
            <a:pPr algn="r" indent="0" marL="0">
              <a:buNone/>
            </a:pPr>
            <a:r>
              <a:rPr lang="en-US" sz="700" b="1" spc="120" kern="0" dirty="0">
                <a:solidFill>
                  <a:srgbClr val="5C6D67"/>
                </a:solidFill>
                <a:latin typeface="Courier New" pitchFamily="34" charset="0"/>
                <a:ea typeface="Courier New" pitchFamily="34" charset="-122"/>
                <a:cs typeface="Courier New" pitchFamily="34" charset="-120"/>
              </a:rPr>
              <a:t>VIGILAR</a:t>
            </a:r>
            <a:endParaRPr lang="en-US" sz="700" dirty="0"/>
          </a:p>
        </p:txBody>
      </p:sp>
      <p:sp>
        <p:nvSpPr>
          <p:cNvPr id="17" name="Shape 15"/>
          <p:cNvSpPr/>
          <p:nvPr/>
        </p:nvSpPr>
        <p:spPr>
          <a:xfrm>
            <a:off x="3675888" y="2103120"/>
            <a:ext cx="1572768" cy="292608"/>
          </a:xfrm>
          <a:prstGeom prst="roundRect">
            <a:avLst>
              <a:gd name="adj" fmla="val 15625"/>
            </a:avLst>
          </a:prstGeom>
          <a:solidFill>
            <a:srgbClr val="FFFFFF"/>
          </a:solidFill>
          <a:ln w="7620">
            <a:solidFill>
              <a:srgbClr val="D7E0DB"/>
            </a:solidFill>
            <a:prstDash val="solid"/>
          </a:ln>
        </p:spPr>
      </p:sp>
      <p:sp>
        <p:nvSpPr>
          <p:cNvPr id="18" name="Text 16"/>
          <p:cNvSpPr/>
          <p:nvPr/>
        </p:nvSpPr>
        <p:spPr>
          <a:xfrm>
            <a:off x="3749040" y="2157984"/>
            <a:ext cx="1426464" cy="182880"/>
          </a:xfrm>
          <a:prstGeom prst="rect">
            <a:avLst/>
          </a:prstGeom>
          <a:noFill/>
          <a:ln/>
        </p:spPr>
        <p:txBody>
          <a:bodyPr wrap="square" lIns="0" tIns="0" rIns="0" bIns="0" rtlCol="0" anchor="t"/>
          <a:lstStyle/>
          <a:p>
            <a:pPr algn="l" indent="0" marL="0">
              <a:buNone/>
            </a:pPr>
            <a:r>
              <a:rPr lang="en-US" sz="710" b="1" spc="30" kern="0" dirty="0">
                <a:solidFill>
                  <a:srgbClr val="1A2A25"/>
                </a:solidFill>
                <a:latin typeface="Courier New" pitchFamily="34" charset="0"/>
                <a:ea typeface="Courier New" pitchFamily="34" charset="-122"/>
                <a:cs typeface="Courier New" pitchFamily="34" charset="-120"/>
              </a:rPr>
              <a:t>RS-01 · Escalación JWT</a:t>
            </a:r>
            <a:endParaRPr lang="en-US" sz="710" dirty="0"/>
          </a:p>
        </p:txBody>
      </p:sp>
      <p:sp>
        <p:nvSpPr>
          <p:cNvPr id="19" name="Shape 17"/>
          <p:cNvSpPr/>
          <p:nvPr/>
        </p:nvSpPr>
        <p:spPr>
          <a:xfrm>
            <a:off x="3767328" y="2688336"/>
            <a:ext cx="1572768" cy="292608"/>
          </a:xfrm>
          <a:prstGeom prst="roundRect">
            <a:avLst>
              <a:gd name="adj" fmla="val 15625"/>
            </a:avLst>
          </a:prstGeom>
          <a:solidFill>
            <a:srgbClr val="FFFFFF"/>
          </a:solidFill>
          <a:ln w="7620">
            <a:solidFill>
              <a:srgbClr val="D7E0DB"/>
            </a:solidFill>
            <a:prstDash val="solid"/>
          </a:ln>
        </p:spPr>
      </p:sp>
      <p:sp>
        <p:nvSpPr>
          <p:cNvPr id="20" name="Text 18"/>
          <p:cNvSpPr/>
          <p:nvPr/>
        </p:nvSpPr>
        <p:spPr>
          <a:xfrm>
            <a:off x="3840480" y="2743200"/>
            <a:ext cx="1426464" cy="182880"/>
          </a:xfrm>
          <a:prstGeom prst="rect">
            <a:avLst/>
          </a:prstGeom>
          <a:noFill/>
          <a:ln/>
        </p:spPr>
        <p:txBody>
          <a:bodyPr wrap="square" lIns="0" tIns="0" rIns="0" bIns="0" rtlCol="0" anchor="t"/>
          <a:lstStyle/>
          <a:p>
            <a:pPr algn="l" indent="0" marL="0">
              <a:buNone/>
            </a:pPr>
            <a:r>
              <a:rPr lang="en-US" sz="710" b="1" spc="30" kern="0" dirty="0">
                <a:solidFill>
                  <a:srgbClr val="1A2A25"/>
                </a:solidFill>
                <a:latin typeface="Courier New" pitchFamily="34" charset="0"/>
                <a:ea typeface="Courier New" pitchFamily="34" charset="-122"/>
                <a:cs typeface="Courier New" pitchFamily="34" charset="-120"/>
              </a:rPr>
              <a:t>RS-02 · Fuga de datos</a:t>
            </a:r>
            <a:endParaRPr lang="en-US" sz="710" dirty="0"/>
          </a:p>
        </p:txBody>
      </p:sp>
      <p:sp>
        <p:nvSpPr>
          <p:cNvPr id="21" name="Shape 19"/>
          <p:cNvSpPr/>
          <p:nvPr/>
        </p:nvSpPr>
        <p:spPr>
          <a:xfrm>
            <a:off x="1600200" y="2834640"/>
            <a:ext cx="1481328" cy="292608"/>
          </a:xfrm>
          <a:prstGeom prst="roundRect">
            <a:avLst>
              <a:gd name="adj" fmla="val 15625"/>
            </a:avLst>
          </a:prstGeom>
          <a:solidFill>
            <a:srgbClr val="FFFFFF"/>
          </a:solidFill>
          <a:ln w="7620">
            <a:solidFill>
              <a:srgbClr val="D7E0DB"/>
            </a:solidFill>
            <a:prstDash val="solid"/>
          </a:ln>
        </p:spPr>
      </p:sp>
      <p:sp>
        <p:nvSpPr>
          <p:cNvPr id="22" name="Text 20"/>
          <p:cNvSpPr/>
          <p:nvPr/>
        </p:nvSpPr>
        <p:spPr>
          <a:xfrm>
            <a:off x="1673352" y="2889504"/>
            <a:ext cx="1335024" cy="182880"/>
          </a:xfrm>
          <a:prstGeom prst="rect">
            <a:avLst/>
          </a:prstGeom>
          <a:noFill/>
          <a:ln/>
        </p:spPr>
        <p:txBody>
          <a:bodyPr wrap="square" lIns="0" tIns="0" rIns="0" bIns="0" rtlCol="0" anchor="t"/>
          <a:lstStyle/>
          <a:p>
            <a:pPr algn="l" indent="0" marL="0">
              <a:buNone/>
            </a:pPr>
            <a:r>
              <a:rPr lang="en-US" sz="710" b="1" spc="30" kern="0" dirty="0">
                <a:solidFill>
                  <a:srgbClr val="1A2A25"/>
                </a:solidFill>
                <a:latin typeface="Courier New" pitchFamily="34" charset="0"/>
                <a:ea typeface="Courier New" pitchFamily="34" charset="-122"/>
                <a:cs typeface="Courier New" pitchFamily="34" charset="-120"/>
              </a:rPr>
              <a:t>RS-03 · Lentitud 5 s</a:t>
            </a:r>
            <a:endParaRPr lang="en-US" sz="710" dirty="0"/>
          </a:p>
        </p:txBody>
      </p:sp>
      <p:sp>
        <p:nvSpPr>
          <p:cNvPr id="23" name="Shape 21"/>
          <p:cNvSpPr/>
          <p:nvPr/>
        </p:nvSpPr>
        <p:spPr>
          <a:xfrm>
            <a:off x="2734056" y="3877056"/>
            <a:ext cx="1298448" cy="292608"/>
          </a:xfrm>
          <a:prstGeom prst="roundRect">
            <a:avLst>
              <a:gd name="adj" fmla="val 15625"/>
            </a:avLst>
          </a:prstGeom>
          <a:solidFill>
            <a:srgbClr val="FFFFFF"/>
          </a:solidFill>
          <a:ln w="7620">
            <a:solidFill>
              <a:srgbClr val="D7E0DB"/>
            </a:solidFill>
            <a:prstDash val="solid"/>
          </a:ln>
        </p:spPr>
      </p:sp>
      <p:sp>
        <p:nvSpPr>
          <p:cNvPr id="24" name="Text 22"/>
          <p:cNvSpPr/>
          <p:nvPr/>
        </p:nvSpPr>
        <p:spPr>
          <a:xfrm>
            <a:off x="2807208" y="3931920"/>
            <a:ext cx="1152144" cy="182880"/>
          </a:xfrm>
          <a:prstGeom prst="rect">
            <a:avLst/>
          </a:prstGeom>
          <a:noFill/>
          <a:ln/>
        </p:spPr>
        <p:txBody>
          <a:bodyPr wrap="square" lIns="0" tIns="0" rIns="0" bIns="0" rtlCol="0" anchor="t"/>
          <a:lstStyle/>
          <a:p>
            <a:pPr algn="l" indent="0" marL="0">
              <a:buNone/>
            </a:pPr>
            <a:r>
              <a:rPr lang="en-US" sz="710" b="1" spc="30" kern="0" dirty="0">
                <a:solidFill>
                  <a:srgbClr val="1A2A25"/>
                </a:solidFill>
                <a:latin typeface="Courier New" pitchFamily="34" charset="0"/>
                <a:ea typeface="Courier New" pitchFamily="34" charset="-122"/>
                <a:cs typeface="Courier New" pitchFamily="34" charset="-120"/>
              </a:rPr>
              <a:t>RS-04 · Auditoría</a:t>
            </a:r>
            <a:endParaRPr lang="en-US" sz="710" dirty="0"/>
          </a:p>
        </p:txBody>
      </p:sp>
      <p:sp>
        <p:nvSpPr>
          <p:cNvPr id="25" name="Text 23"/>
          <p:cNvSpPr/>
          <p:nvPr/>
        </p:nvSpPr>
        <p:spPr>
          <a:xfrm>
            <a:off x="7315200" y="1664208"/>
            <a:ext cx="4206240" cy="182880"/>
          </a:xfrm>
          <a:prstGeom prst="rect">
            <a:avLst/>
          </a:prstGeom>
          <a:noFill/>
          <a:ln/>
        </p:spPr>
        <p:txBody>
          <a:bodyPr wrap="square" lIns="0" tIns="0" rIns="0" bIns="0" rtlCol="0" anchor="t"/>
          <a:lstStyle/>
          <a:p>
            <a:pPr algn="l" indent="0" marL="0">
              <a:buNone/>
            </a:pPr>
            <a:r>
              <a:rPr lang="en-US" sz="720" b="1" spc="140" kern="0" dirty="0">
                <a:solidFill>
                  <a:srgbClr val="5C6D67"/>
                </a:solidFill>
                <a:latin typeface="Courier New" pitchFamily="34" charset="0"/>
                <a:ea typeface="Courier New" pitchFamily="34" charset="-122"/>
                <a:cs typeface="Courier New" pitchFamily="34" charset="-120"/>
              </a:rPr>
              <a:t>CÓMO SE EJECUTÓ</a:t>
            </a:r>
            <a:endParaRPr lang="en-US" sz="720" dirty="0"/>
          </a:p>
        </p:txBody>
      </p:sp>
      <p:sp>
        <p:nvSpPr>
          <p:cNvPr id="26" name="Text 24"/>
          <p:cNvSpPr/>
          <p:nvPr/>
        </p:nvSpPr>
        <p:spPr>
          <a:xfrm>
            <a:off x="7315200" y="1938528"/>
            <a:ext cx="411480" cy="219456"/>
          </a:xfrm>
          <a:prstGeom prst="rect">
            <a:avLst/>
          </a:prstGeom>
          <a:noFill/>
          <a:ln/>
        </p:spPr>
        <p:txBody>
          <a:bodyPr wrap="square" lIns="0" tIns="0" rIns="0" bIns="0" rtlCol="0" anchor="t"/>
          <a:lstStyle/>
          <a:p>
            <a:pPr algn="l" indent="0" marL="0">
              <a:buNone/>
            </a:pPr>
            <a:r>
              <a:rPr lang="en-US" sz="900" b="1" dirty="0">
                <a:solidFill>
                  <a:srgbClr val="C98A1E"/>
                </a:solidFill>
                <a:latin typeface="Courier New" pitchFamily="34" charset="0"/>
                <a:ea typeface="Courier New" pitchFamily="34" charset="-122"/>
                <a:cs typeface="Courier New" pitchFamily="34" charset="-120"/>
              </a:rPr>
              <a:t>01</a:t>
            </a:r>
            <a:endParaRPr lang="en-US" sz="900" dirty="0"/>
          </a:p>
        </p:txBody>
      </p:sp>
      <p:sp>
        <p:nvSpPr>
          <p:cNvPr id="27" name="Text 25"/>
          <p:cNvSpPr/>
          <p:nvPr/>
        </p:nvSpPr>
        <p:spPr>
          <a:xfrm>
            <a:off x="7754112" y="1920240"/>
            <a:ext cx="3749040" cy="237744"/>
          </a:xfrm>
          <a:prstGeom prst="rect">
            <a:avLst/>
          </a:prstGeom>
          <a:noFill/>
          <a:ln/>
        </p:spPr>
        <p:txBody>
          <a:bodyPr wrap="square" lIns="0" tIns="0" rIns="0" bIns="0" rtlCol="0" anchor="t"/>
          <a:lstStyle/>
          <a:p>
            <a:pPr algn="l" indent="0" marL="0">
              <a:buNone/>
            </a:pPr>
            <a:r>
              <a:rPr lang="en-US" sz="1150" b="1" dirty="0">
                <a:solidFill>
                  <a:srgbClr val="1A2A25"/>
                </a:solidFill>
                <a:latin typeface="Calibri" pitchFamily="34" charset="0"/>
                <a:ea typeface="Calibri" pitchFamily="34" charset="-122"/>
                <a:cs typeface="Calibri" pitchFamily="34" charset="-120"/>
              </a:rPr>
              <a:t>Revisión manual contra OWASP</a:t>
            </a:r>
            <a:endParaRPr lang="en-US" sz="1150" dirty="0"/>
          </a:p>
        </p:txBody>
      </p:sp>
      <p:sp>
        <p:nvSpPr>
          <p:cNvPr id="28" name="Text 26"/>
          <p:cNvSpPr/>
          <p:nvPr/>
        </p:nvSpPr>
        <p:spPr>
          <a:xfrm>
            <a:off x="7754112" y="2157984"/>
            <a:ext cx="3749040" cy="219456"/>
          </a:xfrm>
          <a:prstGeom prst="rect">
            <a:avLst/>
          </a:prstGeom>
          <a:noFill/>
          <a:ln/>
        </p:spPr>
        <p:txBody>
          <a:bodyPr wrap="square" lIns="0" tIns="0" rIns="0" bIns="0" rtlCol="0" anchor="t"/>
          <a:lstStyle/>
          <a:p>
            <a:pPr algn="l" indent="0" marL="0">
              <a:buNone/>
            </a:pPr>
            <a:r>
              <a:rPr lang="en-US" sz="900" dirty="0">
                <a:solidFill>
                  <a:srgbClr val="5C6D67"/>
                </a:solidFill>
                <a:latin typeface="Calibri" pitchFamily="34" charset="0"/>
                <a:ea typeface="Calibri" pitchFamily="34" charset="-122"/>
                <a:cs typeface="Calibri" pitchFamily="34" charset="-120"/>
              </a:rPr>
              <a:t>Contrato, validaciones y controles de acceso.</a:t>
            </a:r>
            <a:endParaRPr lang="en-US" sz="900" dirty="0"/>
          </a:p>
        </p:txBody>
      </p:sp>
      <p:sp>
        <p:nvSpPr>
          <p:cNvPr id="29" name="Text 27"/>
          <p:cNvSpPr/>
          <p:nvPr/>
        </p:nvSpPr>
        <p:spPr>
          <a:xfrm>
            <a:off x="7315200" y="2651760"/>
            <a:ext cx="411480" cy="219456"/>
          </a:xfrm>
          <a:prstGeom prst="rect">
            <a:avLst/>
          </a:prstGeom>
          <a:noFill/>
          <a:ln/>
        </p:spPr>
        <p:txBody>
          <a:bodyPr wrap="square" lIns="0" tIns="0" rIns="0" bIns="0" rtlCol="0" anchor="t"/>
          <a:lstStyle/>
          <a:p>
            <a:pPr algn="l" indent="0" marL="0">
              <a:buNone/>
            </a:pPr>
            <a:r>
              <a:rPr lang="en-US" sz="900" b="1" dirty="0">
                <a:solidFill>
                  <a:srgbClr val="C98A1E"/>
                </a:solidFill>
                <a:latin typeface="Courier New" pitchFamily="34" charset="0"/>
                <a:ea typeface="Courier New" pitchFamily="34" charset="-122"/>
                <a:cs typeface="Courier New" pitchFamily="34" charset="-120"/>
              </a:rPr>
              <a:t>02</a:t>
            </a:r>
            <a:endParaRPr lang="en-US" sz="900" dirty="0"/>
          </a:p>
        </p:txBody>
      </p:sp>
      <p:sp>
        <p:nvSpPr>
          <p:cNvPr id="30" name="Text 28"/>
          <p:cNvSpPr/>
          <p:nvPr/>
        </p:nvSpPr>
        <p:spPr>
          <a:xfrm>
            <a:off x="7754112" y="2633472"/>
            <a:ext cx="3749040" cy="237744"/>
          </a:xfrm>
          <a:prstGeom prst="rect">
            <a:avLst/>
          </a:prstGeom>
          <a:noFill/>
          <a:ln/>
        </p:spPr>
        <p:txBody>
          <a:bodyPr wrap="square" lIns="0" tIns="0" rIns="0" bIns="0" rtlCol="0" anchor="t"/>
          <a:lstStyle/>
          <a:p>
            <a:pPr algn="l" indent="0" marL="0">
              <a:buNone/>
            </a:pPr>
            <a:r>
              <a:rPr lang="en-US" sz="1150" b="1" dirty="0">
                <a:solidFill>
                  <a:srgbClr val="1A2A25"/>
                </a:solidFill>
                <a:latin typeface="Calibri" pitchFamily="34" charset="0"/>
                <a:ea typeface="Calibri" pitchFamily="34" charset="-122"/>
                <a:cs typeface="Calibri" pitchFamily="34" charset="-120"/>
              </a:rPr>
              <a:t>SAST con SonarQube 9.9.8</a:t>
            </a:r>
            <a:endParaRPr lang="en-US" sz="1150" dirty="0"/>
          </a:p>
        </p:txBody>
      </p:sp>
      <p:sp>
        <p:nvSpPr>
          <p:cNvPr id="31" name="Text 29"/>
          <p:cNvSpPr/>
          <p:nvPr/>
        </p:nvSpPr>
        <p:spPr>
          <a:xfrm>
            <a:off x="7754112" y="2871216"/>
            <a:ext cx="3749040" cy="219456"/>
          </a:xfrm>
          <a:prstGeom prst="rect">
            <a:avLst/>
          </a:prstGeom>
          <a:noFill/>
          <a:ln/>
        </p:spPr>
        <p:txBody>
          <a:bodyPr wrap="square" lIns="0" tIns="0" rIns="0" bIns="0" rtlCol="0" anchor="t"/>
          <a:lstStyle/>
          <a:p>
            <a:pPr algn="l" indent="0" marL="0">
              <a:buNone/>
            </a:pPr>
            <a:r>
              <a:rPr lang="en-US" sz="900" dirty="0">
                <a:solidFill>
                  <a:srgbClr val="5C6D67"/>
                </a:solidFill>
                <a:latin typeface="Calibri" pitchFamily="34" charset="0"/>
                <a:ea typeface="Calibri" pitchFamily="34" charset="-122"/>
                <a:cs typeface="Calibri" pitchFamily="34" charset="-120"/>
              </a:rPr>
              <a:t>10.133 líneas, perfil OWASP, Quality Gate.</a:t>
            </a:r>
            <a:endParaRPr lang="en-US" sz="900" dirty="0"/>
          </a:p>
        </p:txBody>
      </p:sp>
      <p:sp>
        <p:nvSpPr>
          <p:cNvPr id="32" name="Text 30"/>
          <p:cNvSpPr/>
          <p:nvPr/>
        </p:nvSpPr>
        <p:spPr>
          <a:xfrm>
            <a:off x="7315200" y="3364992"/>
            <a:ext cx="411480" cy="219456"/>
          </a:xfrm>
          <a:prstGeom prst="rect">
            <a:avLst/>
          </a:prstGeom>
          <a:noFill/>
          <a:ln/>
        </p:spPr>
        <p:txBody>
          <a:bodyPr wrap="square" lIns="0" tIns="0" rIns="0" bIns="0" rtlCol="0" anchor="t"/>
          <a:lstStyle/>
          <a:p>
            <a:pPr algn="l" indent="0" marL="0">
              <a:buNone/>
            </a:pPr>
            <a:r>
              <a:rPr lang="en-US" sz="900" b="1" dirty="0">
                <a:solidFill>
                  <a:srgbClr val="C98A1E"/>
                </a:solidFill>
                <a:latin typeface="Courier New" pitchFamily="34" charset="0"/>
                <a:ea typeface="Courier New" pitchFamily="34" charset="-122"/>
                <a:cs typeface="Courier New" pitchFamily="34" charset="-120"/>
              </a:rPr>
              <a:t>03</a:t>
            </a:r>
            <a:endParaRPr lang="en-US" sz="900" dirty="0"/>
          </a:p>
        </p:txBody>
      </p:sp>
      <p:sp>
        <p:nvSpPr>
          <p:cNvPr id="33" name="Text 31"/>
          <p:cNvSpPr/>
          <p:nvPr/>
        </p:nvSpPr>
        <p:spPr>
          <a:xfrm>
            <a:off x="7754112" y="3346704"/>
            <a:ext cx="3749040" cy="237744"/>
          </a:xfrm>
          <a:prstGeom prst="rect">
            <a:avLst/>
          </a:prstGeom>
          <a:noFill/>
          <a:ln/>
        </p:spPr>
        <p:txBody>
          <a:bodyPr wrap="square" lIns="0" tIns="0" rIns="0" bIns="0" rtlCol="0" anchor="t"/>
          <a:lstStyle/>
          <a:p>
            <a:pPr algn="l" indent="0" marL="0">
              <a:buNone/>
            </a:pPr>
            <a:r>
              <a:rPr lang="en-US" sz="1150" b="1" dirty="0">
                <a:solidFill>
                  <a:srgbClr val="1A2A25"/>
                </a:solidFill>
                <a:latin typeface="Calibri" pitchFamily="34" charset="0"/>
                <a:ea typeface="Calibri" pitchFamily="34" charset="-122"/>
                <a:cs typeface="Calibri" pitchFamily="34" charset="-120"/>
              </a:rPr>
              <a:t>Evidencia reproducible</a:t>
            </a:r>
            <a:endParaRPr lang="en-US" sz="1150" dirty="0"/>
          </a:p>
        </p:txBody>
      </p:sp>
      <p:sp>
        <p:nvSpPr>
          <p:cNvPr id="34" name="Text 32"/>
          <p:cNvSpPr/>
          <p:nvPr/>
        </p:nvSpPr>
        <p:spPr>
          <a:xfrm>
            <a:off x="7754112" y="3584448"/>
            <a:ext cx="3749040" cy="219456"/>
          </a:xfrm>
          <a:prstGeom prst="rect">
            <a:avLst/>
          </a:prstGeom>
          <a:noFill/>
          <a:ln/>
        </p:spPr>
        <p:txBody>
          <a:bodyPr wrap="square" lIns="0" tIns="0" rIns="0" bIns="0" rtlCol="0" anchor="t"/>
          <a:lstStyle/>
          <a:p>
            <a:pPr algn="l" indent="0" marL="0">
              <a:buNone/>
            </a:pPr>
            <a:r>
              <a:rPr lang="en-US" sz="900" dirty="0">
                <a:solidFill>
                  <a:srgbClr val="5C6D67"/>
                </a:solidFill>
                <a:latin typeface="Calibri" pitchFamily="34" charset="0"/>
                <a:ea typeface="Calibri" pitchFamily="34" charset="-122"/>
                <a:cs typeface="Calibri" pitchFamily="34" charset="-120"/>
              </a:rPr>
              <a:t>Docker + PostgreSQL + request/response.</a:t>
            </a:r>
            <a:endParaRPr lang="en-US" sz="900" dirty="0"/>
          </a:p>
        </p:txBody>
      </p:sp>
      <p:sp>
        <p:nvSpPr>
          <p:cNvPr id="35" name="Shape 33"/>
          <p:cNvSpPr/>
          <p:nvPr/>
        </p:nvSpPr>
        <p:spPr>
          <a:xfrm>
            <a:off x="7315200" y="4224528"/>
            <a:ext cx="4279392" cy="786384"/>
          </a:xfrm>
          <a:prstGeom prst="roundRect">
            <a:avLst>
              <a:gd name="adj" fmla="val 2907"/>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36" name="Text 34"/>
          <p:cNvSpPr/>
          <p:nvPr/>
        </p:nvSpPr>
        <p:spPr>
          <a:xfrm>
            <a:off x="7461504" y="4306824"/>
            <a:ext cx="3931920" cy="182880"/>
          </a:xfrm>
          <a:prstGeom prst="rect">
            <a:avLst/>
          </a:prstGeom>
          <a:noFill/>
          <a:ln/>
        </p:spPr>
        <p:txBody>
          <a:bodyPr wrap="square" lIns="0" tIns="0" rIns="0" bIns="0" rtlCol="0" anchor="t"/>
          <a:lstStyle/>
          <a:p>
            <a:pPr algn="l" indent="0" marL="0">
              <a:buNone/>
            </a:pPr>
            <a:r>
              <a:rPr lang="en-US" sz="690" b="1" spc="100" kern="0" dirty="0">
                <a:solidFill>
                  <a:srgbClr val="123B33"/>
                </a:solidFill>
                <a:latin typeface="Courier New" pitchFamily="34" charset="0"/>
                <a:ea typeface="Courier New" pitchFamily="34" charset="-122"/>
                <a:cs typeface="Courier New" pitchFamily="34" charset="-120"/>
              </a:rPr>
              <a:t>CRITERIO DE ENTRADA</a:t>
            </a:r>
            <a:endParaRPr lang="en-US" sz="690" dirty="0"/>
          </a:p>
        </p:txBody>
      </p:sp>
      <p:sp>
        <p:nvSpPr>
          <p:cNvPr id="37" name="Text 35"/>
          <p:cNvSpPr/>
          <p:nvPr/>
        </p:nvSpPr>
        <p:spPr>
          <a:xfrm>
            <a:off x="7461504" y="4517136"/>
            <a:ext cx="3977640" cy="365760"/>
          </a:xfrm>
          <a:prstGeom prst="rect">
            <a:avLst/>
          </a:prstGeom>
          <a:noFill/>
          <a:ln/>
        </p:spPr>
        <p:txBody>
          <a:bodyPr wrap="square" lIns="0" tIns="0" rIns="0" bIns="0" rtlCol="0" anchor="t"/>
          <a:lstStyle/>
          <a:p>
            <a:pPr algn="l" indent="0" marL="0">
              <a:buNone/>
            </a:pPr>
            <a:r>
              <a:rPr lang="en-US" sz="900" dirty="0">
                <a:solidFill>
                  <a:srgbClr val="5C6D67"/>
                </a:solidFill>
                <a:latin typeface="Calibri" pitchFamily="34" charset="0"/>
                <a:ea typeface="Calibri" pitchFamily="34" charset="-122"/>
                <a:cs typeface="Calibri" pitchFamily="34" charset="-120"/>
              </a:rPr>
              <a:t>Entorno levantado, datos de prueba y token por rol.</a:t>
            </a:r>
            <a:endParaRPr lang="en-US" sz="900" dirty="0"/>
          </a:p>
        </p:txBody>
      </p:sp>
      <p:sp>
        <p:nvSpPr>
          <p:cNvPr id="38" name="Shape 36"/>
          <p:cNvSpPr/>
          <p:nvPr/>
        </p:nvSpPr>
        <p:spPr>
          <a:xfrm>
            <a:off x="7315200" y="5102352"/>
            <a:ext cx="4279392" cy="786384"/>
          </a:xfrm>
          <a:prstGeom prst="roundRect">
            <a:avLst>
              <a:gd name="adj" fmla="val 2907"/>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39" name="Text 37"/>
          <p:cNvSpPr/>
          <p:nvPr/>
        </p:nvSpPr>
        <p:spPr>
          <a:xfrm>
            <a:off x="7461504" y="5184648"/>
            <a:ext cx="3931920" cy="182880"/>
          </a:xfrm>
          <a:prstGeom prst="rect">
            <a:avLst/>
          </a:prstGeom>
          <a:noFill/>
          <a:ln/>
        </p:spPr>
        <p:txBody>
          <a:bodyPr wrap="square" lIns="0" tIns="0" rIns="0" bIns="0" rtlCol="0" anchor="t"/>
          <a:lstStyle/>
          <a:p>
            <a:pPr algn="l" indent="0" marL="0">
              <a:buNone/>
            </a:pPr>
            <a:r>
              <a:rPr lang="en-US" sz="690" b="1" spc="100" kern="0" dirty="0">
                <a:solidFill>
                  <a:srgbClr val="123B33"/>
                </a:solidFill>
                <a:latin typeface="Courier New" pitchFamily="34" charset="0"/>
                <a:ea typeface="Courier New" pitchFamily="34" charset="-122"/>
                <a:cs typeface="Courier New" pitchFamily="34" charset="-120"/>
              </a:rPr>
              <a:t>CRITERIO DE SALIDA</a:t>
            </a:r>
            <a:endParaRPr lang="en-US" sz="690" dirty="0"/>
          </a:p>
        </p:txBody>
      </p:sp>
      <p:sp>
        <p:nvSpPr>
          <p:cNvPr id="40" name="Text 38"/>
          <p:cNvSpPr/>
          <p:nvPr/>
        </p:nvSpPr>
        <p:spPr>
          <a:xfrm>
            <a:off x="7461504" y="5394960"/>
            <a:ext cx="3977640" cy="365760"/>
          </a:xfrm>
          <a:prstGeom prst="rect">
            <a:avLst/>
          </a:prstGeom>
          <a:noFill/>
          <a:ln/>
        </p:spPr>
        <p:txBody>
          <a:bodyPr wrap="square" lIns="0" tIns="0" rIns="0" bIns="0" rtlCol="0" anchor="t"/>
          <a:lstStyle/>
          <a:p>
            <a:pPr algn="l" indent="0" marL="0">
              <a:buNone/>
            </a:pPr>
            <a:r>
              <a:rPr lang="en-US" sz="900" dirty="0">
                <a:solidFill>
                  <a:srgbClr val="5C6D67"/>
                </a:solidFill>
                <a:latin typeface="Calibri" pitchFamily="34" charset="0"/>
                <a:ea typeface="Calibri" pitchFamily="34" charset="-122"/>
                <a:cs typeface="Calibri" pitchFamily="34" charset="-120"/>
              </a:rPr>
              <a:t>8 casos ejecutados, evidencia archivada y 7 hallazgos clasificados.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566928" y="411480"/>
            <a:ext cx="77724" cy="77724"/>
          </a:xfrm>
          <a:prstGeom prst="rect">
            <a:avLst/>
          </a:prstGeom>
          <a:solidFill>
            <a:srgbClr val="C98A1E"/>
          </a:solidFill>
          <a:ln w="12700">
            <a:solidFill>
              <a:srgbClr val="C98A1E"/>
            </a:solidFill>
            <a:prstDash val="solid"/>
          </a:ln>
        </p:spPr>
      </p:sp>
      <p:sp>
        <p:nvSpPr>
          <p:cNvPr id="3" name="Text 1"/>
          <p:cNvSpPr/>
          <p:nvPr/>
        </p:nvSpPr>
        <p:spPr>
          <a:xfrm>
            <a:off x="731520" y="338328"/>
            <a:ext cx="9601200" cy="201168"/>
          </a:xfrm>
          <a:prstGeom prst="rect">
            <a:avLst/>
          </a:prstGeom>
          <a:noFill/>
          <a:ln/>
        </p:spPr>
        <p:txBody>
          <a:bodyPr wrap="square" lIns="0" tIns="0" rIns="0" bIns="0" rtlCol="0" anchor="t"/>
          <a:lstStyle/>
          <a:p>
            <a:pPr algn="l" indent="0" marL="0">
              <a:buNone/>
            </a:pPr>
            <a:r>
              <a:rPr lang="en-US" sz="800" b="1" spc="130" kern="0" dirty="0">
                <a:solidFill>
                  <a:srgbClr val="5C6D67"/>
                </a:solidFill>
                <a:latin typeface="Courier New" pitchFamily="34" charset="0"/>
                <a:ea typeface="Courier New" pitchFamily="34" charset="-122"/>
                <a:cs typeface="Courier New" pitchFamily="34" charset="-120"/>
              </a:rPr>
              <a:t>03 · TIPOS DE PRUEBA</a:t>
            </a:r>
            <a:endParaRPr lang="en-US" sz="800" dirty="0"/>
          </a:p>
        </p:txBody>
      </p:sp>
      <p:sp>
        <p:nvSpPr>
          <p:cNvPr id="4" name="Text 2"/>
          <p:cNvSpPr/>
          <p:nvPr/>
        </p:nvSpPr>
        <p:spPr>
          <a:xfrm>
            <a:off x="566928" y="640080"/>
            <a:ext cx="11057839" cy="941832"/>
          </a:xfrm>
          <a:prstGeom prst="rect">
            <a:avLst/>
          </a:prstGeom>
          <a:noFill/>
          <a:ln/>
        </p:spPr>
        <p:txBody>
          <a:bodyPr wrap="square" lIns="0" tIns="0" rIns="0" bIns="0" rtlCol="0" anchor="t"/>
          <a:lstStyle/>
          <a:p>
            <a:pPr algn="l" indent="0" marL="0">
              <a:lnSpc>
                <a:spcPts val="3100"/>
              </a:lnSpc>
              <a:buNone/>
            </a:pPr>
            <a:r>
              <a:rPr lang="en-US" sz="2600" b="1" dirty="0">
                <a:solidFill>
                  <a:srgbClr val="1A2A25"/>
                </a:solidFill>
                <a:latin typeface="Cambria" pitchFamily="34" charset="0"/>
                <a:ea typeface="Cambria" pitchFamily="34" charset="-122"/>
                <a:cs typeface="Cambria" pitchFamily="34" charset="-120"/>
              </a:rPr>
              <a:t>Cada tipo nace de un requisito y de un riesgo concreto</a:t>
            </a:r>
            <a:endParaRPr lang="en-US" sz="2600" dirty="0"/>
          </a:p>
        </p:txBody>
      </p:sp>
      <p:sp>
        <p:nvSpPr>
          <p:cNvPr id="5" name="Text 3"/>
          <p:cNvSpPr/>
          <p:nvPr/>
        </p:nvSpPr>
        <p:spPr>
          <a:xfrm>
            <a:off x="566928" y="6547104"/>
            <a:ext cx="5943600" cy="182880"/>
          </a:xfrm>
          <a:prstGeom prst="rect">
            <a:avLst/>
          </a:prstGeom>
          <a:noFill/>
          <a:ln/>
        </p:spPr>
        <p:txBody>
          <a:bodyPr wrap="square" lIns="0" tIns="0" rIns="0" bIns="0" rtlCol="0" anchor="t"/>
          <a:lstStyle/>
          <a:p>
            <a:pPr algn="l" indent="0" marL="0">
              <a:buNone/>
            </a:pPr>
            <a:r>
              <a:rPr lang="en-US" sz="730" spc="60" kern="0" dirty="0">
                <a:solidFill>
                  <a:srgbClr val="8A9A94"/>
                </a:solidFill>
                <a:latin typeface="Courier New" pitchFamily="34" charset="0"/>
                <a:ea typeface="Courier New" pitchFamily="34" charset="-122"/>
                <a:cs typeface="Courier New" pitchFamily="34" charset="-120"/>
              </a:rPr>
              <a:t>Cuidarte+ · Auditoría de calidad y seguridad</a:t>
            </a:r>
            <a:endParaRPr lang="en-US" sz="730" dirty="0"/>
          </a:p>
        </p:txBody>
      </p:sp>
      <p:sp>
        <p:nvSpPr>
          <p:cNvPr id="6" name="Text 4"/>
          <p:cNvSpPr/>
          <p:nvPr/>
        </p:nvSpPr>
        <p:spPr>
          <a:xfrm>
            <a:off x="10561320" y="6547104"/>
            <a:ext cx="1060704" cy="182880"/>
          </a:xfrm>
          <a:prstGeom prst="rect">
            <a:avLst/>
          </a:prstGeom>
          <a:noFill/>
          <a:ln/>
        </p:spPr>
        <p:txBody>
          <a:bodyPr wrap="square" lIns="0" tIns="0" rIns="0" bIns="0" rtlCol="0" anchor="t"/>
          <a:lstStyle/>
          <a:p>
            <a:pPr algn="r" indent="0" marL="0">
              <a:buNone/>
            </a:pPr>
            <a:r>
              <a:rPr lang="en-US" sz="730" spc="60" kern="0" dirty="0">
                <a:solidFill>
                  <a:srgbClr val="8A9A94"/>
                </a:solidFill>
                <a:latin typeface="Courier New" pitchFamily="34" charset="0"/>
                <a:ea typeface="Courier New" pitchFamily="34" charset="-122"/>
                <a:cs typeface="Courier New" pitchFamily="34" charset="-120"/>
              </a:rPr>
              <a:t>04 / 17</a:t>
            </a:r>
            <a:endParaRPr lang="en-US" sz="730" dirty="0"/>
          </a:p>
        </p:txBody>
      </p:sp>
      <p:sp>
        <p:nvSpPr>
          <p:cNvPr id="7" name="Shape 5"/>
          <p:cNvSpPr/>
          <p:nvPr/>
        </p:nvSpPr>
        <p:spPr>
          <a:xfrm>
            <a:off x="566928" y="1700784"/>
            <a:ext cx="5358384" cy="1975104"/>
          </a:xfrm>
          <a:prstGeom prst="roundRect">
            <a:avLst>
              <a:gd name="adj" fmla="val 1157"/>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8" name="Shape 6"/>
          <p:cNvSpPr/>
          <p:nvPr/>
        </p:nvSpPr>
        <p:spPr>
          <a:xfrm>
            <a:off x="768096" y="1883664"/>
            <a:ext cx="1737360" cy="228600"/>
          </a:xfrm>
          <a:prstGeom prst="roundRect">
            <a:avLst>
              <a:gd name="adj" fmla="val 16000"/>
            </a:avLst>
          </a:prstGeom>
          <a:solidFill>
            <a:srgbClr val="EDF4F0"/>
          </a:solidFill>
          <a:ln w="12700">
            <a:solidFill>
              <a:srgbClr val="EDF4F0"/>
            </a:solidFill>
            <a:prstDash val="solid"/>
          </a:ln>
        </p:spPr>
      </p:sp>
      <p:sp>
        <p:nvSpPr>
          <p:cNvPr id="9" name="Text 7"/>
          <p:cNvSpPr/>
          <p:nvPr/>
        </p:nvSpPr>
        <p:spPr>
          <a:xfrm>
            <a:off x="841248" y="1920240"/>
            <a:ext cx="1591056" cy="182880"/>
          </a:xfrm>
          <a:prstGeom prst="rect">
            <a:avLst/>
          </a:prstGeom>
          <a:noFill/>
          <a:ln/>
        </p:spPr>
        <p:txBody>
          <a:bodyPr wrap="square" lIns="0" tIns="0" rIns="0" bIns="0" rtlCol="0" anchor="t"/>
          <a:lstStyle/>
          <a:p>
            <a:pPr algn="l" indent="0" marL="0">
              <a:buNone/>
            </a:pPr>
            <a:r>
              <a:rPr lang="en-US" sz="720" b="1" spc="80" kern="0" dirty="0">
                <a:solidFill>
                  <a:srgbClr val="123B33"/>
                </a:solidFill>
                <a:latin typeface="Courier New" pitchFamily="34" charset="0"/>
                <a:ea typeface="Courier New" pitchFamily="34" charset="-122"/>
                <a:cs typeface="Courier New" pitchFamily="34" charset="-120"/>
              </a:rPr>
              <a:t>FUNCIONAL · 4 CASOS</a:t>
            </a:r>
            <a:endParaRPr lang="en-US" sz="720" dirty="0"/>
          </a:p>
        </p:txBody>
      </p:sp>
      <p:sp>
        <p:nvSpPr>
          <p:cNvPr id="10" name="Text 8"/>
          <p:cNvSpPr/>
          <p:nvPr/>
        </p:nvSpPr>
        <p:spPr>
          <a:xfrm>
            <a:off x="768096" y="2212848"/>
            <a:ext cx="4892040" cy="274320"/>
          </a:xfrm>
          <a:prstGeom prst="rect">
            <a:avLst/>
          </a:prstGeom>
          <a:noFill/>
          <a:ln/>
        </p:spPr>
        <p:txBody>
          <a:bodyPr wrap="square" lIns="0" tIns="0" rIns="0" bIns="0" rtlCol="0" anchor="t"/>
          <a:lstStyle/>
          <a:p>
            <a:pPr algn="l" indent="0" marL="0">
              <a:buNone/>
            </a:pPr>
            <a:r>
              <a:rPr lang="en-US" sz="1550" b="1" dirty="0">
                <a:solidFill>
                  <a:srgbClr val="1A2A25"/>
                </a:solidFill>
                <a:latin typeface="Cambria" pitchFamily="34" charset="0"/>
                <a:ea typeface="Cambria" pitchFamily="34" charset="-122"/>
                <a:cs typeface="Cambria" pitchFamily="34" charset="-120"/>
              </a:rPr>
              <a:t>Registro y validación de entrada</a:t>
            </a:r>
            <a:endParaRPr lang="en-US" sz="1550" dirty="0"/>
          </a:p>
        </p:txBody>
      </p:sp>
      <p:sp>
        <p:nvSpPr>
          <p:cNvPr id="11" name="Text 9"/>
          <p:cNvSpPr/>
          <p:nvPr/>
        </p:nvSpPr>
        <p:spPr>
          <a:xfrm>
            <a:off x="768096" y="2560320"/>
            <a:ext cx="4892040" cy="457200"/>
          </a:xfrm>
          <a:prstGeom prst="rect">
            <a:avLst/>
          </a:prstGeom>
          <a:noFill/>
          <a:ln/>
        </p:spPr>
        <p:txBody>
          <a:bodyPr wrap="square" lIns="0" tIns="0" rIns="0" bIns="0" rtlCol="0" anchor="t"/>
          <a:lstStyle/>
          <a:p>
            <a:pPr algn="l" indent="0" marL="0">
              <a:lnSpc>
                <a:spcPts val="1250"/>
              </a:lnSpc>
              <a:buNone/>
            </a:pPr>
            <a:r>
              <a:rPr lang="en-US" sz="950" dirty="0">
                <a:solidFill>
                  <a:srgbClr val="5C6D67"/>
                </a:solidFill>
                <a:latin typeface="Calibri" pitchFamily="34" charset="0"/>
                <a:ea typeface="Calibri" pitchFamily="34" charset="-122"/>
                <a:cs typeface="Calibri" pitchFamily="34" charset="-120"/>
              </a:rPr>
              <a:t>Partición de equivalencia y valores límite sobre los campos del paciente.</a:t>
            </a:r>
            <a:endParaRPr lang="en-US" sz="950" dirty="0"/>
          </a:p>
        </p:txBody>
      </p:sp>
      <p:sp>
        <p:nvSpPr>
          <p:cNvPr id="12" name="Text 10"/>
          <p:cNvSpPr/>
          <p:nvPr/>
        </p:nvSpPr>
        <p:spPr>
          <a:xfrm>
            <a:off x="768096" y="3054096"/>
            <a:ext cx="4892040" cy="182880"/>
          </a:xfrm>
          <a:prstGeom prst="rect">
            <a:avLst/>
          </a:prstGeom>
          <a:noFill/>
          <a:ln/>
        </p:spPr>
        <p:txBody>
          <a:bodyPr wrap="square" lIns="0" tIns="0" rIns="0" bIns="0" rtlCol="0" anchor="t"/>
          <a:lstStyle/>
          <a:p>
            <a:pPr algn="l" indent="0" marL="0">
              <a:buNone/>
            </a:pPr>
            <a:r>
              <a:rPr lang="en-US" sz="730" b="1" spc="40" kern="0" dirty="0">
                <a:solidFill>
                  <a:srgbClr val="123B33"/>
                </a:solidFill>
                <a:latin typeface="Courier New" pitchFamily="34" charset="0"/>
                <a:ea typeface="Courier New" pitchFamily="34" charset="-122"/>
                <a:cs typeface="Courier New" pitchFamily="34" charset="-120"/>
              </a:rPr>
              <a:t>RQ-07 · RF-2 · CP001–CP004</a:t>
            </a:r>
            <a:endParaRPr lang="en-US" sz="730" dirty="0"/>
          </a:p>
        </p:txBody>
      </p:sp>
      <p:sp>
        <p:nvSpPr>
          <p:cNvPr id="13" name="Text 11"/>
          <p:cNvSpPr/>
          <p:nvPr/>
        </p:nvSpPr>
        <p:spPr>
          <a:xfrm>
            <a:off x="768096" y="3291840"/>
            <a:ext cx="4892040" cy="182880"/>
          </a:xfrm>
          <a:prstGeom prst="rect">
            <a:avLst/>
          </a:prstGeom>
          <a:noFill/>
          <a:ln/>
        </p:spPr>
        <p:txBody>
          <a:bodyPr wrap="square" lIns="0" tIns="0" rIns="0" bIns="0" rtlCol="0" anchor="t"/>
          <a:lstStyle/>
          <a:p>
            <a:pPr algn="l" indent="0" marL="0">
              <a:buNone/>
            </a:pPr>
            <a:r>
              <a:rPr lang="en-US" sz="710" spc="30" kern="0" dirty="0">
                <a:solidFill>
                  <a:srgbClr val="8A9A94"/>
                </a:solidFill>
                <a:latin typeface="Courier New" pitchFamily="34" charset="0"/>
                <a:ea typeface="Courier New" pitchFamily="34" charset="-122"/>
                <a:cs typeface="Courier New" pitchFamily="34" charset="-120"/>
              </a:rPr>
              <a:t>positivo · negativo · duplicado · borde</a:t>
            </a:r>
            <a:endParaRPr lang="en-US" sz="710" dirty="0"/>
          </a:p>
        </p:txBody>
      </p:sp>
      <p:sp>
        <p:nvSpPr>
          <p:cNvPr id="14" name="Shape 12"/>
          <p:cNvSpPr/>
          <p:nvPr/>
        </p:nvSpPr>
        <p:spPr>
          <a:xfrm>
            <a:off x="6053328" y="1700784"/>
            <a:ext cx="5358384" cy="1975104"/>
          </a:xfrm>
          <a:prstGeom prst="roundRect">
            <a:avLst>
              <a:gd name="adj" fmla="val 1157"/>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15" name="Shape 13"/>
          <p:cNvSpPr/>
          <p:nvPr/>
        </p:nvSpPr>
        <p:spPr>
          <a:xfrm>
            <a:off x="6254496" y="1883664"/>
            <a:ext cx="1737360" cy="228600"/>
          </a:xfrm>
          <a:prstGeom prst="roundRect">
            <a:avLst>
              <a:gd name="adj" fmla="val 16000"/>
            </a:avLst>
          </a:prstGeom>
          <a:solidFill>
            <a:srgbClr val="EDF4F0"/>
          </a:solidFill>
          <a:ln w="12700">
            <a:solidFill>
              <a:srgbClr val="EDF4F0"/>
            </a:solidFill>
            <a:prstDash val="solid"/>
          </a:ln>
        </p:spPr>
      </p:sp>
      <p:sp>
        <p:nvSpPr>
          <p:cNvPr id="16" name="Text 14"/>
          <p:cNvSpPr/>
          <p:nvPr/>
        </p:nvSpPr>
        <p:spPr>
          <a:xfrm>
            <a:off x="6327648" y="1920240"/>
            <a:ext cx="1591056" cy="182880"/>
          </a:xfrm>
          <a:prstGeom prst="rect">
            <a:avLst/>
          </a:prstGeom>
          <a:noFill/>
          <a:ln/>
        </p:spPr>
        <p:txBody>
          <a:bodyPr wrap="square" lIns="0" tIns="0" rIns="0" bIns="0" rtlCol="0" anchor="t"/>
          <a:lstStyle/>
          <a:p>
            <a:pPr algn="l" indent="0" marL="0">
              <a:buNone/>
            </a:pPr>
            <a:r>
              <a:rPr lang="en-US" sz="720" b="1" spc="80" kern="0" dirty="0">
                <a:solidFill>
                  <a:srgbClr val="123B33"/>
                </a:solidFill>
                <a:latin typeface="Courier New" pitchFamily="34" charset="0"/>
                <a:ea typeface="Courier New" pitchFamily="34" charset="-122"/>
                <a:cs typeface="Courier New" pitchFamily="34" charset="-120"/>
              </a:rPr>
              <a:t>SEGURIDAD · 3 CASOS</a:t>
            </a:r>
            <a:endParaRPr lang="en-US" sz="720" dirty="0"/>
          </a:p>
        </p:txBody>
      </p:sp>
      <p:sp>
        <p:nvSpPr>
          <p:cNvPr id="17" name="Text 15"/>
          <p:cNvSpPr/>
          <p:nvPr/>
        </p:nvSpPr>
        <p:spPr>
          <a:xfrm>
            <a:off x="6254496" y="2212848"/>
            <a:ext cx="4892040" cy="274320"/>
          </a:xfrm>
          <a:prstGeom prst="rect">
            <a:avLst/>
          </a:prstGeom>
          <a:noFill/>
          <a:ln/>
        </p:spPr>
        <p:txBody>
          <a:bodyPr wrap="square" lIns="0" tIns="0" rIns="0" bIns="0" rtlCol="0" anchor="t"/>
          <a:lstStyle/>
          <a:p>
            <a:pPr algn="l" indent="0" marL="0">
              <a:buNone/>
            </a:pPr>
            <a:r>
              <a:rPr lang="en-US" sz="1550" b="1" dirty="0">
                <a:solidFill>
                  <a:srgbClr val="1A2A25"/>
                </a:solidFill>
                <a:latin typeface="Cambria" pitchFamily="34" charset="0"/>
                <a:ea typeface="Cambria" pitchFamily="34" charset="-122"/>
                <a:cs typeface="Cambria" pitchFamily="34" charset="-120"/>
              </a:rPr>
              <a:t>Autenticación, sesión y autorización</a:t>
            </a:r>
            <a:endParaRPr lang="en-US" sz="1550" dirty="0"/>
          </a:p>
        </p:txBody>
      </p:sp>
      <p:sp>
        <p:nvSpPr>
          <p:cNvPr id="18" name="Text 16"/>
          <p:cNvSpPr/>
          <p:nvPr/>
        </p:nvSpPr>
        <p:spPr>
          <a:xfrm>
            <a:off x="6254496" y="2560320"/>
            <a:ext cx="4892040" cy="457200"/>
          </a:xfrm>
          <a:prstGeom prst="rect">
            <a:avLst/>
          </a:prstGeom>
          <a:noFill/>
          <a:ln/>
        </p:spPr>
        <p:txBody>
          <a:bodyPr wrap="square" lIns="0" tIns="0" rIns="0" bIns="0" rtlCol="0" anchor="t"/>
          <a:lstStyle/>
          <a:p>
            <a:pPr algn="l" indent="0" marL="0">
              <a:lnSpc>
                <a:spcPts val="1250"/>
              </a:lnSpc>
              <a:buNone/>
            </a:pPr>
            <a:r>
              <a:rPr lang="en-US" sz="950" dirty="0">
                <a:solidFill>
                  <a:srgbClr val="5C6D67"/>
                </a:solidFill>
                <a:latin typeface="Calibri" pitchFamily="34" charset="0"/>
                <a:ea typeface="Calibri" pitchFamily="34" charset="-122"/>
                <a:cs typeface="Calibri" pitchFamily="34" charset="-120"/>
              </a:rPr>
              <a:t>JWT, revocación tras logout y control de rol sobre exámenes.</a:t>
            </a:r>
            <a:endParaRPr lang="en-US" sz="950" dirty="0"/>
          </a:p>
        </p:txBody>
      </p:sp>
      <p:sp>
        <p:nvSpPr>
          <p:cNvPr id="19" name="Text 17"/>
          <p:cNvSpPr/>
          <p:nvPr/>
        </p:nvSpPr>
        <p:spPr>
          <a:xfrm>
            <a:off x="6254496" y="3054096"/>
            <a:ext cx="4892040" cy="182880"/>
          </a:xfrm>
          <a:prstGeom prst="rect">
            <a:avLst/>
          </a:prstGeom>
          <a:noFill/>
          <a:ln/>
        </p:spPr>
        <p:txBody>
          <a:bodyPr wrap="square" lIns="0" tIns="0" rIns="0" bIns="0" rtlCol="0" anchor="t"/>
          <a:lstStyle/>
          <a:p>
            <a:pPr algn="l" indent="0" marL="0">
              <a:buNone/>
            </a:pPr>
            <a:r>
              <a:rPr lang="en-US" sz="730" b="1" spc="40" kern="0" dirty="0">
                <a:solidFill>
                  <a:srgbClr val="123B33"/>
                </a:solidFill>
                <a:latin typeface="Courier New" pitchFamily="34" charset="0"/>
                <a:ea typeface="Courier New" pitchFamily="34" charset="-122"/>
                <a:cs typeface="Courier New" pitchFamily="34" charset="-120"/>
              </a:rPr>
              <a:t>RQ-01/02 · NFR-SEG-4/9 · CP005–CP007</a:t>
            </a:r>
            <a:endParaRPr lang="en-US" sz="730" dirty="0"/>
          </a:p>
        </p:txBody>
      </p:sp>
      <p:sp>
        <p:nvSpPr>
          <p:cNvPr id="20" name="Text 18"/>
          <p:cNvSpPr/>
          <p:nvPr/>
        </p:nvSpPr>
        <p:spPr>
          <a:xfrm>
            <a:off x="6254496" y="3291840"/>
            <a:ext cx="4892040" cy="182880"/>
          </a:xfrm>
          <a:prstGeom prst="rect">
            <a:avLst/>
          </a:prstGeom>
          <a:noFill/>
          <a:ln/>
        </p:spPr>
        <p:txBody>
          <a:bodyPr wrap="square" lIns="0" tIns="0" rIns="0" bIns="0" rtlCol="0" anchor="t"/>
          <a:lstStyle/>
          <a:p>
            <a:pPr algn="l" indent="0" marL="0">
              <a:buNone/>
            </a:pPr>
            <a:r>
              <a:rPr lang="en-US" sz="710" spc="30" kern="0" dirty="0">
                <a:solidFill>
                  <a:srgbClr val="8A9A94"/>
                </a:solidFill>
                <a:latin typeface="Courier New" pitchFamily="34" charset="0"/>
                <a:ea typeface="Courier New" pitchFamily="34" charset="-122"/>
                <a:cs typeface="Courier New" pitchFamily="34" charset="-120"/>
              </a:rPr>
              <a:t>token válido · revocado · rol paciente</a:t>
            </a:r>
            <a:endParaRPr lang="en-US" sz="710" dirty="0"/>
          </a:p>
        </p:txBody>
      </p:sp>
      <p:sp>
        <p:nvSpPr>
          <p:cNvPr id="21" name="Shape 19"/>
          <p:cNvSpPr/>
          <p:nvPr/>
        </p:nvSpPr>
        <p:spPr>
          <a:xfrm>
            <a:off x="566928" y="3858768"/>
            <a:ext cx="5358384" cy="1975104"/>
          </a:xfrm>
          <a:prstGeom prst="roundRect">
            <a:avLst>
              <a:gd name="adj" fmla="val 1157"/>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22" name="Shape 20"/>
          <p:cNvSpPr/>
          <p:nvPr/>
        </p:nvSpPr>
        <p:spPr>
          <a:xfrm>
            <a:off x="768096" y="4041648"/>
            <a:ext cx="1737360" cy="228600"/>
          </a:xfrm>
          <a:prstGeom prst="roundRect">
            <a:avLst>
              <a:gd name="adj" fmla="val 16000"/>
            </a:avLst>
          </a:prstGeom>
          <a:solidFill>
            <a:srgbClr val="EDF4F0"/>
          </a:solidFill>
          <a:ln w="12700">
            <a:solidFill>
              <a:srgbClr val="EDF4F0"/>
            </a:solidFill>
            <a:prstDash val="solid"/>
          </a:ln>
        </p:spPr>
      </p:sp>
      <p:sp>
        <p:nvSpPr>
          <p:cNvPr id="23" name="Text 21"/>
          <p:cNvSpPr/>
          <p:nvPr/>
        </p:nvSpPr>
        <p:spPr>
          <a:xfrm>
            <a:off x="841248" y="4078224"/>
            <a:ext cx="1591056" cy="182880"/>
          </a:xfrm>
          <a:prstGeom prst="rect">
            <a:avLst/>
          </a:prstGeom>
          <a:noFill/>
          <a:ln/>
        </p:spPr>
        <p:txBody>
          <a:bodyPr wrap="square" lIns="0" tIns="0" rIns="0" bIns="0" rtlCol="0" anchor="t"/>
          <a:lstStyle/>
          <a:p>
            <a:pPr algn="l" indent="0" marL="0">
              <a:buNone/>
            </a:pPr>
            <a:r>
              <a:rPr lang="en-US" sz="720" b="1" spc="80" kern="0" dirty="0">
                <a:solidFill>
                  <a:srgbClr val="123B33"/>
                </a:solidFill>
                <a:latin typeface="Courier New" pitchFamily="34" charset="0"/>
                <a:ea typeface="Courier New" pitchFamily="34" charset="-122"/>
                <a:cs typeface="Courier New" pitchFamily="34" charset="-120"/>
              </a:rPr>
              <a:t>INTEGRIDAD · 1 CASO</a:t>
            </a:r>
            <a:endParaRPr lang="en-US" sz="720" dirty="0"/>
          </a:p>
        </p:txBody>
      </p:sp>
      <p:sp>
        <p:nvSpPr>
          <p:cNvPr id="24" name="Text 22"/>
          <p:cNvSpPr/>
          <p:nvPr/>
        </p:nvSpPr>
        <p:spPr>
          <a:xfrm>
            <a:off x="768096" y="4370832"/>
            <a:ext cx="4892040" cy="274320"/>
          </a:xfrm>
          <a:prstGeom prst="rect">
            <a:avLst/>
          </a:prstGeom>
          <a:noFill/>
          <a:ln/>
        </p:spPr>
        <p:txBody>
          <a:bodyPr wrap="square" lIns="0" tIns="0" rIns="0" bIns="0" rtlCol="0" anchor="t"/>
          <a:lstStyle/>
          <a:p>
            <a:pPr algn="l" indent="0" marL="0">
              <a:buNone/>
            </a:pPr>
            <a:r>
              <a:rPr lang="en-US" sz="1550" b="1" dirty="0">
                <a:solidFill>
                  <a:srgbClr val="1A2A25"/>
                </a:solidFill>
                <a:latin typeface="Cambria" pitchFamily="34" charset="0"/>
                <a:ea typeface="Cambria" pitchFamily="34" charset="-122"/>
                <a:cs typeface="Cambria" pitchFamily="34" charset="-120"/>
              </a:rPr>
              <a:t>Carga y descarga de documentos</a:t>
            </a:r>
            <a:endParaRPr lang="en-US" sz="1550" dirty="0"/>
          </a:p>
        </p:txBody>
      </p:sp>
      <p:sp>
        <p:nvSpPr>
          <p:cNvPr id="25" name="Text 23"/>
          <p:cNvSpPr/>
          <p:nvPr/>
        </p:nvSpPr>
        <p:spPr>
          <a:xfrm>
            <a:off x="768096" y="4718304"/>
            <a:ext cx="4892040" cy="457200"/>
          </a:xfrm>
          <a:prstGeom prst="rect">
            <a:avLst/>
          </a:prstGeom>
          <a:noFill/>
          <a:ln/>
        </p:spPr>
        <p:txBody>
          <a:bodyPr wrap="square" lIns="0" tIns="0" rIns="0" bIns="0" rtlCol="0" anchor="t"/>
          <a:lstStyle/>
          <a:p>
            <a:pPr algn="l" indent="0" marL="0">
              <a:lnSpc>
                <a:spcPts val="1250"/>
              </a:lnSpc>
              <a:buNone/>
            </a:pPr>
            <a:r>
              <a:rPr lang="en-US" sz="950" dirty="0">
                <a:solidFill>
                  <a:srgbClr val="5C6D67"/>
                </a:solidFill>
                <a:latin typeface="Calibri" pitchFamily="34" charset="0"/>
                <a:ea typeface="Calibri" pitchFamily="34" charset="-122"/>
                <a:cs typeface="Calibri" pitchFamily="34" charset="-120"/>
              </a:rPr>
              <a:t>Verificación byte a byte con SHA-256 y medición de tiempos.</a:t>
            </a:r>
            <a:endParaRPr lang="en-US" sz="950" dirty="0"/>
          </a:p>
        </p:txBody>
      </p:sp>
      <p:sp>
        <p:nvSpPr>
          <p:cNvPr id="26" name="Text 24"/>
          <p:cNvSpPr/>
          <p:nvPr/>
        </p:nvSpPr>
        <p:spPr>
          <a:xfrm>
            <a:off x="768096" y="5212080"/>
            <a:ext cx="4892040" cy="182880"/>
          </a:xfrm>
          <a:prstGeom prst="rect">
            <a:avLst/>
          </a:prstGeom>
          <a:noFill/>
          <a:ln/>
        </p:spPr>
        <p:txBody>
          <a:bodyPr wrap="square" lIns="0" tIns="0" rIns="0" bIns="0" rtlCol="0" anchor="t"/>
          <a:lstStyle/>
          <a:p>
            <a:pPr algn="l" indent="0" marL="0">
              <a:buNone/>
            </a:pPr>
            <a:r>
              <a:rPr lang="en-US" sz="730" b="1" spc="40" kern="0" dirty="0">
                <a:solidFill>
                  <a:srgbClr val="123B33"/>
                </a:solidFill>
                <a:latin typeface="Courier New" pitchFamily="34" charset="0"/>
                <a:ea typeface="Courier New" pitchFamily="34" charset="-122"/>
                <a:cs typeface="Courier New" pitchFamily="34" charset="-120"/>
              </a:rPr>
              <a:t>RQ-03 · RF-4.2/4.3 · CP008</a:t>
            </a:r>
            <a:endParaRPr lang="en-US" sz="730" dirty="0"/>
          </a:p>
        </p:txBody>
      </p:sp>
      <p:sp>
        <p:nvSpPr>
          <p:cNvPr id="27" name="Text 25"/>
          <p:cNvSpPr/>
          <p:nvPr/>
        </p:nvSpPr>
        <p:spPr>
          <a:xfrm>
            <a:off x="768096" y="5449824"/>
            <a:ext cx="4892040" cy="182880"/>
          </a:xfrm>
          <a:prstGeom prst="rect">
            <a:avLst/>
          </a:prstGeom>
          <a:noFill/>
          <a:ln/>
        </p:spPr>
        <p:txBody>
          <a:bodyPr wrap="square" lIns="0" tIns="0" rIns="0" bIns="0" rtlCol="0" anchor="t"/>
          <a:lstStyle/>
          <a:p>
            <a:pPr algn="l" indent="0" marL="0">
              <a:buNone/>
            </a:pPr>
            <a:r>
              <a:rPr lang="en-US" sz="710" spc="30" kern="0" dirty="0">
                <a:solidFill>
                  <a:srgbClr val="8A9A94"/>
                </a:solidFill>
                <a:latin typeface="Courier New" pitchFamily="34" charset="0"/>
                <a:ea typeface="Courier New" pitchFamily="34" charset="-122"/>
                <a:cs typeface="Courier New" pitchFamily="34" charset="-120"/>
              </a:rPr>
              <a:t>subida 201 · descarga 200 · hash igual</a:t>
            </a:r>
            <a:endParaRPr lang="en-US" sz="710" dirty="0"/>
          </a:p>
        </p:txBody>
      </p:sp>
      <p:sp>
        <p:nvSpPr>
          <p:cNvPr id="28" name="Shape 26"/>
          <p:cNvSpPr/>
          <p:nvPr/>
        </p:nvSpPr>
        <p:spPr>
          <a:xfrm>
            <a:off x="6053328" y="3858768"/>
            <a:ext cx="5358384" cy="1975104"/>
          </a:xfrm>
          <a:prstGeom prst="roundRect">
            <a:avLst>
              <a:gd name="adj" fmla="val 1157"/>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29" name="Shape 27"/>
          <p:cNvSpPr/>
          <p:nvPr/>
        </p:nvSpPr>
        <p:spPr>
          <a:xfrm>
            <a:off x="6254496" y="4041648"/>
            <a:ext cx="1417320" cy="228600"/>
          </a:xfrm>
          <a:prstGeom prst="roundRect">
            <a:avLst>
              <a:gd name="adj" fmla="val 16000"/>
            </a:avLst>
          </a:prstGeom>
          <a:solidFill>
            <a:srgbClr val="EDF4F0"/>
          </a:solidFill>
          <a:ln w="12700">
            <a:solidFill>
              <a:srgbClr val="EDF4F0"/>
            </a:solidFill>
            <a:prstDash val="solid"/>
          </a:ln>
        </p:spPr>
      </p:sp>
      <p:sp>
        <p:nvSpPr>
          <p:cNvPr id="30" name="Text 28"/>
          <p:cNvSpPr/>
          <p:nvPr/>
        </p:nvSpPr>
        <p:spPr>
          <a:xfrm>
            <a:off x="6327648" y="4078224"/>
            <a:ext cx="1271016" cy="182880"/>
          </a:xfrm>
          <a:prstGeom prst="rect">
            <a:avLst/>
          </a:prstGeom>
          <a:noFill/>
          <a:ln/>
        </p:spPr>
        <p:txBody>
          <a:bodyPr wrap="square" lIns="0" tIns="0" rIns="0" bIns="0" rtlCol="0" anchor="t"/>
          <a:lstStyle/>
          <a:p>
            <a:pPr algn="l" indent="0" marL="0">
              <a:buNone/>
            </a:pPr>
            <a:r>
              <a:rPr lang="en-US" sz="720" b="1" spc="80" kern="0" dirty="0">
                <a:solidFill>
                  <a:srgbClr val="123B33"/>
                </a:solidFill>
                <a:latin typeface="Courier New" pitchFamily="34" charset="0"/>
                <a:ea typeface="Courier New" pitchFamily="34" charset="-122"/>
                <a:cs typeface="Courier New" pitchFamily="34" charset="-120"/>
              </a:rPr>
              <a:t>ESTÁTICO · SAST</a:t>
            </a:r>
            <a:endParaRPr lang="en-US" sz="720" dirty="0"/>
          </a:p>
        </p:txBody>
      </p:sp>
      <p:sp>
        <p:nvSpPr>
          <p:cNvPr id="31" name="Text 29"/>
          <p:cNvSpPr/>
          <p:nvPr/>
        </p:nvSpPr>
        <p:spPr>
          <a:xfrm>
            <a:off x="6254496" y="4370832"/>
            <a:ext cx="4892040" cy="274320"/>
          </a:xfrm>
          <a:prstGeom prst="rect">
            <a:avLst/>
          </a:prstGeom>
          <a:noFill/>
          <a:ln/>
        </p:spPr>
        <p:txBody>
          <a:bodyPr wrap="square" lIns="0" tIns="0" rIns="0" bIns="0" rtlCol="0" anchor="t"/>
          <a:lstStyle/>
          <a:p>
            <a:pPr algn="l" indent="0" marL="0">
              <a:buNone/>
            </a:pPr>
            <a:r>
              <a:rPr lang="en-US" sz="1550" b="1" dirty="0">
                <a:solidFill>
                  <a:srgbClr val="1A2A25"/>
                </a:solidFill>
                <a:latin typeface="Cambria" pitchFamily="34" charset="0"/>
                <a:ea typeface="Cambria" pitchFamily="34" charset="-122"/>
                <a:cs typeface="Cambria" pitchFamily="34" charset="-120"/>
              </a:rPr>
              <a:t>Análisis estático con SonarQube</a:t>
            </a:r>
            <a:endParaRPr lang="en-US" sz="1550" dirty="0"/>
          </a:p>
        </p:txBody>
      </p:sp>
      <p:sp>
        <p:nvSpPr>
          <p:cNvPr id="32" name="Text 30"/>
          <p:cNvSpPr/>
          <p:nvPr/>
        </p:nvSpPr>
        <p:spPr>
          <a:xfrm>
            <a:off x="6254496" y="4718304"/>
            <a:ext cx="4892040" cy="457200"/>
          </a:xfrm>
          <a:prstGeom prst="rect">
            <a:avLst/>
          </a:prstGeom>
          <a:noFill/>
          <a:ln/>
        </p:spPr>
        <p:txBody>
          <a:bodyPr wrap="square" lIns="0" tIns="0" rIns="0" bIns="0" rtlCol="0" anchor="t"/>
          <a:lstStyle/>
          <a:p>
            <a:pPr algn="l" indent="0" marL="0">
              <a:lnSpc>
                <a:spcPts val="1250"/>
              </a:lnSpc>
              <a:buNone/>
            </a:pPr>
            <a:r>
              <a:rPr lang="en-US" sz="950" dirty="0">
                <a:solidFill>
                  <a:srgbClr val="5C6D67"/>
                </a:solidFill>
                <a:latin typeface="Calibri" pitchFamily="34" charset="0"/>
                <a:ea typeface="Calibri" pitchFamily="34" charset="-122"/>
                <a:cs typeface="Calibri" pitchFamily="34" charset="-120"/>
              </a:rPr>
              <a:t>Complejidad cognitiva, duplicación y malas prácticas en 10.133 líneas.</a:t>
            </a:r>
            <a:endParaRPr lang="en-US" sz="950" dirty="0"/>
          </a:p>
        </p:txBody>
      </p:sp>
      <p:sp>
        <p:nvSpPr>
          <p:cNvPr id="33" name="Text 31"/>
          <p:cNvSpPr/>
          <p:nvPr/>
        </p:nvSpPr>
        <p:spPr>
          <a:xfrm>
            <a:off x="6254496" y="5212080"/>
            <a:ext cx="4892040" cy="182880"/>
          </a:xfrm>
          <a:prstGeom prst="rect">
            <a:avLst/>
          </a:prstGeom>
          <a:noFill/>
          <a:ln/>
        </p:spPr>
        <p:txBody>
          <a:bodyPr wrap="square" lIns="0" tIns="0" rIns="0" bIns="0" rtlCol="0" anchor="t"/>
          <a:lstStyle/>
          <a:p>
            <a:pPr algn="l" indent="0" marL="0">
              <a:buNone/>
            </a:pPr>
            <a:r>
              <a:rPr lang="en-US" sz="730" b="1" spc="40" kern="0" dirty="0">
                <a:solidFill>
                  <a:srgbClr val="123B33"/>
                </a:solidFill>
                <a:latin typeface="Courier New" pitchFamily="34" charset="0"/>
                <a:ea typeface="Courier New" pitchFamily="34" charset="-122"/>
                <a:cs typeface="Courier New" pitchFamily="34" charset="-120"/>
              </a:rPr>
              <a:t>ISO/IEC 25010 · NFR-SEG-1…9</a:t>
            </a:r>
            <a:endParaRPr lang="en-US" sz="730" dirty="0"/>
          </a:p>
        </p:txBody>
      </p:sp>
      <p:sp>
        <p:nvSpPr>
          <p:cNvPr id="34" name="Text 32"/>
          <p:cNvSpPr/>
          <p:nvPr/>
        </p:nvSpPr>
        <p:spPr>
          <a:xfrm>
            <a:off x="6254496" y="5449824"/>
            <a:ext cx="4892040" cy="182880"/>
          </a:xfrm>
          <a:prstGeom prst="rect">
            <a:avLst/>
          </a:prstGeom>
          <a:noFill/>
          <a:ln/>
        </p:spPr>
        <p:txBody>
          <a:bodyPr wrap="square" lIns="0" tIns="0" rIns="0" bIns="0" rtlCol="0" anchor="t"/>
          <a:lstStyle/>
          <a:p>
            <a:pPr algn="l" indent="0" marL="0">
              <a:buNone/>
            </a:pPr>
            <a:r>
              <a:rPr lang="en-US" sz="710" spc="30" kern="0" dirty="0">
                <a:solidFill>
                  <a:srgbClr val="8A9A94"/>
                </a:solidFill>
                <a:latin typeface="Courier New" pitchFamily="34" charset="0"/>
                <a:ea typeface="Courier New" pitchFamily="34" charset="-122"/>
                <a:cs typeface="Courier New" pitchFamily="34" charset="-120"/>
              </a:rPr>
              <a:t>73 issues · 8 críticos · QG OK</a:t>
            </a:r>
            <a:endParaRPr lang="en-US" sz="710" dirty="0"/>
          </a:p>
        </p:txBody>
      </p:sp>
      <p:sp>
        <p:nvSpPr>
          <p:cNvPr id="35" name="Text 33"/>
          <p:cNvSpPr/>
          <p:nvPr/>
        </p:nvSpPr>
        <p:spPr>
          <a:xfrm>
            <a:off x="566928" y="6016752"/>
            <a:ext cx="10881360" cy="274320"/>
          </a:xfrm>
          <a:prstGeom prst="rect">
            <a:avLst/>
          </a:prstGeom>
          <a:noFill/>
          <a:ln/>
        </p:spPr>
        <p:txBody>
          <a:bodyPr wrap="square" lIns="0" tIns="0" rIns="0" bIns="0" rtlCol="0" anchor="t"/>
          <a:lstStyle/>
          <a:p>
            <a:pPr algn="l" indent="0" marL="0">
              <a:buNone/>
            </a:pPr>
            <a:r>
              <a:rPr lang="en-US" sz="950" i="1" dirty="0">
                <a:solidFill>
                  <a:srgbClr val="5C6D67"/>
                </a:solidFill>
                <a:latin typeface="Calibri" pitchFamily="34" charset="0"/>
                <a:ea typeface="Calibri" pitchFamily="34" charset="-122"/>
                <a:cs typeface="Calibri" pitchFamily="34" charset="-120"/>
              </a:rPr>
              <a:t>La selección fue proporcional al riesgo del módulo, no una cobertura exhaustiva de toda la plataforma.</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566928" y="411480"/>
            <a:ext cx="77724" cy="77724"/>
          </a:xfrm>
          <a:prstGeom prst="rect">
            <a:avLst/>
          </a:prstGeom>
          <a:solidFill>
            <a:srgbClr val="C98A1E"/>
          </a:solidFill>
          <a:ln w="12700">
            <a:solidFill>
              <a:srgbClr val="C98A1E"/>
            </a:solidFill>
            <a:prstDash val="solid"/>
          </a:ln>
        </p:spPr>
      </p:sp>
      <p:sp>
        <p:nvSpPr>
          <p:cNvPr id="3" name="Text 1"/>
          <p:cNvSpPr/>
          <p:nvPr/>
        </p:nvSpPr>
        <p:spPr>
          <a:xfrm>
            <a:off x="731520" y="338328"/>
            <a:ext cx="9601200" cy="201168"/>
          </a:xfrm>
          <a:prstGeom prst="rect">
            <a:avLst/>
          </a:prstGeom>
          <a:noFill/>
          <a:ln/>
        </p:spPr>
        <p:txBody>
          <a:bodyPr wrap="square" lIns="0" tIns="0" rIns="0" bIns="0" rtlCol="0" anchor="t"/>
          <a:lstStyle/>
          <a:p>
            <a:pPr algn="l" indent="0" marL="0">
              <a:buNone/>
            </a:pPr>
            <a:r>
              <a:rPr lang="en-US" sz="800" b="1" spc="130" kern="0" dirty="0">
                <a:solidFill>
                  <a:srgbClr val="5C6D67"/>
                </a:solidFill>
                <a:latin typeface="Courier New" pitchFamily="34" charset="0"/>
                <a:ea typeface="Courier New" pitchFamily="34" charset="-122"/>
                <a:cs typeface="Courier New" pitchFamily="34" charset="-120"/>
              </a:rPr>
              <a:t>04 · TIPOS DE PRUEBA</a:t>
            </a:r>
            <a:endParaRPr lang="en-US" sz="800" dirty="0"/>
          </a:p>
        </p:txBody>
      </p:sp>
      <p:sp>
        <p:nvSpPr>
          <p:cNvPr id="4" name="Text 2"/>
          <p:cNvSpPr/>
          <p:nvPr/>
        </p:nvSpPr>
        <p:spPr>
          <a:xfrm>
            <a:off x="566928" y="640080"/>
            <a:ext cx="11057839" cy="941832"/>
          </a:xfrm>
          <a:prstGeom prst="rect">
            <a:avLst/>
          </a:prstGeom>
          <a:noFill/>
          <a:ln/>
        </p:spPr>
        <p:txBody>
          <a:bodyPr wrap="square" lIns="0" tIns="0" rIns="0" bIns="0" rtlCol="0" anchor="t"/>
          <a:lstStyle/>
          <a:p>
            <a:pPr algn="l" indent="0" marL="0">
              <a:lnSpc>
                <a:spcPts val="3100"/>
              </a:lnSpc>
              <a:buNone/>
            </a:pPr>
            <a:r>
              <a:rPr lang="en-US" sz="2600" b="1" dirty="0">
                <a:solidFill>
                  <a:srgbClr val="1A2A25"/>
                </a:solidFill>
                <a:latin typeface="Cambria" pitchFamily="34" charset="0"/>
                <a:ea typeface="Cambria" pitchFamily="34" charset="-122"/>
                <a:cs typeface="Cambria" pitchFamily="34" charset="-120"/>
              </a:rPr>
              <a:t>Qué detecta cada tipo — y qué quedó fuera de alcance</a:t>
            </a:r>
            <a:endParaRPr lang="en-US" sz="2600" dirty="0"/>
          </a:p>
        </p:txBody>
      </p:sp>
      <p:sp>
        <p:nvSpPr>
          <p:cNvPr id="5" name="Text 3"/>
          <p:cNvSpPr/>
          <p:nvPr/>
        </p:nvSpPr>
        <p:spPr>
          <a:xfrm>
            <a:off x="566928" y="6547104"/>
            <a:ext cx="5943600" cy="182880"/>
          </a:xfrm>
          <a:prstGeom prst="rect">
            <a:avLst/>
          </a:prstGeom>
          <a:noFill/>
          <a:ln/>
        </p:spPr>
        <p:txBody>
          <a:bodyPr wrap="square" lIns="0" tIns="0" rIns="0" bIns="0" rtlCol="0" anchor="t"/>
          <a:lstStyle/>
          <a:p>
            <a:pPr algn="l" indent="0" marL="0">
              <a:buNone/>
            </a:pPr>
            <a:r>
              <a:rPr lang="en-US" sz="730" spc="60" kern="0" dirty="0">
                <a:solidFill>
                  <a:srgbClr val="8A9A94"/>
                </a:solidFill>
                <a:latin typeface="Courier New" pitchFamily="34" charset="0"/>
                <a:ea typeface="Courier New" pitchFamily="34" charset="-122"/>
                <a:cs typeface="Courier New" pitchFamily="34" charset="-120"/>
              </a:rPr>
              <a:t>Cuidarte+ · Auditoría de calidad y seguridad</a:t>
            </a:r>
            <a:endParaRPr lang="en-US" sz="730" dirty="0"/>
          </a:p>
        </p:txBody>
      </p:sp>
      <p:sp>
        <p:nvSpPr>
          <p:cNvPr id="6" name="Text 4"/>
          <p:cNvSpPr/>
          <p:nvPr/>
        </p:nvSpPr>
        <p:spPr>
          <a:xfrm>
            <a:off x="10561320" y="6547104"/>
            <a:ext cx="1060704" cy="182880"/>
          </a:xfrm>
          <a:prstGeom prst="rect">
            <a:avLst/>
          </a:prstGeom>
          <a:noFill/>
          <a:ln/>
        </p:spPr>
        <p:txBody>
          <a:bodyPr wrap="square" lIns="0" tIns="0" rIns="0" bIns="0" rtlCol="0" anchor="t"/>
          <a:lstStyle/>
          <a:p>
            <a:pPr algn="r" indent="0" marL="0">
              <a:buNone/>
            </a:pPr>
            <a:r>
              <a:rPr lang="en-US" sz="730" spc="60" kern="0" dirty="0">
                <a:solidFill>
                  <a:srgbClr val="8A9A94"/>
                </a:solidFill>
                <a:latin typeface="Courier New" pitchFamily="34" charset="0"/>
                <a:ea typeface="Courier New" pitchFamily="34" charset="-122"/>
                <a:cs typeface="Courier New" pitchFamily="34" charset="-120"/>
              </a:rPr>
              <a:t>05 / 17</a:t>
            </a:r>
            <a:endParaRPr lang="en-US" sz="73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737360"/>
          <a:ext cx="7726680" cy="914400"/>
        </p:xfrm>
        <a:graphic>
          <a:graphicData uri="http://schemas.openxmlformats.org/drawingml/2006/table">
            <a:tbl>
              <a:tblPr/>
              <a:tblGrid>
                <a:gridCol w="1417320"/>
                <a:gridCol w="2148840"/>
                <a:gridCol w="2240280"/>
                <a:gridCol w="1920240"/>
              </a:tblGrid>
              <a:tr h="749808">
                <a:tc>
                  <a:txBody>
                    <a:bodyPr/>
                    <a:lstStyle/>
                    <a:p>
                      <a:pPr algn="l" indent="0" marL="0">
                        <a:buNone/>
                      </a:pPr>
                      <a:r>
                        <a:rPr lang="en-US" sz="820" b="1" dirty="0">
                          <a:solidFill>
                            <a:srgbClr val="FFFFFF"/>
                          </a:solidFill>
                          <a:latin typeface="Cambria" pitchFamily="34" charset="0"/>
                          <a:ea typeface="Cambria" pitchFamily="34" charset="-122"/>
                          <a:cs typeface="Cambria" pitchFamily="34" charset="-120"/>
                        </a:rPr>
                        <a:t>Tipo</a:t>
                      </a:r>
                      <a:endParaRPr lang="en-US" sz="820" dirty="0">
                        <a:latin typeface="Cambria" charset="0"/>
                        <a:ea typeface="Cambria" charset="0"/>
                        <a:cs typeface="Cambria"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c>
                  <a:txBody>
                    <a:bodyPr/>
                    <a:lstStyle/>
                    <a:p>
                      <a:pPr algn="l" indent="0" marL="0">
                        <a:buNone/>
                      </a:pPr>
                      <a:r>
                        <a:rPr lang="en-US" sz="820" b="1" dirty="0">
                          <a:solidFill>
                            <a:srgbClr val="FFFFFF"/>
                          </a:solidFill>
                          <a:latin typeface="Calibri" pitchFamily="34" charset="0"/>
                          <a:ea typeface="Calibri" pitchFamily="34" charset="-122"/>
                          <a:cs typeface="Calibri" pitchFamily="34" charset="-120"/>
                        </a:rPr>
                        <a:t>Defecto que detecta</a:t>
                      </a:r>
                      <a:endParaRPr lang="en-US" sz="820" dirty="0">
                        <a:latin typeface="Calibri" charset="0"/>
                        <a:ea typeface="Calibri" charset="0"/>
                        <a:cs typeface="Calibri"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c>
                  <a:txBody>
                    <a:bodyPr/>
                    <a:lstStyle/>
                    <a:p>
                      <a:pPr algn="l" indent="0" marL="0">
                        <a:buNone/>
                      </a:pPr>
                      <a:r>
                        <a:rPr lang="en-US" sz="820" b="1" dirty="0">
                          <a:solidFill>
                            <a:srgbClr val="FFFFFF"/>
                          </a:solidFill>
                          <a:latin typeface="Calibri" pitchFamily="34" charset="0"/>
                          <a:ea typeface="Calibri" pitchFamily="34" charset="-122"/>
                          <a:cs typeface="Calibri" pitchFamily="34" charset="-120"/>
                        </a:rPr>
                        <a:t>Evidencia</a:t>
                      </a:r>
                      <a:endParaRPr lang="en-US" sz="820" dirty="0">
                        <a:latin typeface="Calibri" charset="0"/>
                        <a:ea typeface="Calibri" charset="0"/>
                        <a:cs typeface="Calibri"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c>
                  <a:txBody>
                    <a:bodyPr/>
                    <a:lstStyle/>
                    <a:p>
                      <a:pPr algn="l" indent="0" marL="0">
                        <a:buNone/>
                      </a:pPr>
                      <a:r>
                        <a:rPr lang="en-US" sz="820" b="1" dirty="0">
                          <a:solidFill>
                            <a:srgbClr val="FFFFFF"/>
                          </a:solidFill>
                          <a:latin typeface="Calibri" pitchFamily="34" charset="0"/>
                          <a:ea typeface="Calibri" pitchFamily="34" charset="-122"/>
                          <a:cs typeface="Calibri" pitchFamily="34" charset="-120"/>
                        </a:rPr>
                        <a:t>Impacto</a:t>
                      </a:r>
                      <a:endParaRPr lang="en-US" sz="820" dirty="0">
                        <a:latin typeface="Calibri" charset="0"/>
                        <a:ea typeface="Calibri" charset="0"/>
                        <a:cs typeface="Calibri"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r>
              <a:tr h="749808">
                <a:tc>
                  <a:txBody>
                    <a:bodyPr/>
                    <a:lstStyle/>
                    <a:p>
                      <a:pPr algn="l" indent="0" marL="0">
                        <a:buNone/>
                      </a:pPr>
                      <a:r>
                        <a:rPr lang="en-US" sz="880" dirty="0">
                          <a:solidFill>
                            <a:srgbClr val="1A2A25"/>
                          </a:solidFill>
                          <a:latin typeface="Cambria" pitchFamily="34" charset="0"/>
                          <a:ea typeface="Cambria" pitchFamily="34" charset="-122"/>
                          <a:cs typeface="Cambria" pitchFamily="34" charset="-120"/>
                        </a:rPr>
                        <a:t>Funcional</a:t>
                      </a:r>
                      <a:endParaRPr lang="en-US" sz="880" dirty="0">
                        <a:latin typeface="Cambria" charset="0"/>
                        <a:ea typeface="Cambria" charset="0"/>
                        <a:cs typeface="Cambria"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l" indent="0" marL="0">
                        <a:buNone/>
                      </a:pPr>
                      <a:r>
                        <a:rPr lang="en-US" sz="880" dirty="0">
                          <a:solidFill>
                            <a:srgbClr val="1A2A25"/>
                          </a:solidFill>
                          <a:latin typeface="Calibri" pitchFamily="34" charset="0"/>
                          <a:ea typeface="Calibri" pitchFamily="34" charset="-122"/>
                          <a:cs typeface="Calibri" pitchFamily="34" charset="-120"/>
                        </a:rPr>
                        <a:t>Campos inválidos, duplicados y límites</a:t>
                      </a:r>
                      <a:endParaRPr lang="en-US" sz="880" dirty="0">
                        <a:latin typeface="Calibri" charset="0"/>
                        <a:ea typeface="Calibri" charset="0"/>
                        <a:cs typeface="Calibri"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l" indent="0" marL="0">
                        <a:buNone/>
                      </a:pPr>
                      <a:r>
                        <a:rPr lang="en-US" sz="880" dirty="0">
                          <a:solidFill>
                            <a:srgbClr val="1A2A25"/>
                          </a:solidFill>
                          <a:latin typeface="Calibri" pitchFamily="34" charset="0"/>
                          <a:ea typeface="Calibri" pitchFamily="34" charset="-122"/>
                          <a:cs typeface="Calibri" pitchFamily="34" charset="-120"/>
                        </a:rPr>
                        <a:t>CP002/003/004 → 400</a:t>
                      </a:r>
                      <a:endParaRPr lang="en-US" sz="880" dirty="0">
                        <a:latin typeface="Calibri" charset="0"/>
                        <a:ea typeface="Calibri" charset="0"/>
                        <a:cs typeface="Calibri"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l" indent="0" marL="0">
                        <a:buNone/>
                      </a:pPr>
                      <a:r>
                        <a:rPr lang="en-US" sz="880" dirty="0">
                          <a:solidFill>
                            <a:srgbClr val="1A2A25"/>
                          </a:solidFill>
                          <a:latin typeface="Calibri" pitchFamily="34" charset="0"/>
                          <a:ea typeface="Calibri" pitchFamily="34" charset="-122"/>
                          <a:cs typeface="Calibri" pitchFamily="34" charset="-120"/>
                        </a:rPr>
                        <a:t>Evita registros corruptos</a:t>
                      </a:r>
                      <a:endParaRPr lang="en-US" sz="880" dirty="0">
                        <a:latin typeface="Calibri" charset="0"/>
                        <a:ea typeface="Calibri" charset="0"/>
                        <a:cs typeface="Calibri"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749808">
                <a:tc>
                  <a:txBody>
                    <a:bodyPr/>
                    <a:lstStyle/>
                    <a:p>
                      <a:pPr algn="l" indent="0" marL="0">
                        <a:buNone/>
                      </a:pPr>
                      <a:r>
                        <a:rPr lang="en-US" sz="880" dirty="0">
                          <a:solidFill>
                            <a:srgbClr val="1A2A25"/>
                          </a:solidFill>
                          <a:latin typeface="Cambria" pitchFamily="34" charset="0"/>
                          <a:ea typeface="Cambria" pitchFamily="34" charset="-122"/>
                          <a:cs typeface="Cambria" pitchFamily="34" charset="-120"/>
                        </a:rPr>
                        <a:t>Seguridad</a:t>
                      </a:r>
                      <a:endParaRPr lang="en-US" sz="880" dirty="0">
                        <a:latin typeface="Cambria" charset="0"/>
                        <a:ea typeface="Cambria" charset="0"/>
                        <a:cs typeface="Cambria"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l" indent="0" marL="0">
                        <a:buNone/>
                      </a:pPr>
                      <a:r>
                        <a:rPr lang="en-US" sz="880" dirty="0">
                          <a:solidFill>
                            <a:srgbClr val="1A2A25"/>
                          </a:solidFill>
                          <a:latin typeface="Calibri" pitchFamily="34" charset="0"/>
                          <a:ea typeface="Calibri" pitchFamily="34" charset="-122"/>
                          <a:cs typeface="Calibri" pitchFamily="34" charset="-120"/>
                        </a:rPr>
                        <a:t>Token reutilizable y rol indebido</a:t>
                      </a:r>
                      <a:endParaRPr lang="en-US" sz="880" dirty="0">
                        <a:latin typeface="Calibri" charset="0"/>
                        <a:ea typeface="Calibri" charset="0"/>
                        <a:cs typeface="Calibri"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l" indent="0" marL="0">
                        <a:buNone/>
                      </a:pPr>
                      <a:r>
                        <a:rPr lang="en-US" sz="880" dirty="0">
                          <a:solidFill>
                            <a:srgbClr val="1A2A25"/>
                          </a:solidFill>
                          <a:latin typeface="Calibri" pitchFamily="34" charset="0"/>
                          <a:ea typeface="Calibri" pitchFamily="34" charset="-122"/>
                          <a:cs typeface="Calibri" pitchFamily="34" charset="-120"/>
                        </a:rPr>
                        <a:t>CP006 → 200 · CP007 → 403</a:t>
                      </a:r>
                      <a:endParaRPr lang="en-US" sz="880" dirty="0">
                        <a:latin typeface="Calibri" charset="0"/>
                        <a:ea typeface="Calibri" charset="0"/>
                        <a:cs typeface="Calibri"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l" indent="0" marL="0">
                        <a:buNone/>
                      </a:pPr>
                      <a:r>
                        <a:rPr lang="en-US" sz="880" dirty="0">
                          <a:solidFill>
                            <a:srgbClr val="1A2A25"/>
                          </a:solidFill>
                          <a:latin typeface="Calibri" pitchFamily="34" charset="0"/>
                          <a:ea typeface="Calibri" pitchFamily="34" charset="-122"/>
                          <a:cs typeface="Calibri" pitchFamily="34" charset="-120"/>
                        </a:rPr>
                        <a:t>Acceso no autorizado a datos clínicos</a:t>
                      </a:r>
                      <a:endParaRPr lang="en-US" sz="880" dirty="0">
                        <a:latin typeface="Calibri" charset="0"/>
                        <a:ea typeface="Calibri" charset="0"/>
                        <a:cs typeface="Calibri"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749808">
                <a:tc>
                  <a:txBody>
                    <a:bodyPr/>
                    <a:lstStyle/>
                    <a:p>
                      <a:pPr algn="l" indent="0" marL="0">
                        <a:buNone/>
                      </a:pPr>
                      <a:r>
                        <a:rPr lang="en-US" sz="880" dirty="0">
                          <a:solidFill>
                            <a:srgbClr val="1A2A25"/>
                          </a:solidFill>
                          <a:latin typeface="Cambria" pitchFamily="34" charset="0"/>
                          <a:ea typeface="Cambria" pitchFamily="34" charset="-122"/>
                          <a:cs typeface="Cambria" pitchFamily="34" charset="-120"/>
                        </a:rPr>
                        <a:t>Integridad</a:t>
                      </a:r>
                      <a:endParaRPr lang="en-US" sz="880" dirty="0">
                        <a:latin typeface="Cambria" charset="0"/>
                        <a:ea typeface="Cambria" charset="0"/>
                        <a:cs typeface="Cambria"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l" indent="0" marL="0">
                        <a:buNone/>
                      </a:pPr>
                      <a:r>
                        <a:rPr lang="en-US" sz="880" dirty="0">
                          <a:solidFill>
                            <a:srgbClr val="1A2A25"/>
                          </a:solidFill>
                          <a:latin typeface="Calibri" pitchFamily="34" charset="0"/>
                          <a:ea typeface="Calibri" pitchFamily="34" charset="-122"/>
                          <a:cs typeface="Calibri" pitchFamily="34" charset="-120"/>
                        </a:rPr>
                        <a:t>Pérdida o alteración de archivos</a:t>
                      </a:r>
                      <a:endParaRPr lang="en-US" sz="880" dirty="0">
                        <a:latin typeface="Calibri" charset="0"/>
                        <a:ea typeface="Calibri" charset="0"/>
                        <a:cs typeface="Calibri"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l" indent="0" marL="0">
                        <a:buNone/>
                      </a:pPr>
                      <a:r>
                        <a:rPr lang="en-US" sz="880" dirty="0">
                          <a:solidFill>
                            <a:srgbClr val="1A2A25"/>
                          </a:solidFill>
                          <a:latin typeface="Calibri" pitchFamily="34" charset="0"/>
                          <a:ea typeface="Calibri" pitchFamily="34" charset="-122"/>
                          <a:cs typeface="Calibri" pitchFamily="34" charset="-120"/>
                        </a:rPr>
                        <a:t>CP008 → SHA-256 idéntico</a:t>
                      </a:r>
                      <a:endParaRPr lang="en-US" sz="880" dirty="0">
                        <a:latin typeface="Calibri" charset="0"/>
                        <a:ea typeface="Calibri" charset="0"/>
                        <a:cs typeface="Calibri"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l" indent="0" marL="0">
                        <a:buNone/>
                      </a:pPr>
                      <a:r>
                        <a:rPr lang="en-US" sz="880" dirty="0">
                          <a:solidFill>
                            <a:srgbClr val="1A2A25"/>
                          </a:solidFill>
                          <a:latin typeface="Calibri" pitchFamily="34" charset="0"/>
                          <a:ea typeface="Calibri" pitchFamily="34" charset="-122"/>
                          <a:cs typeface="Calibri" pitchFamily="34" charset="-120"/>
                        </a:rPr>
                        <a:t>Documento clínico no confiable</a:t>
                      </a:r>
                      <a:endParaRPr lang="en-US" sz="880" dirty="0">
                        <a:latin typeface="Calibri" charset="0"/>
                        <a:ea typeface="Calibri" charset="0"/>
                        <a:cs typeface="Calibri"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749808">
                <a:tc>
                  <a:txBody>
                    <a:bodyPr/>
                    <a:lstStyle/>
                    <a:p>
                      <a:pPr algn="l" indent="0" marL="0">
                        <a:buNone/>
                      </a:pPr>
                      <a:r>
                        <a:rPr lang="en-US" sz="880" dirty="0">
                          <a:solidFill>
                            <a:srgbClr val="1A2A25"/>
                          </a:solidFill>
                          <a:latin typeface="Cambria" pitchFamily="34" charset="0"/>
                          <a:ea typeface="Cambria" pitchFamily="34" charset="-122"/>
                          <a:cs typeface="Cambria" pitchFamily="34" charset="-120"/>
                        </a:rPr>
                        <a:t>Estático</a:t>
                      </a:r>
                      <a:endParaRPr lang="en-US" sz="880" dirty="0">
                        <a:latin typeface="Cambria" charset="0"/>
                        <a:ea typeface="Cambria" charset="0"/>
                        <a:cs typeface="Cambria"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l" indent="0" marL="0">
                        <a:buNone/>
                      </a:pPr>
                      <a:r>
                        <a:rPr lang="en-US" sz="880" dirty="0">
                          <a:solidFill>
                            <a:srgbClr val="1A2A25"/>
                          </a:solidFill>
                          <a:latin typeface="Calibri" pitchFamily="34" charset="0"/>
                          <a:ea typeface="Calibri" pitchFamily="34" charset="-122"/>
                          <a:cs typeface="Calibri" pitchFamily="34" charset="-120"/>
                        </a:rPr>
                        <a:t>Complejidad, duplicación y malas prácticas</a:t>
                      </a:r>
                      <a:endParaRPr lang="en-US" sz="880" dirty="0">
                        <a:latin typeface="Calibri" charset="0"/>
                        <a:ea typeface="Calibri" charset="0"/>
                        <a:cs typeface="Calibri"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l" indent="0" marL="0">
                        <a:buNone/>
                      </a:pPr>
                      <a:r>
                        <a:rPr lang="en-US" sz="880" dirty="0">
                          <a:solidFill>
                            <a:srgbClr val="1A2A25"/>
                          </a:solidFill>
                          <a:latin typeface="Calibri" pitchFamily="34" charset="0"/>
                          <a:ea typeface="Calibri" pitchFamily="34" charset="-122"/>
                          <a:cs typeface="Calibri" pitchFamily="34" charset="-120"/>
                        </a:rPr>
                        <a:t>73 issues · 8 críticos</a:t>
                      </a:r>
                      <a:endParaRPr lang="en-US" sz="880" dirty="0">
                        <a:latin typeface="Calibri" charset="0"/>
                        <a:ea typeface="Calibri" charset="0"/>
                        <a:cs typeface="Calibri"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l" indent="0" marL="0">
                        <a:buNone/>
                      </a:pPr>
                      <a:r>
                        <a:rPr lang="en-US" sz="880" dirty="0">
                          <a:solidFill>
                            <a:srgbClr val="1A2A25"/>
                          </a:solidFill>
                          <a:latin typeface="Calibri" pitchFamily="34" charset="0"/>
                          <a:ea typeface="Calibri" pitchFamily="34" charset="-122"/>
                          <a:cs typeface="Calibri" pitchFamily="34" charset="-120"/>
                        </a:rPr>
                        <a:t>Deuda y riesgo de mantenimiento</a:t>
                      </a:r>
                      <a:endParaRPr lang="en-US" sz="880" dirty="0">
                        <a:latin typeface="Calibri" charset="0"/>
                        <a:ea typeface="Calibri" charset="0"/>
                        <a:cs typeface="Calibri" charset="0"/>
                      </a:endParaRPr>
                    </a:p>
                  </a:txBody>
                  <a:tcPr marL="91440" marR="91440" marT="45720" marB="45720" anchor="ctr">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bl>
          </a:graphicData>
        </a:graphic>
      </p:graphicFrame>
      <p:sp>
        <p:nvSpPr>
          <p:cNvPr id="8" name="Shape 5"/>
          <p:cNvSpPr/>
          <p:nvPr/>
        </p:nvSpPr>
        <p:spPr>
          <a:xfrm>
            <a:off x="8549640" y="1737360"/>
            <a:ext cx="3072384" cy="2084832"/>
          </a:xfrm>
          <a:prstGeom prst="roundRect">
            <a:avLst>
              <a:gd name="adj" fmla="val 1096"/>
            </a:avLst>
          </a:prstGeom>
          <a:solidFill>
            <a:srgbClr val="F6E8CD"/>
          </a:solidFill>
          <a:ln w="7620">
            <a:solidFill>
              <a:srgbClr val="F6E8CD"/>
            </a:solidFill>
            <a:prstDash val="solid"/>
          </a:ln>
          <a:effectLst>
            <a:outerShdw sx="100000" sy="100000" kx="0" ky="0" algn="bl" rotWithShape="0" blurRad="88900" dist="25400" dir="5400000">
              <a:srgbClr val="000000">
                <a:alpha val="5000"/>
              </a:srgbClr>
            </a:outerShdw>
          </a:effectLst>
        </p:spPr>
      </p:sp>
      <p:sp>
        <p:nvSpPr>
          <p:cNvPr id="9" name="Text 6"/>
          <p:cNvSpPr/>
          <p:nvPr/>
        </p:nvSpPr>
        <p:spPr>
          <a:xfrm>
            <a:off x="8705088" y="1865376"/>
            <a:ext cx="2743200" cy="182880"/>
          </a:xfrm>
          <a:prstGeom prst="rect">
            <a:avLst/>
          </a:prstGeom>
          <a:noFill/>
          <a:ln/>
        </p:spPr>
        <p:txBody>
          <a:bodyPr wrap="square" lIns="0" tIns="0" rIns="0" bIns="0" rtlCol="0" anchor="t"/>
          <a:lstStyle/>
          <a:p>
            <a:pPr algn="l" indent="0" marL="0">
              <a:buNone/>
            </a:pPr>
            <a:r>
              <a:rPr lang="en-US" sz="710" b="1" spc="110" kern="0" dirty="0">
                <a:solidFill>
                  <a:srgbClr val="8A5E0F"/>
                </a:solidFill>
                <a:latin typeface="Courier New" pitchFamily="34" charset="0"/>
                <a:ea typeface="Courier New" pitchFamily="34" charset="-122"/>
                <a:cs typeface="Courier New" pitchFamily="34" charset="-120"/>
              </a:rPr>
              <a:t>FUERA DE ALCANCE</a:t>
            </a:r>
            <a:endParaRPr lang="en-US" sz="710" dirty="0"/>
          </a:p>
        </p:txBody>
      </p:sp>
      <p:sp>
        <p:nvSpPr>
          <p:cNvPr id="10" name="Text 7"/>
          <p:cNvSpPr/>
          <p:nvPr/>
        </p:nvSpPr>
        <p:spPr>
          <a:xfrm>
            <a:off x="8705088" y="2103120"/>
            <a:ext cx="2743200" cy="868680"/>
          </a:xfrm>
          <a:prstGeom prst="rect">
            <a:avLst/>
          </a:prstGeom>
          <a:noFill/>
          <a:ln/>
        </p:spPr>
        <p:txBody>
          <a:bodyPr wrap="square" lIns="0" tIns="0" rIns="0" bIns="0" rtlCol="0" anchor="t"/>
          <a:lstStyle/>
          <a:p>
            <a:pPr algn="l" indent="0" marL="0">
              <a:lnSpc>
                <a:spcPts val="1400"/>
              </a:lnSpc>
              <a:buNone/>
            </a:pPr>
            <a:r>
              <a:rPr lang="en-US" sz="920" dirty="0">
                <a:solidFill>
                  <a:srgbClr val="1A2A25"/>
                </a:solidFill>
                <a:latin typeface="Calibri" pitchFamily="34" charset="0"/>
                <a:ea typeface="Calibri" pitchFamily="34" charset="-122"/>
                <a:cs typeface="Calibri" pitchFamily="34" charset="-120"/>
              </a:rPr>
              <a:t>• Carga con 200 usuarios</a:t>
            </a:r>
            <a:endParaRPr lang="en-US" sz="920" dirty="0"/>
          </a:p>
          <a:p>
            <a:pPr algn="l" indent="0" marL="0">
              <a:lnSpc>
                <a:spcPts val="1400"/>
              </a:lnSpc>
              <a:buNone/>
            </a:pPr>
            <a:r>
              <a:rPr lang="en-US" sz="920" dirty="0">
                <a:solidFill>
                  <a:srgbClr val="1A2A25"/>
                </a:solidFill>
                <a:latin typeface="Calibri" pitchFamily="34" charset="0"/>
                <a:ea typeface="Calibri" pitchFamily="34" charset="-122"/>
                <a:cs typeface="Calibri" pitchFamily="34" charset="-120"/>
              </a:rPr>
              <a:t>• Usabilidad con pacientes reales</a:t>
            </a:r>
            <a:endParaRPr lang="en-US" sz="920" dirty="0"/>
          </a:p>
          <a:p>
            <a:pPr algn="l" indent="0" marL="0">
              <a:lnSpc>
                <a:spcPts val="1400"/>
              </a:lnSpc>
              <a:buNone/>
            </a:pPr>
            <a:r>
              <a:rPr lang="en-US" sz="920" dirty="0">
                <a:solidFill>
                  <a:srgbClr val="1A2A25"/>
                </a:solidFill>
                <a:latin typeface="Calibri" pitchFamily="34" charset="0"/>
                <a:ea typeface="Calibri" pitchFamily="34" charset="-122"/>
                <a:cs typeface="Calibri" pitchFamily="34" charset="-120"/>
              </a:rPr>
              <a:t>• DAST con OWASP ZAP</a:t>
            </a:r>
            <a:endParaRPr lang="en-US" sz="920" dirty="0"/>
          </a:p>
        </p:txBody>
      </p:sp>
      <p:sp>
        <p:nvSpPr>
          <p:cNvPr id="11" name="Text 8"/>
          <p:cNvSpPr/>
          <p:nvPr/>
        </p:nvSpPr>
        <p:spPr>
          <a:xfrm>
            <a:off x="8705088" y="3072384"/>
            <a:ext cx="2743200" cy="274320"/>
          </a:xfrm>
          <a:prstGeom prst="rect">
            <a:avLst/>
          </a:prstGeom>
          <a:noFill/>
          <a:ln/>
        </p:spPr>
        <p:txBody>
          <a:bodyPr wrap="square" lIns="0" tIns="0" rIns="0" bIns="0" rtlCol="0" anchor="t"/>
          <a:lstStyle/>
          <a:p>
            <a:pPr algn="l" indent="0" marL="0">
              <a:buNone/>
            </a:pPr>
            <a:r>
              <a:rPr lang="en-US" sz="1050" b="1" i="1" dirty="0">
                <a:solidFill>
                  <a:srgbClr val="8A5E0F"/>
                </a:solidFill>
                <a:latin typeface="Calibri" pitchFamily="34" charset="0"/>
                <a:ea typeface="Calibri" pitchFamily="34" charset="-122"/>
                <a:cs typeface="Calibri" pitchFamily="34" charset="-120"/>
              </a:rPr>
              <a:t>No probado ≠ aprobado.</a:t>
            </a:r>
            <a:endParaRPr lang="en-US" sz="1050" dirty="0"/>
          </a:p>
        </p:txBody>
      </p:sp>
      <p:sp>
        <p:nvSpPr>
          <p:cNvPr id="12" name="Shape 9"/>
          <p:cNvSpPr/>
          <p:nvPr/>
        </p:nvSpPr>
        <p:spPr>
          <a:xfrm>
            <a:off x="8549640" y="4005072"/>
            <a:ext cx="3072384" cy="1417320"/>
          </a:xfrm>
          <a:prstGeom prst="roundRect">
            <a:avLst>
              <a:gd name="adj" fmla="val 1613"/>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13" name="Text 10"/>
          <p:cNvSpPr/>
          <p:nvPr/>
        </p:nvSpPr>
        <p:spPr>
          <a:xfrm>
            <a:off x="8705088" y="4114800"/>
            <a:ext cx="2743200" cy="182880"/>
          </a:xfrm>
          <a:prstGeom prst="rect">
            <a:avLst/>
          </a:prstGeom>
          <a:noFill/>
          <a:ln/>
        </p:spPr>
        <p:txBody>
          <a:bodyPr wrap="square" lIns="0" tIns="0" rIns="0" bIns="0" rtlCol="0" anchor="t"/>
          <a:lstStyle/>
          <a:p>
            <a:pPr algn="l" indent="0" marL="0">
              <a:buNone/>
            </a:pPr>
            <a:r>
              <a:rPr lang="en-US" sz="710" b="1" spc="110" kern="0" dirty="0">
                <a:solidFill>
                  <a:srgbClr val="5C6D67"/>
                </a:solidFill>
                <a:latin typeface="Courier New" pitchFamily="34" charset="0"/>
                <a:ea typeface="Courier New" pitchFamily="34" charset="-122"/>
                <a:cs typeface="Courier New" pitchFamily="34" charset="-120"/>
              </a:rPr>
              <a:t>TIEMPOS OBSERVADOS</a:t>
            </a:r>
            <a:endParaRPr lang="en-US" sz="710" dirty="0"/>
          </a:p>
        </p:txBody>
      </p:sp>
      <p:sp>
        <p:nvSpPr>
          <p:cNvPr id="14" name="Text 11"/>
          <p:cNvSpPr/>
          <p:nvPr/>
        </p:nvSpPr>
        <p:spPr>
          <a:xfrm>
            <a:off x="8705088" y="4343400"/>
            <a:ext cx="2743200" cy="640080"/>
          </a:xfrm>
          <a:prstGeom prst="rect">
            <a:avLst/>
          </a:prstGeom>
          <a:noFill/>
          <a:ln/>
        </p:spPr>
        <p:txBody>
          <a:bodyPr wrap="square" lIns="0" tIns="0" rIns="0" bIns="0" rtlCol="0" anchor="t"/>
          <a:lstStyle/>
          <a:p>
            <a:pPr algn="l" indent="0" marL="0">
              <a:lnSpc>
                <a:spcPts val="1200"/>
              </a:lnSpc>
              <a:buNone/>
            </a:pPr>
            <a:r>
              <a:rPr lang="en-US" sz="780" dirty="0">
                <a:solidFill>
                  <a:srgbClr val="1A2A25"/>
                </a:solidFill>
                <a:latin typeface="Courier New" pitchFamily="34" charset="0"/>
                <a:ea typeface="Courier New" pitchFamily="34" charset="-122"/>
                <a:cs typeface="Courier New" pitchFamily="34" charset="-120"/>
              </a:rPr>
              <a:t>CP007 · 5.036 ms</a:t>
            </a:r>
            <a:endParaRPr lang="en-US" sz="780" dirty="0"/>
          </a:p>
          <a:p>
            <a:pPr algn="l" indent="0" marL="0">
              <a:lnSpc>
                <a:spcPts val="1200"/>
              </a:lnSpc>
              <a:buNone/>
            </a:pPr>
            <a:r>
              <a:rPr lang="en-US" sz="780" dirty="0">
                <a:solidFill>
                  <a:srgbClr val="1A2A25"/>
                </a:solidFill>
                <a:latin typeface="Courier New" pitchFamily="34" charset="0"/>
                <a:ea typeface="Courier New" pitchFamily="34" charset="-122"/>
                <a:cs typeface="Courier New" pitchFamily="34" charset="-120"/>
              </a:rPr>
              <a:t>CP008 · 5.050 ms subida</a:t>
            </a:r>
            <a:endParaRPr lang="en-US" sz="780" dirty="0"/>
          </a:p>
          <a:p>
            <a:pPr algn="l" indent="0" marL="0">
              <a:lnSpc>
                <a:spcPts val="1200"/>
              </a:lnSpc>
              <a:buNone/>
            </a:pPr>
            <a:r>
              <a:rPr lang="en-US" sz="780" dirty="0">
                <a:solidFill>
                  <a:srgbClr val="1A2A25"/>
                </a:solidFill>
                <a:latin typeface="Courier New" pitchFamily="34" charset="0"/>
                <a:ea typeface="Courier New" pitchFamily="34" charset="-122"/>
                <a:cs typeface="Courier New" pitchFamily="34" charset="-120"/>
              </a:rPr>
              <a:t>37 ms descarga</a:t>
            </a:r>
            <a:endParaRPr lang="en-US" sz="780" dirty="0"/>
          </a:p>
        </p:txBody>
      </p:sp>
      <p:sp>
        <p:nvSpPr>
          <p:cNvPr id="15" name="Text 12"/>
          <p:cNvSpPr/>
          <p:nvPr/>
        </p:nvSpPr>
        <p:spPr>
          <a:xfrm>
            <a:off x="8705088" y="5047488"/>
            <a:ext cx="2743200" cy="274320"/>
          </a:xfrm>
          <a:prstGeom prst="rect">
            <a:avLst/>
          </a:prstGeom>
          <a:noFill/>
          <a:ln/>
        </p:spPr>
        <p:txBody>
          <a:bodyPr wrap="square" lIns="0" tIns="0" rIns="0" bIns="0" rtlCol="0" anchor="t"/>
          <a:lstStyle/>
          <a:p>
            <a:pPr algn="l" indent="0" marL="0">
              <a:buNone/>
            </a:pPr>
            <a:r>
              <a:rPr lang="en-US" sz="800" i="1" dirty="0">
                <a:solidFill>
                  <a:srgbClr val="5C6D67"/>
                </a:solidFill>
                <a:latin typeface="Calibri" pitchFamily="34" charset="0"/>
                <a:ea typeface="Calibri" pitchFamily="34" charset="-122"/>
                <a:cs typeface="Calibri" pitchFamily="34" charset="-120"/>
              </a:rPr>
              <a:t>El delay de 5 s distorsiona la medición.</a:t>
            </a:r>
            <a:endParaRPr lang="en-US" sz="800" dirty="0"/>
          </a:p>
        </p:txBody>
      </p:sp>
      <p:sp>
        <p:nvSpPr>
          <p:cNvPr id="16" name="Text 13"/>
          <p:cNvSpPr/>
          <p:nvPr/>
        </p:nvSpPr>
        <p:spPr>
          <a:xfrm>
            <a:off x="8549640" y="5596128"/>
            <a:ext cx="3063240" cy="502920"/>
          </a:xfrm>
          <a:prstGeom prst="rect">
            <a:avLst/>
          </a:prstGeom>
          <a:noFill/>
          <a:ln/>
        </p:spPr>
        <p:txBody>
          <a:bodyPr wrap="square" lIns="0" tIns="0" rIns="0" bIns="0" rtlCol="0" anchor="t"/>
          <a:lstStyle/>
          <a:p>
            <a:pPr algn="l" indent="0" marL="0">
              <a:lnSpc>
                <a:spcPts val="1100"/>
              </a:lnSpc>
              <a:buNone/>
            </a:pPr>
            <a:r>
              <a:rPr lang="en-US" sz="830" dirty="0">
                <a:solidFill>
                  <a:srgbClr val="5C6D67"/>
                </a:solidFill>
                <a:latin typeface="Calibri" pitchFamily="34" charset="0"/>
                <a:ea typeface="Calibri" pitchFamily="34" charset="-122"/>
                <a:cs typeface="Calibri" pitchFamily="34" charset="-120"/>
              </a:rPr>
              <a:t>Los tiempos no se usan como criterio de aprobación: se reportan como observación.</a:t>
            </a:r>
            <a:endParaRPr lang="en-US" sz="8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566928" y="411480"/>
            <a:ext cx="77724" cy="77724"/>
          </a:xfrm>
          <a:prstGeom prst="rect">
            <a:avLst/>
          </a:prstGeom>
          <a:solidFill>
            <a:srgbClr val="C98A1E"/>
          </a:solidFill>
          <a:ln w="12700">
            <a:solidFill>
              <a:srgbClr val="C98A1E"/>
            </a:solidFill>
            <a:prstDash val="solid"/>
          </a:ln>
        </p:spPr>
      </p:sp>
      <p:sp>
        <p:nvSpPr>
          <p:cNvPr id="3" name="Text 1"/>
          <p:cNvSpPr/>
          <p:nvPr/>
        </p:nvSpPr>
        <p:spPr>
          <a:xfrm>
            <a:off x="731520" y="338328"/>
            <a:ext cx="9601200" cy="201168"/>
          </a:xfrm>
          <a:prstGeom prst="rect">
            <a:avLst/>
          </a:prstGeom>
          <a:noFill/>
          <a:ln/>
        </p:spPr>
        <p:txBody>
          <a:bodyPr wrap="square" lIns="0" tIns="0" rIns="0" bIns="0" rtlCol="0" anchor="t"/>
          <a:lstStyle/>
          <a:p>
            <a:pPr algn="l" indent="0" marL="0">
              <a:buNone/>
            </a:pPr>
            <a:r>
              <a:rPr lang="en-US" sz="800" b="1" spc="130" kern="0" dirty="0">
                <a:solidFill>
                  <a:srgbClr val="5C6D67"/>
                </a:solidFill>
                <a:latin typeface="Courier New" pitchFamily="34" charset="0"/>
                <a:ea typeface="Courier New" pitchFamily="34" charset="-122"/>
                <a:cs typeface="Courier New" pitchFamily="34" charset="-120"/>
              </a:rPr>
              <a:t>05 · TRAZABILIDAD</a:t>
            </a:r>
            <a:endParaRPr lang="en-US" sz="800" dirty="0"/>
          </a:p>
        </p:txBody>
      </p:sp>
      <p:sp>
        <p:nvSpPr>
          <p:cNvPr id="4" name="Text 2"/>
          <p:cNvSpPr/>
          <p:nvPr/>
        </p:nvSpPr>
        <p:spPr>
          <a:xfrm>
            <a:off x="566928" y="640080"/>
            <a:ext cx="11057839" cy="941832"/>
          </a:xfrm>
          <a:prstGeom prst="rect">
            <a:avLst/>
          </a:prstGeom>
          <a:noFill/>
          <a:ln/>
        </p:spPr>
        <p:txBody>
          <a:bodyPr wrap="square" lIns="0" tIns="0" rIns="0" bIns="0" rtlCol="0" anchor="t"/>
          <a:lstStyle/>
          <a:p>
            <a:pPr algn="l" indent="0" marL="0">
              <a:lnSpc>
                <a:spcPts val="2900"/>
              </a:lnSpc>
              <a:buNone/>
            </a:pPr>
            <a:r>
              <a:rPr lang="en-US" sz="2400" b="1" dirty="0">
                <a:solidFill>
                  <a:srgbClr val="1A2A25"/>
                </a:solidFill>
                <a:latin typeface="Cambria" pitchFamily="34" charset="0"/>
                <a:ea typeface="Cambria" pitchFamily="34" charset="-122"/>
                <a:cs typeface="Cambria" pitchFamily="34" charset="-120"/>
              </a:rPr>
              <a:t>Siete requisitos priorizados, ocho casos: cobertura completa con distinto nivel de evidencia</a:t>
            </a:r>
            <a:endParaRPr lang="en-US" sz="2400" dirty="0"/>
          </a:p>
        </p:txBody>
      </p:sp>
      <p:sp>
        <p:nvSpPr>
          <p:cNvPr id="5" name="Text 3"/>
          <p:cNvSpPr/>
          <p:nvPr/>
        </p:nvSpPr>
        <p:spPr>
          <a:xfrm>
            <a:off x="566928" y="6547104"/>
            <a:ext cx="5943600" cy="182880"/>
          </a:xfrm>
          <a:prstGeom prst="rect">
            <a:avLst/>
          </a:prstGeom>
          <a:noFill/>
          <a:ln/>
        </p:spPr>
        <p:txBody>
          <a:bodyPr wrap="square" lIns="0" tIns="0" rIns="0" bIns="0" rtlCol="0" anchor="t"/>
          <a:lstStyle/>
          <a:p>
            <a:pPr algn="l" indent="0" marL="0">
              <a:buNone/>
            </a:pPr>
            <a:r>
              <a:rPr lang="en-US" sz="730" spc="60" kern="0" dirty="0">
                <a:solidFill>
                  <a:srgbClr val="8A9A94"/>
                </a:solidFill>
                <a:latin typeface="Courier New" pitchFamily="34" charset="0"/>
                <a:ea typeface="Courier New" pitchFamily="34" charset="-122"/>
                <a:cs typeface="Courier New" pitchFamily="34" charset="-120"/>
              </a:rPr>
              <a:t>Cuidarte+ · Auditoría de calidad y seguridad</a:t>
            </a:r>
            <a:endParaRPr lang="en-US" sz="730" dirty="0"/>
          </a:p>
        </p:txBody>
      </p:sp>
      <p:sp>
        <p:nvSpPr>
          <p:cNvPr id="6" name="Text 4"/>
          <p:cNvSpPr/>
          <p:nvPr/>
        </p:nvSpPr>
        <p:spPr>
          <a:xfrm>
            <a:off x="10561320" y="6547104"/>
            <a:ext cx="1060704" cy="182880"/>
          </a:xfrm>
          <a:prstGeom prst="rect">
            <a:avLst/>
          </a:prstGeom>
          <a:noFill/>
          <a:ln/>
        </p:spPr>
        <p:txBody>
          <a:bodyPr wrap="square" lIns="0" tIns="0" rIns="0" bIns="0" rtlCol="0" anchor="t"/>
          <a:lstStyle/>
          <a:p>
            <a:pPr algn="r" indent="0" marL="0">
              <a:buNone/>
            </a:pPr>
            <a:r>
              <a:rPr lang="en-US" sz="730" spc="60" kern="0" dirty="0">
                <a:solidFill>
                  <a:srgbClr val="8A9A94"/>
                </a:solidFill>
                <a:latin typeface="Courier New" pitchFamily="34" charset="0"/>
                <a:ea typeface="Courier New" pitchFamily="34" charset="-122"/>
                <a:cs typeface="Courier New" pitchFamily="34" charset="-120"/>
              </a:rPr>
              <a:t>06 / 17</a:t>
            </a:r>
            <a:endParaRPr lang="en-US" sz="73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810512"/>
          <a:ext cx="8156448" cy="914400"/>
        </p:xfrm>
        <a:graphic>
          <a:graphicData uri="http://schemas.openxmlformats.org/drawingml/2006/table">
            <a:tbl>
              <a:tblPr/>
              <a:tblGrid>
                <a:gridCol w="868680"/>
                <a:gridCol w="2148840"/>
                <a:gridCol w="2468880"/>
                <a:gridCol w="2670048"/>
              </a:tblGrid>
              <a:tr h="475488">
                <a:tc>
                  <a:txBody>
                    <a:bodyPr/>
                    <a:lstStyle/>
                    <a:p>
                      <a:pPr indent="0" marL="0">
                        <a:buNone/>
                      </a:pPr>
                      <a:r>
                        <a:rPr lang="en-US" sz="820" b="1" dirty="0">
                          <a:solidFill>
                            <a:srgbClr val="FFFFFF"/>
                          </a:solidFill>
                          <a:latin typeface="Courier New" pitchFamily="34" charset="0"/>
                          <a:ea typeface="Courier New" pitchFamily="34" charset="-122"/>
                          <a:cs typeface="Courier New" pitchFamily="34" charset="-120"/>
                        </a:rPr>
                        <a:t>RQ</a:t>
                      </a:r>
                      <a:endParaRPr lang="en-US" sz="82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c>
                  <a:txBody>
                    <a:bodyPr/>
                    <a:lstStyle/>
                    <a:p>
                      <a:pPr indent="0" marL="0">
                        <a:buNone/>
                      </a:pPr>
                      <a:r>
                        <a:rPr lang="en-US" sz="820" b="1" dirty="0">
                          <a:solidFill>
                            <a:srgbClr val="FFFFFF"/>
                          </a:solidFill>
                          <a:latin typeface="Calibri" pitchFamily="34" charset="0"/>
                          <a:ea typeface="Calibri" pitchFamily="34" charset="-122"/>
                          <a:cs typeface="Calibri" pitchFamily="34" charset="-120"/>
                        </a:rPr>
                        <a:t>Requisito</a:t>
                      </a:r>
                      <a:endParaRPr lang="en-US" sz="82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c>
                  <a:txBody>
                    <a:bodyPr/>
                    <a:lstStyle/>
                    <a:p>
                      <a:pPr indent="0" marL="0">
                        <a:buNone/>
                      </a:pPr>
                      <a:r>
                        <a:rPr lang="en-US" sz="820" b="1" dirty="0">
                          <a:solidFill>
                            <a:srgbClr val="FFFFFF"/>
                          </a:solidFill>
                          <a:latin typeface="Calibri" pitchFamily="34" charset="0"/>
                          <a:ea typeface="Calibri" pitchFamily="34" charset="-122"/>
                          <a:cs typeface="Calibri" pitchFamily="34" charset="-120"/>
                        </a:rPr>
                        <a:t>Nivel de evidencia</a:t>
                      </a:r>
                      <a:endParaRPr lang="en-US" sz="82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c>
                  <a:txBody>
                    <a:bodyPr/>
                    <a:lstStyle/>
                    <a:p>
                      <a:pPr indent="0" marL="0">
                        <a:buNone/>
                      </a:pPr>
                      <a:r>
                        <a:rPr lang="en-US" sz="820" b="1" dirty="0">
                          <a:solidFill>
                            <a:srgbClr val="FFFFFF"/>
                          </a:solidFill>
                          <a:latin typeface="Calibri" pitchFamily="34" charset="0"/>
                          <a:ea typeface="Calibri" pitchFamily="34" charset="-122"/>
                          <a:cs typeface="Calibri" pitchFamily="34" charset="-120"/>
                        </a:rPr>
                        <a:t>Fuente</a:t>
                      </a:r>
                      <a:endParaRPr lang="en-US" sz="82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r>
              <a:tr h="475488">
                <a:tc>
                  <a:txBody>
                    <a:bodyPr/>
                    <a:lstStyle/>
                    <a:p>
                      <a:pPr indent="0" marL="0">
                        <a:buNone/>
                      </a:pPr>
                      <a:r>
                        <a:rPr lang="en-US" sz="840" b="1" dirty="0">
                          <a:solidFill>
                            <a:srgbClr val="123B33"/>
                          </a:solidFill>
                          <a:latin typeface="Courier New" pitchFamily="34" charset="0"/>
                          <a:ea typeface="Courier New" pitchFamily="34" charset="-122"/>
                          <a:cs typeface="Courier New" pitchFamily="34" charset="-120"/>
                        </a:rPr>
                        <a:t>RQ-01</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40" dirty="0">
                          <a:solidFill>
                            <a:srgbClr val="1A2A25"/>
                          </a:solidFill>
                          <a:latin typeface="Calibri" pitchFamily="34" charset="0"/>
                          <a:ea typeface="Calibri" pitchFamily="34" charset="-122"/>
                          <a:cs typeface="Calibri" pitchFamily="34" charset="-120"/>
                        </a:rPr>
                        <a:t>Autenticación y sesión</a:t>
                      </a:r>
                      <a:endParaRPr lang="en-US" sz="84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40" dirty="0">
                          <a:solidFill>
                            <a:srgbClr val="1A2A25"/>
                          </a:solidFill>
                          <a:latin typeface="Calibri" pitchFamily="34" charset="0"/>
                          <a:ea typeface="Calibri" pitchFamily="34" charset="-122"/>
                          <a:cs typeface="Calibri" pitchFamily="34" charset="-120"/>
                        </a:rPr>
                        <a:t>Caso formal · CP005–CP006</a:t>
                      </a:r>
                      <a:endParaRPr lang="en-US" sz="84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40" dirty="0">
                          <a:solidFill>
                            <a:srgbClr val="1A2A25"/>
                          </a:solidFill>
                          <a:latin typeface="Calibri" pitchFamily="34" charset="0"/>
                          <a:ea typeface="Calibri" pitchFamily="34" charset="-122"/>
                          <a:cs typeface="Calibri" pitchFamily="34" charset="-120"/>
                        </a:rPr>
                        <a:t>RF-1, NFR-SEG-9</a:t>
                      </a:r>
                      <a:endParaRPr lang="en-US" sz="84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475488">
                <a:tc>
                  <a:txBody>
                    <a:bodyPr/>
                    <a:lstStyle/>
                    <a:p>
                      <a:pPr indent="0" marL="0">
                        <a:buNone/>
                      </a:pPr>
                      <a:r>
                        <a:rPr lang="en-US" sz="840" b="1" dirty="0">
                          <a:solidFill>
                            <a:srgbClr val="123B33"/>
                          </a:solidFill>
                          <a:latin typeface="Courier New" pitchFamily="34" charset="0"/>
                          <a:ea typeface="Courier New" pitchFamily="34" charset="-122"/>
                          <a:cs typeface="Courier New" pitchFamily="34" charset="-120"/>
                        </a:rPr>
                        <a:t>RQ-02</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40" dirty="0">
                          <a:solidFill>
                            <a:srgbClr val="1A2A25"/>
                          </a:solidFill>
                          <a:latin typeface="Calibri" pitchFamily="34" charset="0"/>
                          <a:ea typeface="Calibri" pitchFamily="34" charset="-122"/>
                          <a:cs typeface="Calibri" pitchFamily="34" charset="-120"/>
                        </a:rPr>
                        <a:t>Control de acceso por rol</a:t>
                      </a:r>
                      <a:endParaRPr lang="en-US" sz="84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40" dirty="0">
                          <a:solidFill>
                            <a:srgbClr val="1A2A25"/>
                          </a:solidFill>
                          <a:latin typeface="Calibri" pitchFamily="34" charset="0"/>
                          <a:ea typeface="Calibri" pitchFamily="34" charset="-122"/>
                          <a:cs typeface="Calibri" pitchFamily="34" charset="-120"/>
                        </a:rPr>
                        <a:t>Caso formal · CP007</a:t>
                      </a:r>
                      <a:endParaRPr lang="en-US" sz="84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40" dirty="0">
                          <a:solidFill>
                            <a:srgbClr val="1A2A25"/>
                          </a:solidFill>
                          <a:latin typeface="Calibri" pitchFamily="34" charset="0"/>
                          <a:ea typeface="Calibri" pitchFamily="34" charset="-122"/>
                          <a:cs typeface="Calibri" pitchFamily="34" charset="-120"/>
                        </a:rPr>
                        <a:t>RB-1..3, NFR-SEG-4</a:t>
                      </a:r>
                      <a:endParaRPr lang="en-US" sz="84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475488">
                <a:tc>
                  <a:txBody>
                    <a:bodyPr/>
                    <a:lstStyle/>
                    <a:p>
                      <a:pPr indent="0" marL="0">
                        <a:buNone/>
                      </a:pPr>
                      <a:r>
                        <a:rPr lang="en-US" sz="840" b="1" dirty="0">
                          <a:solidFill>
                            <a:srgbClr val="123B33"/>
                          </a:solidFill>
                          <a:latin typeface="Courier New" pitchFamily="34" charset="0"/>
                          <a:ea typeface="Courier New" pitchFamily="34" charset="-122"/>
                          <a:cs typeface="Courier New" pitchFamily="34" charset="-120"/>
                        </a:rPr>
                        <a:t>RQ-03</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40" dirty="0">
                          <a:solidFill>
                            <a:srgbClr val="1A2A25"/>
                          </a:solidFill>
                          <a:latin typeface="Calibri" pitchFamily="34" charset="0"/>
                          <a:ea typeface="Calibri" pitchFamily="34" charset="-122"/>
                          <a:cs typeface="Calibri" pitchFamily="34" charset="-120"/>
                        </a:rPr>
                        <a:t>Exámenes y documentos</a:t>
                      </a:r>
                      <a:endParaRPr lang="en-US" sz="84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40" dirty="0">
                          <a:solidFill>
                            <a:srgbClr val="1A2A25"/>
                          </a:solidFill>
                          <a:latin typeface="Calibri" pitchFamily="34" charset="0"/>
                          <a:ea typeface="Calibri" pitchFamily="34" charset="-122"/>
                          <a:cs typeface="Calibri" pitchFamily="34" charset="-120"/>
                        </a:rPr>
                        <a:t>Caso formal · CP008</a:t>
                      </a:r>
                      <a:endParaRPr lang="en-US" sz="84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40" dirty="0">
                          <a:solidFill>
                            <a:srgbClr val="1A2A25"/>
                          </a:solidFill>
                          <a:latin typeface="Calibri" pitchFamily="34" charset="0"/>
                          <a:ea typeface="Calibri" pitchFamily="34" charset="-122"/>
                          <a:cs typeface="Calibri" pitchFamily="34" charset="-120"/>
                        </a:rPr>
                        <a:t>RF-3, RF-4.3</a:t>
                      </a:r>
                      <a:endParaRPr lang="en-US" sz="84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475488">
                <a:tc>
                  <a:txBody>
                    <a:bodyPr/>
                    <a:lstStyle/>
                    <a:p>
                      <a:pPr indent="0" marL="0">
                        <a:buNone/>
                      </a:pPr>
                      <a:r>
                        <a:rPr lang="en-US" sz="840" b="1" dirty="0">
                          <a:solidFill>
                            <a:srgbClr val="123B33"/>
                          </a:solidFill>
                          <a:latin typeface="Courier New" pitchFamily="34" charset="0"/>
                          <a:ea typeface="Courier New" pitchFamily="34" charset="-122"/>
                          <a:cs typeface="Courier New" pitchFamily="34" charset="-120"/>
                        </a:rPr>
                        <a:t>RQ-04</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40" dirty="0">
                          <a:solidFill>
                            <a:srgbClr val="1A2A25"/>
                          </a:solidFill>
                          <a:latin typeface="Calibri" pitchFamily="34" charset="0"/>
                          <a:ea typeface="Calibri" pitchFamily="34" charset="-122"/>
                          <a:cs typeface="Calibri" pitchFamily="34" charset="-120"/>
                        </a:rPr>
                        <a:t>Tiempo y concurrencia</a:t>
                      </a:r>
                      <a:endParaRPr lang="en-US" sz="84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40" dirty="0">
                          <a:solidFill>
                            <a:srgbClr val="1A2A25"/>
                          </a:solidFill>
                          <a:latin typeface="Calibri" pitchFamily="34" charset="0"/>
                          <a:ea typeface="Calibri" pitchFamily="34" charset="-122"/>
                          <a:cs typeface="Calibri" pitchFamily="34" charset="-120"/>
                        </a:rPr>
                        <a:t>Observación · CP007/CP008</a:t>
                      </a:r>
                      <a:endParaRPr lang="en-US" sz="84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40" dirty="0">
                          <a:solidFill>
                            <a:srgbClr val="1A2A25"/>
                          </a:solidFill>
                          <a:latin typeface="Calibri" pitchFamily="34" charset="0"/>
                          <a:ea typeface="Calibri" pitchFamily="34" charset="-122"/>
                          <a:cs typeface="Calibri" pitchFamily="34" charset="-120"/>
                        </a:rPr>
                        <a:t>NFR-PERF-1..3</a:t>
                      </a:r>
                      <a:endParaRPr lang="en-US" sz="84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475488">
                <a:tc>
                  <a:txBody>
                    <a:bodyPr/>
                    <a:lstStyle/>
                    <a:p>
                      <a:pPr indent="0" marL="0">
                        <a:buNone/>
                      </a:pPr>
                      <a:r>
                        <a:rPr lang="en-US" sz="840" b="1" dirty="0">
                          <a:solidFill>
                            <a:srgbClr val="123B33"/>
                          </a:solidFill>
                          <a:latin typeface="Courier New" pitchFamily="34" charset="0"/>
                          <a:ea typeface="Courier New" pitchFamily="34" charset="-122"/>
                          <a:cs typeface="Courier New" pitchFamily="34" charset="-120"/>
                        </a:rPr>
                        <a:t>RQ-05</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40" dirty="0">
                          <a:solidFill>
                            <a:srgbClr val="1A2A25"/>
                          </a:solidFill>
                          <a:latin typeface="Calibri" pitchFamily="34" charset="0"/>
                          <a:ea typeface="Calibri" pitchFamily="34" charset="-122"/>
                          <a:cs typeface="Calibri" pitchFamily="34" charset="-120"/>
                        </a:rPr>
                        <a:t>Auditoría de acciones</a:t>
                      </a:r>
                      <a:endParaRPr lang="en-US" sz="84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r>
                        <a:rPr sz="840">
                          <a:solidFill>
                            <a:srgbClr val="1A2A25"/>
                          </a:solidFill>
                          <a:latin typeface="Calibri"/>
                        </a:rPr>
                        <a:t>Revisión + CP001</a:t>
                      </a: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40" dirty="0">
                          <a:solidFill>
                            <a:srgbClr val="1A2A25"/>
                          </a:solidFill>
                          <a:latin typeface="Calibri" pitchFamily="34" charset="0"/>
                          <a:ea typeface="Calibri" pitchFamily="34" charset="-122"/>
                          <a:cs typeface="Calibri" pitchFamily="34" charset="-120"/>
                        </a:rPr>
                        <a:t>RF-5.1</a:t>
                      </a:r>
                      <a:endParaRPr lang="en-US" sz="84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475488">
                <a:tc>
                  <a:txBody>
                    <a:bodyPr/>
                    <a:lstStyle/>
                    <a:p>
                      <a:pPr indent="0" marL="0">
                        <a:buNone/>
                      </a:pPr>
                      <a:r>
                        <a:rPr lang="en-US" sz="840" b="1" dirty="0">
                          <a:solidFill>
                            <a:srgbClr val="123B33"/>
                          </a:solidFill>
                          <a:latin typeface="Courier New" pitchFamily="34" charset="0"/>
                          <a:ea typeface="Courier New" pitchFamily="34" charset="-122"/>
                          <a:cs typeface="Courier New" pitchFamily="34" charset="-120"/>
                        </a:rPr>
                        <a:t>RQ-06</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40" dirty="0">
                          <a:solidFill>
                            <a:srgbClr val="1A2A25"/>
                          </a:solidFill>
                          <a:latin typeface="Calibri" pitchFamily="34" charset="0"/>
                          <a:ea typeface="Calibri" pitchFamily="34" charset="-122"/>
                          <a:cs typeface="Calibri" pitchFamily="34" charset="-120"/>
                        </a:rPr>
                        <a:t>RUT con dígito verificador</a:t>
                      </a:r>
                      <a:endParaRPr lang="en-US" sz="84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r>
                        <a:rPr sz="840">
                          <a:solidFill>
                            <a:srgbClr val="1A2A25"/>
                          </a:solidFill>
                          <a:latin typeface="Calibri"/>
                        </a:rPr>
                        <a:t>Prueba manual · H-03</a:t>
                      </a: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40" dirty="0">
                          <a:solidFill>
                            <a:srgbClr val="1A2A25"/>
                          </a:solidFill>
                          <a:latin typeface="Calibri" pitchFamily="34" charset="0"/>
                          <a:ea typeface="Calibri" pitchFamily="34" charset="-122"/>
                          <a:cs typeface="Calibri" pitchFamily="34" charset="-120"/>
                        </a:rPr>
                        <a:t>Validación RUT</a:t>
                      </a:r>
                      <a:endParaRPr lang="en-US" sz="84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475488">
                <a:tc>
                  <a:txBody>
                    <a:bodyPr/>
                    <a:lstStyle/>
                    <a:p>
                      <a:pPr indent="0" marL="0">
                        <a:buNone/>
                      </a:pPr>
                      <a:r>
                        <a:rPr lang="en-US" sz="840" b="1" dirty="0">
                          <a:solidFill>
                            <a:srgbClr val="123B33"/>
                          </a:solidFill>
                          <a:latin typeface="Courier New" pitchFamily="34" charset="0"/>
                          <a:ea typeface="Courier New" pitchFamily="34" charset="-122"/>
                          <a:cs typeface="Courier New" pitchFamily="34" charset="-120"/>
                        </a:rPr>
                        <a:t>RQ-07</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40" dirty="0">
                          <a:solidFill>
                            <a:srgbClr val="1A2A25"/>
                          </a:solidFill>
                          <a:latin typeface="Calibri" pitchFamily="34" charset="0"/>
                          <a:ea typeface="Calibri" pitchFamily="34" charset="-122"/>
                          <a:cs typeface="Calibri" pitchFamily="34" charset="-120"/>
                        </a:rPr>
                        <a:t>Registro de pacientes</a:t>
                      </a:r>
                      <a:endParaRPr lang="en-US" sz="84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40" dirty="0">
                          <a:solidFill>
                            <a:srgbClr val="1A2A25"/>
                          </a:solidFill>
                          <a:latin typeface="Calibri" pitchFamily="34" charset="0"/>
                          <a:ea typeface="Calibri" pitchFamily="34" charset="-122"/>
                          <a:cs typeface="Calibri" pitchFamily="34" charset="-120"/>
                        </a:rPr>
                        <a:t>Caso formal · CP001–CP004</a:t>
                      </a:r>
                      <a:endParaRPr lang="en-US" sz="84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40" dirty="0">
                          <a:solidFill>
                            <a:srgbClr val="1A2A25"/>
                          </a:solidFill>
                          <a:latin typeface="Calibri" pitchFamily="34" charset="0"/>
                          <a:ea typeface="Calibri" pitchFamily="34" charset="-122"/>
                          <a:cs typeface="Calibri" pitchFamily="34" charset="-120"/>
                        </a:rPr>
                        <a:t>RF-2</a:t>
                      </a:r>
                      <a:endParaRPr lang="en-US" sz="84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bl>
          </a:graphicData>
        </a:graphic>
      </p:graphicFrame>
      <p:sp>
        <p:nvSpPr>
          <p:cNvPr id="8" name="Shape 5"/>
          <p:cNvSpPr/>
          <p:nvPr/>
        </p:nvSpPr>
        <p:spPr>
          <a:xfrm>
            <a:off x="8942832" y="1810512"/>
            <a:ext cx="2679192" cy="786384"/>
          </a:xfrm>
          <a:prstGeom prst="roundRect">
            <a:avLst>
              <a:gd name="adj" fmla="val 2907"/>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9" name="Text 6"/>
          <p:cNvSpPr/>
          <p:nvPr/>
        </p:nvSpPr>
        <p:spPr>
          <a:xfrm>
            <a:off x="9089136" y="1920240"/>
            <a:ext cx="1005840" cy="365760"/>
          </a:xfrm>
          <a:prstGeom prst="rect">
            <a:avLst/>
          </a:prstGeom>
          <a:noFill/>
          <a:ln/>
        </p:spPr>
        <p:txBody>
          <a:bodyPr wrap="square" lIns="0" tIns="0" rIns="0" bIns="0" rtlCol="0" anchor="t"/>
          <a:lstStyle/>
          <a:p>
            <a:pPr algn="l" indent="0" marL="0">
              <a:buNone/>
            </a:pPr>
            <a:r>
              <a:rPr lang="en-US" sz="2400" b="1" dirty="0">
                <a:solidFill>
                  <a:srgbClr val="123B33"/>
                </a:solidFill>
                <a:latin typeface="Cambria" pitchFamily="34" charset="0"/>
                <a:ea typeface="Cambria" pitchFamily="34" charset="-122"/>
                <a:cs typeface="Cambria" pitchFamily="34" charset="-120"/>
              </a:rPr>
              <a:t>4</a:t>
            </a:r>
            <a:endParaRPr lang="en-US" sz="2400" dirty="0"/>
          </a:p>
        </p:txBody>
      </p:sp>
      <p:sp>
        <p:nvSpPr>
          <p:cNvPr id="10" name="Text 7"/>
          <p:cNvSpPr/>
          <p:nvPr/>
        </p:nvSpPr>
        <p:spPr>
          <a:xfrm>
            <a:off x="10058400" y="1993392"/>
            <a:ext cx="1417320" cy="457200"/>
          </a:xfrm>
          <a:prstGeom prst="rect">
            <a:avLst/>
          </a:prstGeom>
          <a:noFill/>
          <a:ln/>
        </p:spPr>
        <p:txBody>
          <a:bodyPr wrap="square" lIns="0" tIns="0" rIns="0" bIns="0" rtlCol="0" anchor="t"/>
          <a:lstStyle/>
          <a:p>
            <a:pPr algn="l" indent="0" marL="0">
              <a:lnSpc>
                <a:spcPts val="1100"/>
              </a:lnSpc>
              <a:buNone/>
            </a:pPr>
            <a:r>
              <a:rPr lang="en-US" sz="860" dirty="0">
                <a:solidFill>
                  <a:srgbClr val="5C6D67"/>
                </a:solidFill>
                <a:latin typeface="Calibri" pitchFamily="34" charset="0"/>
                <a:ea typeface="Calibri" pitchFamily="34" charset="-122"/>
                <a:cs typeface="Calibri" pitchFamily="34" charset="-120"/>
              </a:rPr>
              <a:t>RQ con caso formal</a:t>
            </a:r>
            <a:endParaRPr lang="en-US" sz="860" dirty="0"/>
          </a:p>
        </p:txBody>
      </p:sp>
      <p:sp>
        <p:nvSpPr>
          <p:cNvPr id="11" name="Shape 8"/>
          <p:cNvSpPr/>
          <p:nvPr/>
        </p:nvSpPr>
        <p:spPr>
          <a:xfrm>
            <a:off x="8942832" y="2743200"/>
            <a:ext cx="2679192" cy="786384"/>
          </a:xfrm>
          <a:prstGeom prst="roundRect">
            <a:avLst>
              <a:gd name="adj" fmla="val 2907"/>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12" name="Text 9"/>
          <p:cNvSpPr/>
          <p:nvPr/>
        </p:nvSpPr>
        <p:spPr>
          <a:xfrm>
            <a:off x="9089136" y="2852928"/>
            <a:ext cx="1005840" cy="365760"/>
          </a:xfrm>
          <a:prstGeom prst="rect">
            <a:avLst/>
          </a:prstGeom>
          <a:noFill/>
          <a:ln/>
        </p:spPr>
        <p:txBody>
          <a:bodyPr wrap="square" lIns="0" tIns="0" rIns="0" bIns="0" rtlCol="0" anchor="t"/>
          <a:lstStyle/>
          <a:p>
            <a:pPr algn="l" indent="0" marL="0">
              <a:buNone/>
            </a:pPr>
            <a:r>
              <a:rPr lang="en-US" sz="2400" b="1" dirty="0">
                <a:solidFill>
                  <a:srgbClr val="123B33"/>
                </a:solidFill>
                <a:latin typeface="Cambria" pitchFamily="34" charset="0"/>
                <a:ea typeface="Cambria" pitchFamily="34" charset="-122"/>
                <a:cs typeface="Cambria" pitchFamily="34" charset="-120"/>
              </a:rPr>
              <a:t>3</a:t>
            </a:r>
            <a:endParaRPr lang="en-US" sz="2400" dirty="0"/>
          </a:p>
        </p:txBody>
      </p:sp>
      <p:sp>
        <p:nvSpPr>
          <p:cNvPr id="13" name="Text 10"/>
          <p:cNvSpPr/>
          <p:nvPr/>
        </p:nvSpPr>
        <p:spPr>
          <a:xfrm>
            <a:off x="10058400" y="2926080"/>
            <a:ext cx="1417320" cy="457200"/>
          </a:xfrm>
          <a:prstGeom prst="rect">
            <a:avLst/>
          </a:prstGeom>
          <a:noFill/>
          <a:ln/>
        </p:spPr>
        <p:txBody>
          <a:bodyPr wrap="square" lIns="0" tIns="0" rIns="0" bIns="0" rtlCol="0" anchor="t"/>
          <a:lstStyle/>
          <a:p>
            <a:pPr algn="l" indent="0" marL="0">
              <a:lnSpc>
                <a:spcPts val="1100"/>
              </a:lnSpc>
              <a:buNone/>
            </a:pPr>
            <a:r>
              <a:rPr lang="en-US" sz="860" dirty="0">
                <a:solidFill>
                  <a:srgbClr val="5C6D67"/>
                </a:solidFill>
                <a:latin typeface="Calibri" pitchFamily="34" charset="0"/>
                <a:ea typeface="Calibri" pitchFamily="34" charset="-122"/>
                <a:cs typeface="Calibri" pitchFamily="34" charset="-120"/>
              </a:rPr>
              <a:t>RQ con verificación directa</a:t>
            </a:r>
            <a:endParaRPr lang="en-US" sz="860" dirty="0"/>
          </a:p>
        </p:txBody>
      </p:sp>
      <p:sp>
        <p:nvSpPr>
          <p:cNvPr id="14" name="Shape 11"/>
          <p:cNvSpPr/>
          <p:nvPr/>
        </p:nvSpPr>
        <p:spPr>
          <a:xfrm>
            <a:off x="8942832" y="3675888"/>
            <a:ext cx="2679192" cy="786384"/>
          </a:xfrm>
          <a:prstGeom prst="roundRect">
            <a:avLst>
              <a:gd name="adj" fmla="val 2907"/>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15" name="Text 12"/>
          <p:cNvSpPr/>
          <p:nvPr/>
        </p:nvSpPr>
        <p:spPr>
          <a:xfrm>
            <a:off x="9089136" y="3785616"/>
            <a:ext cx="1005840" cy="365760"/>
          </a:xfrm>
          <a:prstGeom prst="rect">
            <a:avLst/>
          </a:prstGeom>
          <a:noFill/>
          <a:ln/>
        </p:spPr>
        <p:txBody>
          <a:bodyPr wrap="square" lIns="0" tIns="0" rIns="0" bIns="0" rtlCol="0" anchor="t"/>
          <a:lstStyle/>
          <a:p>
            <a:pPr algn="l" indent="0" marL="0">
              <a:buNone/>
            </a:pPr>
            <a:r>
              <a:rPr lang="en-US" sz="2400" b="1" dirty="0">
                <a:solidFill>
                  <a:srgbClr val="123B33"/>
                </a:solidFill>
                <a:latin typeface="Cambria" pitchFamily="34" charset="0"/>
                <a:ea typeface="Cambria" pitchFamily="34" charset="-122"/>
                <a:cs typeface="Cambria" pitchFamily="34" charset="-120"/>
              </a:rPr>
              <a:t>7/7</a:t>
            </a:r>
            <a:endParaRPr lang="en-US" sz="2400" dirty="0"/>
          </a:p>
        </p:txBody>
      </p:sp>
      <p:sp>
        <p:nvSpPr>
          <p:cNvPr id="16" name="Text 13"/>
          <p:cNvSpPr/>
          <p:nvPr/>
        </p:nvSpPr>
        <p:spPr>
          <a:xfrm>
            <a:off x="10058400" y="3858768"/>
            <a:ext cx="1417320" cy="457200"/>
          </a:xfrm>
          <a:prstGeom prst="rect">
            <a:avLst/>
          </a:prstGeom>
          <a:noFill/>
          <a:ln/>
        </p:spPr>
        <p:txBody>
          <a:bodyPr wrap="square" lIns="0" tIns="0" rIns="0" bIns="0" rtlCol="0" anchor="t"/>
          <a:lstStyle/>
          <a:p>
            <a:pPr algn="l" indent="0" marL="0">
              <a:lnSpc>
                <a:spcPts val="1100"/>
              </a:lnSpc>
              <a:buNone/>
            </a:pPr>
            <a:r>
              <a:rPr lang="en-US" sz="860" dirty="0">
                <a:solidFill>
                  <a:srgbClr val="5C6D67"/>
                </a:solidFill>
                <a:latin typeface="Calibri" pitchFamily="34" charset="0"/>
                <a:ea typeface="Calibri" pitchFamily="34" charset="-122"/>
                <a:cs typeface="Calibri" pitchFamily="34" charset="-120"/>
              </a:rPr>
              <a:t>RQ cubiertos</a:t>
            </a:r>
            <a:endParaRPr lang="en-US" sz="860" dirty="0"/>
          </a:p>
        </p:txBody>
      </p:sp>
      <p:sp>
        <p:nvSpPr>
          <p:cNvPr id="17" name="Shape 14"/>
          <p:cNvSpPr/>
          <p:nvPr/>
        </p:nvSpPr>
        <p:spPr>
          <a:xfrm>
            <a:off x="8942832" y="4681728"/>
            <a:ext cx="2679192" cy="1280160"/>
          </a:xfrm>
          <a:prstGeom prst="roundRect">
            <a:avLst>
              <a:gd name="adj" fmla="val 1786"/>
            </a:avLst>
          </a:prstGeom>
          <a:solidFill>
            <a:srgbClr val="F6E8CD"/>
          </a:solidFill>
          <a:ln w="7620">
            <a:solidFill>
              <a:srgbClr val="F6E8CD"/>
            </a:solidFill>
            <a:prstDash val="solid"/>
          </a:ln>
          <a:effectLst>
            <a:outerShdw sx="100000" sy="100000" kx="0" ky="0" algn="bl" rotWithShape="0" blurRad="88900" dist="25400" dir="5400000">
              <a:srgbClr val="000000">
                <a:alpha val="5000"/>
              </a:srgbClr>
            </a:outerShdw>
          </a:effectLst>
        </p:spPr>
      </p:sp>
      <p:sp>
        <p:nvSpPr>
          <p:cNvPr id="18" name="Text 15"/>
          <p:cNvSpPr/>
          <p:nvPr/>
        </p:nvSpPr>
        <p:spPr>
          <a:xfrm>
            <a:off x="9079992" y="4800600"/>
            <a:ext cx="2423160" cy="411480"/>
          </a:xfrm>
          <a:prstGeom prst="rect">
            <a:avLst/>
          </a:prstGeom>
          <a:noFill/>
          <a:ln/>
        </p:spPr>
        <p:txBody>
          <a:bodyPr wrap="square" lIns="0" tIns="0" rIns="0" bIns="0" rtlCol="0" anchor="t"/>
          <a:lstStyle/>
          <a:p>
            <a:pPr algn="l" indent="0" marL="0">
              <a:buNone/>
            </a:pPr>
            <a:r>
              <a:rPr lang="en-US" sz="680" b="1" spc="80" kern="0" dirty="0">
                <a:solidFill>
                  <a:srgbClr val="8A5E0F"/>
                </a:solidFill>
                <a:latin typeface="Courier New" pitchFamily="34" charset="0"/>
                <a:ea typeface="Courier New" pitchFamily="34" charset="-122"/>
                <a:cs typeface="Courier New" pitchFamily="34" charset="-120"/>
              </a:rPr>
              <a:t>COBERTURA DE REQUISITOS,</a:t>
            </a:r>
            <a:endParaRPr lang="en-US" sz="680" dirty="0"/>
          </a:p>
          <a:p>
            <a:pPr algn="l" indent="0" marL="0">
              <a:buNone/>
            </a:pPr>
            <a:r>
              <a:rPr lang="en-US" sz="680" b="1" spc="80" kern="0" dirty="0">
                <a:solidFill>
                  <a:srgbClr val="8A5E0F"/>
                </a:solidFill>
                <a:latin typeface="Courier New" pitchFamily="34" charset="0"/>
                <a:ea typeface="Courier New" pitchFamily="34" charset="-122"/>
                <a:cs typeface="Courier New" pitchFamily="34" charset="-120"/>
              </a:rPr>
              <a:t>NO DE CÓDIGO</a:t>
            </a:r>
            <a:endParaRPr lang="en-US" sz="680" dirty="0"/>
          </a:p>
        </p:txBody>
      </p:sp>
      <p:sp>
        <p:nvSpPr>
          <p:cNvPr id="19" name="Text 16"/>
          <p:cNvSpPr/>
          <p:nvPr/>
        </p:nvSpPr>
        <p:spPr>
          <a:xfrm>
            <a:off x="9079992" y="5266944"/>
            <a:ext cx="2395728" cy="502920"/>
          </a:xfrm>
          <a:prstGeom prst="rect">
            <a:avLst/>
          </a:prstGeom>
          <a:noFill/>
          <a:ln/>
        </p:spPr>
        <p:txBody>
          <a:bodyPr wrap="square" lIns="0" tIns="0" rIns="0" bIns="0" rtlCol="0" anchor="t"/>
          <a:lstStyle/>
          <a:p>
            <a:pPr algn="l" indent="0" marL="0">
              <a:lnSpc>
                <a:spcPts val="1100"/>
              </a:lnSpc>
              <a:buNone/>
            </a:pPr>
            <a:r>
              <a:rPr lang="en-US" sz="860" dirty="0">
                <a:solidFill>
                  <a:srgbClr val="1A2A25"/>
                </a:solidFill>
                <a:latin typeface="Calibri" pitchFamily="34" charset="0"/>
                <a:ea typeface="Calibri" pitchFamily="34" charset="-122"/>
                <a:cs typeface="Calibri" pitchFamily="34" charset="-120"/>
              </a:rPr>
              <a:t>SonarQube reporta 0,0% de cobertura automatizada.</a:t>
            </a:r>
            <a:endParaRPr lang="en-US" sz="860" dirty="0"/>
          </a:p>
        </p:txBody>
      </p:sp>
      <p:sp>
        <p:nvSpPr>
          <p:cNvPr id="20" name="Text 17"/>
          <p:cNvSpPr/>
          <p:nvPr/>
        </p:nvSpPr>
        <p:spPr>
          <a:xfrm>
            <a:off x="566928" y="5806440"/>
            <a:ext cx="8138160" cy="411480"/>
          </a:xfrm>
          <a:prstGeom prst="rect">
            <a:avLst/>
          </a:prstGeom>
          <a:noFill/>
          <a:ln/>
        </p:spPr>
        <p:txBody>
          <a:bodyPr wrap="square" lIns="0" tIns="0" rIns="0" bIns="0" rtlCol="0" anchor="t"/>
          <a:lstStyle/>
          <a:p>
            <a:pPr algn="l" indent="0" marL="0">
              <a:buNone/>
            </a:pPr>
            <a:r>
              <a:rPr lang="en-US" sz="900" i="1" dirty="0">
                <a:solidFill>
                  <a:srgbClr val="5C6D67"/>
                </a:solidFill>
                <a:latin typeface="Calibri" pitchFamily="34" charset="0"/>
                <a:ea typeface="Calibri" pitchFamily="34" charset="-122"/>
                <a:cs typeface="Calibri" pitchFamily="34" charset="-120"/>
              </a:rPr>
              <a:t>Los RQ sin caso formal se verificaron por revisión de código o prueba manual: RQ-05 con CP001 y RQ-06 sin captura archivada.</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566928" y="411480"/>
            <a:ext cx="77724" cy="77724"/>
          </a:xfrm>
          <a:prstGeom prst="rect">
            <a:avLst/>
          </a:prstGeom>
          <a:solidFill>
            <a:srgbClr val="C98A1E"/>
          </a:solidFill>
          <a:ln w="12700">
            <a:solidFill>
              <a:srgbClr val="C98A1E"/>
            </a:solidFill>
            <a:prstDash val="solid"/>
          </a:ln>
        </p:spPr>
      </p:sp>
      <p:sp>
        <p:nvSpPr>
          <p:cNvPr id="3" name="Text 1"/>
          <p:cNvSpPr/>
          <p:nvPr/>
        </p:nvSpPr>
        <p:spPr>
          <a:xfrm>
            <a:off x="731520" y="338328"/>
            <a:ext cx="9601200" cy="201168"/>
          </a:xfrm>
          <a:prstGeom prst="rect">
            <a:avLst/>
          </a:prstGeom>
          <a:noFill/>
          <a:ln/>
        </p:spPr>
        <p:txBody>
          <a:bodyPr wrap="square" lIns="0" tIns="0" rIns="0" bIns="0" rtlCol="0" anchor="t"/>
          <a:lstStyle/>
          <a:p>
            <a:pPr algn="l" indent="0" marL="0">
              <a:buNone/>
            </a:pPr>
            <a:r>
              <a:rPr lang="en-US" sz="800" b="1" spc="130" kern="0" dirty="0">
                <a:solidFill>
                  <a:srgbClr val="5C6D67"/>
                </a:solidFill>
                <a:latin typeface="Courier New" pitchFamily="34" charset="0"/>
                <a:ea typeface="Courier New" pitchFamily="34" charset="-122"/>
                <a:cs typeface="Courier New" pitchFamily="34" charset="-120"/>
              </a:rPr>
              <a:t>06 · HERRAMIENTAS</a:t>
            </a:r>
            <a:endParaRPr lang="en-US" sz="800" dirty="0"/>
          </a:p>
        </p:txBody>
      </p:sp>
      <p:sp>
        <p:nvSpPr>
          <p:cNvPr id="4" name="Text 2"/>
          <p:cNvSpPr/>
          <p:nvPr/>
        </p:nvSpPr>
        <p:spPr>
          <a:xfrm>
            <a:off x="566928" y="640080"/>
            <a:ext cx="11057839" cy="941832"/>
          </a:xfrm>
          <a:prstGeom prst="rect">
            <a:avLst/>
          </a:prstGeom>
          <a:noFill/>
          <a:ln/>
        </p:spPr>
        <p:txBody>
          <a:bodyPr wrap="square" lIns="0" tIns="0" rIns="0" bIns="0" rtlCol="0" anchor="t"/>
          <a:lstStyle/>
          <a:p>
            <a:pPr algn="l" indent="0" marL="0">
              <a:lnSpc>
                <a:spcPts val="3100"/>
              </a:lnSpc>
              <a:buNone/>
            </a:pPr>
            <a:r>
              <a:rPr lang="en-US" sz="2600" b="1" dirty="0">
                <a:solidFill>
                  <a:srgbClr val="1A2A25"/>
                </a:solidFill>
                <a:latin typeface="Cambria" pitchFamily="34" charset="0"/>
                <a:ea typeface="Cambria" pitchFamily="34" charset="-122"/>
                <a:cs typeface="Cambria" pitchFamily="34" charset="-120"/>
              </a:rPr>
              <a:t>Cinco herramientas, una razón por cada una</a:t>
            </a:r>
            <a:endParaRPr lang="en-US" sz="2600" dirty="0"/>
          </a:p>
        </p:txBody>
      </p:sp>
      <p:sp>
        <p:nvSpPr>
          <p:cNvPr id="5" name="Text 3"/>
          <p:cNvSpPr/>
          <p:nvPr/>
        </p:nvSpPr>
        <p:spPr>
          <a:xfrm>
            <a:off x="566928" y="6547104"/>
            <a:ext cx="5943600" cy="182880"/>
          </a:xfrm>
          <a:prstGeom prst="rect">
            <a:avLst/>
          </a:prstGeom>
          <a:noFill/>
          <a:ln/>
        </p:spPr>
        <p:txBody>
          <a:bodyPr wrap="square" lIns="0" tIns="0" rIns="0" bIns="0" rtlCol="0" anchor="t"/>
          <a:lstStyle/>
          <a:p>
            <a:pPr algn="l" indent="0" marL="0">
              <a:buNone/>
            </a:pPr>
            <a:r>
              <a:rPr lang="en-US" sz="730" spc="60" kern="0" dirty="0">
                <a:solidFill>
                  <a:srgbClr val="8A9A94"/>
                </a:solidFill>
                <a:latin typeface="Courier New" pitchFamily="34" charset="0"/>
                <a:ea typeface="Courier New" pitchFamily="34" charset="-122"/>
                <a:cs typeface="Courier New" pitchFamily="34" charset="-120"/>
              </a:rPr>
              <a:t>Cuidarte+ · Auditoría de calidad y seguridad</a:t>
            </a:r>
            <a:endParaRPr lang="en-US" sz="730" dirty="0"/>
          </a:p>
        </p:txBody>
      </p:sp>
      <p:sp>
        <p:nvSpPr>
          <p:cNvPr id="6" name="Text 4"/>
          <p:cNvSpPr/>
          <p:nvPr/>
        </p:nvSpPr>
        <p:spPr>
          <a:xfrm>
            <a:off x="10561320" y="6547104"/>
            <a:ext cx="1060704" cy="182880"/>
          </a:xfrm>
          <a:prstGeom prst="rect">
            <a:avLst/>
          </a:prstGeom>
          <a:noFill/>
          <a:ln/>
        </p:spPr>
        <p:txBody>
          <a:bodyPr wrap="square" lIns="0" tIns="0" rIns="0" bIns="0" rtlCol="0" anchor="t"/>
          <a:lstStyle/>
          <a:p>
            <a:pPr algn="r" indent="0" marL="0">
              <a:buNone/>
            </a:pPr>
            <a:r>
              <a:rPr lang="en-US" sz="730" spc="60" kern="0" dirty="0">
                <a:solidFill>
                  <a:srgbClr val="8A9A94"/>
                </a:solidFill>
                <a:latin typeface="Courier New" pitchFamily="34" charset="0"/>
                <a:ea typeface="Courier New" pitchFamily="34" charset="-122"/>
                <a:cs typeface="Courier New" pitchFamily="34" charset="-120"/>
              </a:rPr>
              <a:t>07 / 17</a:t>
            </a:r>
            <a:endParaRPr lang="en-US" sz="730" dirty="0"/>
          </a:p>
        </p:txBody>
      </p:sp>
      <p:sp>
        <p:nvSpPr>
          <p:cNvPr id="7" name="Text 5"/>
          <p:cNvSpPr/>
          <p:nvPr/>
        </p:nvSpPr>
        <p:spPr>
          <a:xfrm>
            <a:off x="566928" y="1792224"/>
            <a:ext cx="411480" cy="219456"/>
          </a:xfrm>
          <a:prstGeom prst="rect">
            <a:avLst/>
          </a:prstGeom>
          <a:noFill/>
          <a:ln/>
        </p:spPr>
        <p:txBody>
          <a:bodyPr wrap="square" lIns="0" tIns="0" rIns="0" bIns="0" rtlCol="0" anchor="t"/>
          <a:lstStyle/>
          <a:p>
            <a:pPr algn="l" indent="0" marL="0">
              <a:buNone/>
            </a:pPr>
            <a:r>
              <a:rPr lang="en-US" sz="850" b="1" dirty="0">
                <a:solidFill>
                  <a:srgbClr val="C98A1E"/>
                </a:solidFill>
                <a:latin typeface="Courier New" pitchFamily="34" charset="0"/>
                <a:ea typeface="Courier New" pitchFamily="34" charset="-122"/>
                <a:cs typeface="Courier New" pitchFamily="34" charset="-120"/>
              </a:rPr>
              <a:t>01</a:t>
            </a:r>
            <a:endParaRPr lang="en-US" sz="850" dirty="0"/>
          </a:p>
        </p:txBody>
      </p:sp>
      <p:sp>
        <p:nvSpPr>
          <p:cNvPr id="8" name="Text 6"/>
          <p:cNvSpPr/>
          <p:nvPr/>
        </p:nvSpPr>
        <p:spPr>
          <a:xfrm>
            <a:off x="1078992" y="1737360"/>
            <a:ext cx="1874520" cy="274320"/>
          </a:xfrm>
          <a:prstGeom prst="rect">
            <a:avLst/>
          </a:prstGeom>
          <a:noFill/>
          <a:ln/>
        </p:spPr>
        <p:txBody>
          <a:bodyPr wrap="square" lIns="0" tIns="0" rIns="0" bIns="0" rtlCol="0" anchor="t"/>
          <a:lstStyle/>
          <a:p>
            <a:pPr algn="l" indent="0" marL="0">
              <a:buNone/>
            </a:pPr>
            <a:r>
              <a:rPr lang="en-US" sz="1450" b="1" dirty="0">
                <a:solidFill>
                  <a:srgbClr val="1A2A25"/>
                </a:solidFill>
                <a:latin typeface="Cambria" pitchFamily="34" charset="0"/>
                <a:ea typeface="Cambria" pitchFamily="34" charset="-122"/>
                <a:cs typeface="Cambria" pitchFamily="34" charset="-120"/>
              </a:rPr>
              <a:t>Docker Compose</a:t>
            </a:r>
            <a:endParaRPr lang="en-US" sz="1450" dirty="0"/>
          </a:p>
        </p:txBody>
      </p:sp>
      <p:sp>
        <p:nvSpPr>
          <p:cNvPr id="9" name="Text 7"/>
          <p:cNvSpPr/>
          <p:nvPr/>
        </p:nvSpPr>
        <p:spPr>
          <a:xfrm>
            <a:off x="2999232" y="1755648"/>
            <a:ext cx="4617720" cy="457200"/>
          </a:xfrm>
          <a:prstGeom prst="rect">
            <a:avLst/>
          </a:prstGeom>
          <a:noFill/>
          <a:ln/>
        </p:spPr>
        <p:txBody>
          <a:bodyPr wrap="square" lIns="0" tIns="0" rIns="0" bIns="0" rtlCol="0" anchor="t"/>
          <a:lstStyle/>
          <a:p>
            <a:pPr algn="l" indent="0" marL="0">
              <a:lnSpc>
                <a:spcPts val="1300"/>
              </a:lnSpc>
              <a:buNone/>
            </a:pPr>
            <a:r>
              <a:rPr lang="en-US" sz="980" dirty="0">
                <a:solidFill>
                  <a:srgbClr val="5C6D67"/>
                </a:solidFill>
                <a:latin typeface="Calibri" pitchFamily="34" charset="0"/>
                <a:ea typeface="Calibri" pitchFamily="34" charset="-122"/>
                <a:cs typeface="Calibri" pitchFamily="34" charset="-120"/>
              </a:rPr>
              <a:t>Reproducir el entorno completo: frontend, backend y PostgreSQL.</a:t>
            </a:r>
            <a:endParaRPr lang="en-US" sz="980" dirty="0"/>
          </a:p>
        </p:txBody>
      </p:sp>
      <p:sp>
        <p:nvSpPr>
          <p:cNvPr id="10" name="Text 8"/>
          <p:cNvSpPr/>
          <p:nvPr/>
        </p:nvSpPr>
        <p:spPr>
          <a:xfrm>
            <a:off x="566928" y="2615184"/>
            <a:ext cx="411480" cy="219456"/>
          </a:xfrm>
          <a:prstGeom prst="rect">
            <a:avLst/>
          </a:prstGeom>
          <a:noFill/>
          <a:ln/>
        </p:spPr>
        <p:txBody>
          <a:bodyPr wrap="square" lIns="0" tIns="0" rIns="0" bIns="0" rtlCol="0" anchor="t"/>
          <a:lstStyle/>
          <a:p>
            <a:pPr algn="l" indent="0" marL="0">
              <a:buNone/>
            </a:pPr>
            <a:r>
              <a:rPr lang="en-US" sz="850" b="1" dirty="0">
                <a:solidFill>
                  <a:srgbClr val="C98A1E"/>
                </a:solidFill>
                <a:latin typeface="Courier New" pitchFamily="34" charset="0"/>
                <a:ea typeface="Courier New" pitchFamily="34" charset="-122"/>
                <a:cs typeface="Courier New" pitchFamily="34" charset="-120"/>
              </a:rPr>
              <a:t>02</a:t>
            </a:r>
            <a:endParaRPr lang="en-US" sz="850" dirty="0"/>
          </a:p>
        </p:txBody>
      </p:sp>
      <p:sp>
        <p:nvSpPr>
          <p:cNvPr id="11" name="Text 9"/>
          <p:cNvSpPr/>
          <p:nvPr/>
        </p:nvSpPr>
        <p:spPr>
          <a:xfrm>
            <a:off x="1078992" y="2560320"/>
            <a:ext cx="1874520" cy="274320"/>
          </a:xfrm>
          <a:prstGeom prst="rect">
            <a:avLst/>
          </a:prstGeom>
          <a:noFill/>
          <a:ln/>
        </p:spPr>
        <p:txBody>
          <a:bodyPr wrap="square" lIns="0" tIns="0" rIns="0" bIns="0" rtlCol="0" anchor="t"/>
          <a:lstStyle/>
          <a:p>
            <a:pPr algn="l" indent="0" marL="0">
              <a:buNone/>
            </a:pPr>
            <a:r>
              <a:rPr lang="en-US" sz="1450" b="1" dirty="0">
                <a:solidFill>
                  <a:srgbClr val="1A2A25"/>
                </a:solidFill>
                <a:latin typeface="Cambria" pitchFamily="34" charset="0"/>
                <a:ea typeface="Cambria" pitchFamily="34" charset="-122"/>
                <a:cs typeface="Cambria" pitchFamily="34" charset="-120"/>
              </a:rPr>
              <a:t>Swagger / OpenAPI</a:t>
            </a:r>
            <a:endParaRPr lang="en-US" sz="1450" dirty="0"/>
          </a:p>
        </p:txBody>
      </p:sp>
      <p:sp>
        <p:nvSpPr>
          <p:cNvPr id="12" name="Text 10"/>
          <p:cNvSpPr/>
          <p:nvPr/>
        </p:nvSpPr>
        <p:spPr>
          <a:xfrm>
            <a:off x="2999232" y="2578608"/>
            <a:ext cx="4617720" cy="457200"/>
          </a:xfrm>
          <a:prstGeom prst="rect">
            <a:avLst/>
          </a:prstGeom>
          <a:noFill/>
          <a:ln/>
        </p:spPr>
        <p:txBody>
          <a:bodyPr wrap="square" lIns="0" tIns="0" rIns="0" bIns="0" rtlCol="0" anchor="t"/>
          <a:lstStyle/>
          <a:p>
            <a:pPr algn="l" indent="0" marL="0">
              <a:lnSpc>
                <a:spcPts val="1300"/>
              </a:lnSpc>
              <a:buNone/>
            </a:pPr>
            <a:r>
              <a:rPr lang="en-US" sz="980" dirty="0">
                <a:solidFill>
                  <a:srgbClr val="5C6D67"/>
                </a:solidFill>
                <a:latin typeface="Calibri" pitchFamily="34" charset="0"/>
                <a:ea typeface="Calibri" pitchFamily="34" charset="-122"/>
                <a:cs typeface="Calibri" pitchFamily="34" charset="-120"/>
              </a:rPr>
              <a:t>Verificar el contrato real de cada endpoint antes de probarlo.</a:t>
            </a:r>
            <a:endParaRPr lang="en-US" sz="980" dirty="0"/>
          </a:p>
        </p:txBody>
      </p:sp>
      <p:sp>
        <p:nvSpPr>
          <p:cNvPr id="13" name="Text 11"/>
          <p:cNvSpPr/>
          <p:nvPr/>
        </p:nvSpPr>
        <p:spPr>
          <a:xfrm>
            <a:off x="566928" y="3438144"/>
            <a:ext cx="411480" cy="219456"/>
          </a:xfrm>
          <a:prstGeom prst="rect">
            <a:avLst/>
          </a:prstGeom>
          <a:noFill/>
          <a:ln/>
        </p:spPr>
        <p:txBody>
          <a:bodyPr wrap="square" lIns="0" tIns="0" rIns="0" bIns="0" rtlCol="0" anchor="t"/>
          <a:lstStyle/>
          <a:p>
            <a:pPr algn="l" indent="0" marL="0">
              <a:buNone/>
            </a:pPr>
            <a:r>
              <a:rPr lang="en-US" sz="850" b="1" dirty="0">
                <a:solidFill>
                  <a:srgbClr val="C98A1E"/>
                </a:solidFill>
                <a:latin typeface="Courier New" pitchFamily="34" charset="0"/>
                <a:ea typeface="Courier New" pitchFamily="34" charset="-122"/>
                <a:cs typeface="Courier New" pitchFamily="34" charset="-120"/>
              </a:rPr>
              <a:t>03</a:t>
            </a:r>
            <a:endParaRPr lang="en-US" sz="850" dirty="0"/>
          </a:p>
        </p:txBody>
      </p:sp>
      <p:sp>
        <p:nvSpPr>
          <p:cNvPr id="14" name="Text 12"/>
          <p:cNvSpPr/>
          <p:nvPr/>
        </p:nvSpPr>
        <p:spPr>
          <a:xfrm>
            <a:off x="1078992" y="3383280"/>
            <a:ext cx="1874520" cy="274320"/>
          </a:xfrm>
          <a:prstGeom prst="rect">
            <a:avLst/>
          </a:prstGeom>
          <a:noFill/>
          <a:ln/>
        </p:spPr>
        <p:txBody>
          <a:bodyPr wrap="square" lIns="0" tIns="0" rIns="0" bIns="0" rtlCol="0" anchor="t"/>
          <a:lstStyle/>
          <a:p>
            <a:pPr algn="l" indent="0" marL="0">
              <a:buNone/>
            </a:pPr>
            <a:r>
              <a:rPr lang="en-US" sz="1450" b="1" dirty="0">
                <a:solidFill>
                  <a:srgbClr val="1A2A25"/>
                </a:solidFill>
                <a:latin typeface="Cambria" pitchFamily="34" charset="0"/>
                <a:ea typeface="Cambria" pitchFamily="34" charset="-122"/>
                <a:cs typeface="Cambria" pitchFamily="34" charset="-120"/>
              </a:rPr>
              <a:t>curl / Postman</a:t>
            </a:r>
            <a:endParaRPr lang="en-US" sz="1450" dirty="0"/>
          </a:p>
        </p:txBody>
      </p:sp>
      <p:sp>
        <p:nvSpPr>
          <p:cNvPr id="15" name="Text 13"/>
          <p:cNvSpPr/>
          <p:nvPr/>
        </p:nvSpPr>
        <p:spPr>
          <a:xfrm>
            <a:off x="2999232" y="3401568"/>
            <a:ext cx="4617720" cy="457200"/>
          </a:xfrm>
          <a:prstGeom prst="rect">
            <a:avLst/>
          </a:prstGeom>
          <a:noFill/>
          <a:ln/>
        </p:spPr>
        <p:txBody>
          <a:bodyPr wrap="square" lIns="0" tIns="0" rIns="0" bIns="0" rtlCol="0" anchor="t"/>
          <a:lstStyle/>
          <a:p>
            <a:pPr algn="l" indent="0" marL="0">
              <a:lnSpc>
                <a:spcPts val="1300"/>
              </a:lnSpc>
              <a:buNone/>
            </a:pPr>
            <a:r>
              <a:rPr lang="en-US" sz="980" dirty="0">
                <a:solidFill>
                  <a:srgbClr val="5C6D67"/>
                </a:solidFill>
                <a:latin typeface="Calibri" pitchFamily="34" charset="0"/>
                <a:ea typeface="Calibri" pitchFamily="34" charset="-122"/>
                <a:cs typeface="Calibri" pitchFamily="34" charset="-120"/>
              </a:rPr>
              <a:t>Capturar request y response como evidencia reproducible.</a:t>
            </a:r>
            <a:endParaRPr lang="en-US" sz="980" dirty="0"/>
          </a:p>
        </p:txBody>
      </p:sp>
      <p:sp>
        <p:nvSpPr>
          <p:cNvPr id="16" name="Text 14"/>
          <p:cNvSpPr/>
          <p:nvPr/>
        </p:nvSpPr>
        <p:spPr>
          <a:xfrm>
            <a:off x="566928" y="4261104"/>
            <a:ext cx="411480" cy="219456"/>
          </a:xfrm>
          <a:prstGeom prst="rect">
            <a:avLst/>
          </a:prstGeom>
          <a:noFill/>
          <a:ln/>
        </p:spPr>
        <p:txBody>
          <a:bodyPr wrap="square" lIns="0" tIns="0" rIns="0" bIns="0" rtlCol="0" anchor="t"/>
          <a:lstStyle/>
          <a:p>
            <a:pPr algn="l" indent="0" marL="0">
              <a:buNone/>
            </a:pPr>
            <a:r>
              <a:rPr lang="en-US" sz="850" b="1" dirty="0">
                <a:solidFill>
                  <a:srgbClr val="C98A1E"/>
                </a:solidFill>
                <a:latin typeface="Courier New" pitchFamily="34" charset="0"/>
                <a:ea typeface="Courier New" pitchFamily="34" charset="-122"/>
                <a:cs typeface="Courier New" pitchFamily="34" charset="-120"/>
              </a:rPr>
              <a:t>04</a:t>
            </a:r>
            <a:endParaRPr lang="en-US" sz="850" dirty="0"/>
          </a:p>
        </p:txBody>
      </p:sp>
      <p:sp>
        <p:nvSpPr>
          <p:cNvPr id="17" name="Text 15"/>
          <p:cNvSpPr/>
          <p:nvPr/>
        </p:nvSpPr>
        <p:spPr>
          <a:xfrm>
            <a:off x="1078992" y="4206240"/>
            <a:ext cx="1874520" cy="274320"/>
          </a:xfrm>
          <a:prstGeom prst="rect">
            <a:avLst/>
          </a:prstGeom>
          <a:noFill/>
          <a:ln/>
        </p:spPr>
        <p:txBody>
          <a:bodyPr wrap="square" lIns="0" tIns="0" rIns="0" bIns="0" rtlCol="0" anchor="t"/>
          <a:lstStyle/>
          <a:p>
            <a:pPr algn="l" indent="0" marL="0">
              <a:buNone/>
            </a:pPr>
            <a:r>
              <a:rPr lang="en-US" sz="1450" b="1" dirty="0">
                <a:solidFill>
                  <a:srgbClr val="1A2A25"/>
                </a:solidFill>
                <a:latin typeface="Cambria" pitchFamily="34" charset="0"/>
                <a:ea typeface="Cambria" pitchFamily="34" charset="-122"/>
                <a:cs typeface="Cambria" pitchFamily="34" charset="-120"/>
              </a:rPr>
              <a:t>PostgreSQL</a:t>
            </a:r>
            <a:endParaRPr lang="en-US" sz="1450" dirty="0"/>
          </a:p>
        </p:txBody>
      </p:sp>
      <p:sp>
        <p:nvSpPr>
          <p:cNvPr id="18" name="Text 16"/>
          <p:cNvSpPr/>
          <p:nvPr/>
        </p:nvSpPr>
        <p:spPr>
          <a:xfrm>
            <a:off x="2999232" y="4224528"/>
            <a:ext cx="4617720" cy="457200"/>
          </a:xfrm>
          <a:prstGeom prst="rect">
            <a:avLst/>
          </a:prstGeom>
          <a:noFill/>
          <a:ln/>
        </p:spPr>
        <p:txBody>
          <a:bodyPr wrap="square" lIns="0" tIns="0" rIns="0" bIns="0" rtlCol="0" anchor="t"/>
          <a:lstStyle/>
          <a:p>
            <a:pPr algn="l" indent="0" marL="0">
              <a:lnSpc>
                <a:spcPts val="1300"/>
              </a:lnSpc>
              <a:buNone/>
            </a:pPr>
            <a:r>
              <a:rPr lang="en-US" sz="980" dirty="0">
                <a:solidFill>
                  <a:srgbClr val="5C6D67"/>
                </a:solidFill>
                <a:latin typeface="Calibri" pitchFamily="34" charset="0"/>
                <a:ea typeface="Calibri" pitchFamily="34" charset="-122"/>
                <a:cs typeface="Calibri" pitchFamily="34" charset="-120"/>
              </a:rPr>
              <a:t>Confirmar el efecto real de una petición en la base de datos.</a:t>
            </a:r>
            <a:endParaRPr lang="en-US" sz="980" dirty="0"/>
          </a:p>
        </p:txBody>
      </p:sp>
      <p:sp>
        <p:nvSpPr>
          <p:cNvPr id="19" name="Text 17"/>
          <p:cNvSpPr/>
          <p:nvPr/>
        </p:nvSpPr>
        <p:spPr>
          <a:xfrm>
            <a:off x="566928" y="5084064"/>
            <a:ext cx="411480" cy="219456"/>
          </a:xfrm>
          <a:prstGeom prst="rect">
            <a:avLst/>
          </a:prstGeom>
          <a:noFill/>
          <a:ln/>
        </p:spPr>
        <p:txBody>
          <a:bodyPr wrap="square" lIns="0" tIns="0" rIns="0" bIns="0" rtlCol="0" anchor="t"/>
          <a:lstStyle/>
          <a:p>
            <a:pPr algn="l" indent="0" marL="0">
              <a:buNone/>
            </a:pPr>
            <a:r>
              <a:rPr lang="en-US" sz="850" b="1" dirty="0">
                <a:solidFill>
                  <a:srgbClr val="C98A1E"/>
                </a:solidFill>
                <a:latin typeface="Courier New" pitchFamily="34" charset="0"/>
                <a:ea typeface="Courier New" pitchFamily="34" charset="-122"/>
                <a:cs typeface="Courier New" pitchFamily="34" charset="-120"/>
              </a:rPr>
              <a:t>05</a:t>
            </a:r>
            <a:endParaRPr lang="en-US" sz="850" dirty="0"/>
          </a:p>
        </p:txBody>
      </p:sp>
      <p:sp>
        <p:nvSpPr>
          <p:cNvPr id="20" name="Text 18"/>
          <p:cNvSpPr/>
          <p:nvPr/>
        </p:nvSpPr>
        <p:spPr>
          <a:xfrm>
            <a:off x="1078992" y="5029200"/>
            <a:ext cx="1874520" cy="274320"/>
          </a:xfrm>
          <a:prstGeom prst="rect">
            <a:avLst/>
          </a:prstGeom>
          <a:noFill/>
          <a:ln/>
        </p:spPr>
        <p:txBody>
          <a:bodyPr wrap="square" lIns="0" tIns="0" rIns="0" bIns="0" rtlCol="0" anchor="t"/>
          <a:lstStyle/>
          <a:p>
            <a:pPr algn="l" indent="0" marL="0">
              <a:buNone/>
            </a:pPr>
            <a:r>
              <a:rPr lang="en-US" sz="1450" b="1" dirty="0">
                <a:solidFill>
                  <a:srgbClr val="1A2A25"/>
                </a:solidFill>
                <a:latin typeface="Cambria" pitchFamily="34" charset="0"/>
                <a:ea typeface="Cambria" pitchFamily="34" charset="-122"/>
                <a:cs typeface="Cambria" pitchFamily="34" charset="-120"/>
              </a:rPr>
              <a:t>SonarQube 9.9.8</a:t>
            </a:r>
            <a:endParaRPr lang="en-US" sz="1450" dirty="0"/>
          </a:p>
        </p:txBody>
      </p:sp>
      <p:sp>
        <p:nvSpPr>
          <p:cNvPr id="21" name="Text 19"/>
          <p:cNvSpPr/>
          <p:nvPr/>
        </p:nvSpPr>
        <p:spPr>
          <a:xfrm>
            <a:off x="2999232" y="5047488"/>
            <a:ext cx="4617720" cy="457200"/>
          </a:xfrm>
          <a:prstGeom prst="rect">
            <a:avLst/>
          </a:prstGeom>
          <a:noFill/>
          <a:ln/>
        </p:spPr>
        <p:txBody>
          <a:bodyPr wrap="square" lIns="0" tIns="0" rIns="0" bIns="0" rtlCol="0" anchor="t"/>
          <a:lstStyle/>
          <a:p>
            <a:pPr algn="l" indent="0" marL="0">
              <a:lnSpc>
                <a:spcPts val="1300"/>
              </a:lnSpc>
              <a:buNone/>
            </a:pPr>
            <a:r>
              <a:rPr lang="en-US" sz="980" dirty="0">
                <a:solidFill>
                  <a:srgbClr val="5C6D67"/>
                </a:solidFill>
                <a:latin typeface="Calibri" pitchFamily="34" charset="0"/>
                <a:ea typeface="Calibri" pitchFamily="34" charset="-122"/>
                <a:cs typeface="Calibri" pitchFamily="34" charset="-120"/>
              </a:rPr>
              <a:t>SAST con perfil OWASP sobre 10.133 líneas de código.</a:t>
            </a:r>
            <a:endParaRPr lang="en-US" sz="980" dirty="0"/>
          </a:p>
        </p:txBody>
      </p:sp>
      <p:sp>
        <p:nvSpPr>
          <p:cNvPr id="22" name="Shape 20"/>
          <p:cNvSpPr/>
          <p:nvPr/>
        </p:nvSpPr>
        <p:spPr>
          <a:xfrm>
            <a:off x="8001000" y="1737360"/>
            <a:ext cx="3621024" cy="2029968"/>
          </a:xfrm>
          <a:prstGeom prst="roundRect">
            <a:avLst>
              <a:gd name="adj" fmla="val 1126"/>
            </a:avLst>
          </a:prstGeom>
          <a:solidFill>
            <a:srgbClr val="F6E8CD"/>
          </a:solidFill>
          <a:ln w="7620">
            <a:solidFill>
              <a:srgbClr val="F6E8CD"/>
            </a:solidFill>
            <a:prstDash val="solid"/>
          </a:ln>
          <a:effectLst>
            <a:outerShdw sx="100000" sy="100000" kx="0" ky="0" algn="bl" rotWithShape="0" blurRad="88900" dist="25400" dir="5400000">
              <a:srgbClr val="000000">
                <a:alpha val="5000"/>
              </a:srgbClr>
            </a:outerShdw>
          </a:effectLst>
        </p:spPr>
      </p:sp>
      <p:sp>
        <p:nvSpPr>
          <p:cNvPr id="23" name="Text 21"/>
          <p:cNvSpPr/>
          <p:nvPr/>
        </p:nvSpPr>
        <p:spPr>
          <a:xfrm>
            <a:off x="8156448" y="1865376"/>
            <a:ext cx="3291840" cy="182880"/>
          </a:xfrm>
          <a:prstGeom prst="rect">
            <a:avLst/>
          </a:prstGeom>
          <a:noFill/>
          <a:ln/>
        </p:spPr>
        <p:txBody>
          <a:bodyPr wrap="square" lIns="0" tIns="0" rIns="0" bIns="0" rtlCol="0" anchor="t"/>
          <a:lstStyle/>
          <a:p>
            <a:pPr algn="l" indent="0" marL="0">
              <a:buNone/>
            </a:pPr>
            <a:r>
              <a:rPr lang="en-US" sz="710" b="1" spc="110" kern="0" dirty="0">
                <a:solidFill>
                  <a:srgbClr val="8A5E0F"/>
                </a:solidFill>
                <a:latin typeface="Courier New" pitchFamily="34" charset="0"/>
                <a:ea typeface="Courier New" pitchFamily="34" charset="-122"/>
                <a:cs typeface="Courier New" pitchFamily="34" charset="-120"/>
              </a:rPr>
              <a:t>POR QUÉ NO ZAP</a:t>
            </a:r>
            <a:endParaRPr lang="en-US" sz="710" dirty="0"/>
          </a:p>
        </p:txBody>
      </p:sp>
      <p:sp>
        <p:nvSpPr>
          <p:cNvPr id="24" name="Text 22"/>
          <p:cNvSpPr/>
          <p:nvPr/>
        </p:nvSpPr>
        <p:spPr>
          <a:xfrm>
            <a:off x="8156448" y="2103120"/>
            <a:ext cx="3291840" cy="822960"/>
          </a:xfrm>
          <a:prstGeom prst="rect">
            <a:avLst/>
          </a:prstGeom>
          <a:noFill/>
          <a:ln/>
        </p:spPr>
        <p:txBody>
          <a:bodyPr wrap="square" lIns="0" tIns="0" rIns="0" bIns="0" rtlCol="0" anchor="t"/>
          <a:lstStyle/>
          <a:p>
            <a:pPr algn="l" indent="0" marL="0">
              <a:lnSpc>
                <a:spcPts val="1400"/>
              </a:lnSpc>
              <a:buNone/>
            </a:pPr>
            <a:r>
              <a:rPr lang="en-US" sz="980" dirty="0">
                <a:solidFill>
                  <a:srgbClr val="1A2A25"/>
                </a:solidFill>
                <a:latin typeface="Calibri" pitchFamily="34" charset="0"/>
                <a:ea typeface="Calibri" pitchFamily="34" charset="-122"/>
                <a:cs typeface="Calibri" pitchFamily="34" charset="-120"/>
              </a:rPr>
              <a:t>OWASP ZAP no se ejecutó en esta iteración. Se declara como trabajo futuro, no como resultado.</a:t>
            </a:r>
            <a:endParaRPr lang="en-US" sz="980" dirty="0"/>
          </a:p>
        </p:txBody>
      </p:sp>
      <p:sp>
        <p:nvSpPr>
          <p:cNvPr id="25" name="Text 23"/>
          <p:cNvSpPr/>
          <p:nvPr/>
        </p:nvSpPr>
        <p:spPr>
          <a:xfrm>
            <a:off x="8156448" y="3081528"/>
            <a:ext cx="3246120" cy="502920"/>
          </a:xfrm>
          <a:prstGeom prst="rect">
            <a:avLst/>
          </a:prstGeom>
          <a:noFill/>
          <a:ln/>
        </p:spPr>
        <p:txBody>
          <a:bodyPr wrap="square" lIns="0" tIns="0" rIns="0" bIns="0" rtlCol="0" anchor="t"/>
          <a:lstStyle/>
          <a:p>
            <a:pPr algn="l" indent="0" marL="0">
              <a:lnSpc>
                <a:spcPts val="1200"/>
              </a:lnSpc>
              <a:buNone/>
            </a:pPr>
            <a:r>
              <a:rPr lang="en-US" sz="880" i="1" dirty="0">
                <a:solidFill>
                  <a:srgbClr val="8A5E0F"/>
                </a:solidFill>
                <a:latin typeface="Calibri" pitchFamily="34" charset="0"/>
                <a:ea typeface="Calibri" pitchFamily="34" charset="-122"/>
                <a:cs typeface="Calibri" pitchFamily="34" charset="-120"/>
              </a:rPr>
              <a:t>Un hallazgo no observado no se convierte en un hallazgo inexistente.</a:t>
            </a:r>
            <a:endParaRPr lang="en-US" sz="880" dirty="0"/>
          </a:p>
        </p:txBody>
      </p:sp>
      <p:sp>
        <p:nvSpPr>
          <p:cNvPr id="26" name="Shape 24"/>
          <p:cNvSpPr/>
          <p:nvPr/>
        </p:nvSpPr>
        <p:spPr>
          <a:xfrm>
            <a:off x="8001000" y="3968496"/>
            <a:ext cx="3621024" cy="1298448"/>
          </a:xfrm>
          <a:prstGeom prst="roundRect">
            <a:avLst>
              <a:gd name="adj" fmla="val 1761"/>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27" name="Text 25"/>
          <p:cNvSpPr/>
          <p:nvPr/>
        </p:nvSpPr>
        <p:spPr>
          <a:xfrm>
            <a:off x="8156448" y="4087368"/>
            <a:ext cx="3200400" cy="182880"/>
          </a:xfrm>
          <a:prstGeom prst="rect">
            <a:avLst/>
          </a:prstGeom>
          <a:noFill/>
          <a:ln/>
        </p:spPr>
        <p:txBody>
          <a:bodyPr wrap="square" lIns="0" tIns="0" rIns="0" bIns="0" rtlCol="0" anchor="t"/>
          <a:lstStyle/>
          <a:p>
            <a:pPr algn="l" indent="0" marL="0">
              <a:buNone/>
            </a:pPr>
            <a:r>
              <a:rPr lang="en-US" sz="710" b="1" spc="110" kern="0" dirty="0">
                <a:solidFill>
                  <a:srgbClr val="5C6D67"/>
                </a:solidFill>
                <a:latin typeface="Courier New" pitchFamily="34" charset="0"/>
                <a:ea typeface="Courier New" pitchFamily="34" charset="-122"/>
                <a:cs typeface="Courier New" pitchFamily="34" charset="-120"/>
              </a:rPr>
              <a:t>ENTORNO</a:t>
            </a:r>
            <a:endParaRPr lang="en-US" sz="710" dirty="0"/>
          </a:p>
        </p:txBody>
      </p:sp>
      <p:sp>
        <p:nvSpPr>
          <p:cNvPr id="28" name="Text 26"/>
          <p:cNvSpPr/>
          <p:nvPr/>
        </p:nvSpPr>
        <p:spPr>
          <a:xfrm>
            <a:off x="8156448" y="4315968"/>
            <a:ext cx="3200400" cy="777240"/>
          </a:xfrm>
          <a:prstGeom prst="rect">
            <a:avLst/>
          </a:prstGeom>
          <a:noFill/>
          <a:ln/>
        </p:spPr>
        <p:txBody>
          <a:bodyPr wrap="square" lIns="0" tIns="0" rIns="0" bIns="0" rtlCol="0" anchor="t"/>
          <a:lstStyle/>
          <a:p>
            <a:pPr algn="l" indent="0" marL="0">
              <a:lnSpc>
                <a:spcPts val="1300"/>
              </a:lnSpc>
              <a:buNone/>
            </a:pPr>
            <a:r>
              <a:rPr lang="en-US" sz="820" dirty="0">
                <a:solidFill>
                  <a:srgbClr val="1A2A25"/>
                </a:solidFill>
                <a:latin typeface="Courier New" pitchFamily="34" charset="0"/>
                <a:ea typeface="Courier New" pitchFamily="34" charset="-122"/>
                <a:cs typeface="Courier New" pitchFamily="34" charset="-120"/>
              </a:rPr>
              <a:t>Docker Compose</a:t>
            </a:r>
            <a:endParaRPr lang="en-US" sz="820" dirty="0"/>
          </a:p>
          <a:p>
            <a:pPr algn="l" indent="0" marL="0">
              <a:lnSpc>
                <a:spcPts val="1300"/>
              </a:lnSpc>
              <a:buNone/>
            </a:pPr>
            <a:r>
              <a:rPr lang="en-US" sz="820" dirty="0">
                <a:solidFill>
                  <a:srgbClr val="1A2A25"/>
                </a:solidFill>
                <a:latin typeface="Courier New" pitchFamily="34" charset="0"/>
                <a:ea typeface="Courier New" pitchFamily="34" charset="-122"/>
                <a:cs typeface="Courier New" pitchFamily="34" charset="-120"/>
              </a:rPr>
              <a:t>PostgreSQL 15</a:t>
            </a:r>
            <a:endParaRPr lang="en-US" sz="820" dirty="0"/>
          </a:p>
          <a:p>
            <a:pPr algn="l" indent="0" marL="0">
              <a:lnSpc>
                <a:spcPts val="1300"/>
              </a:lnSpc>
              <a:buNone/>
            </a:pPr>
            <a:r>
              <a:rPr lang="en-US" sz="820" dirty="0">
                <a:solidFill>
                  <a:srgbClr val="1A2A25"/>
                </a:solidFill>
                <a:latin typeface="Courier New" pitchFamily="34" charset="0"/>
                <a:ea typeface="Courier New" pitchFamily="34" charset="-122"/>
                <a:cs typeface="Courier New" pitchFamily="34" charset="-120"/>
              </a:rPr>
              <a:t>SonarQube 9.9.8</a:t>
            </a:r>
            <a:endParaRPr lang="en-US" sz="820" dirty="0"/>
          </a:p>
        </p:txBody>
      </p:sp>
      <p:sp>
        <p:nvSpPr>
          <p:cNvPr id="29" name="Text 27"/>
          <p:cNvSpPr/>
          <p:nvPr/>
        </p:nvSpPr>
        <p:spPr>
          <a:xfrm>
            <a:off x="8001000" y="5559552"/>
            <a:ext cx="3566160" cy="411480"/>
          </a:xfrm>
          <a:prstGeom prst="rect">
            <a:avLst/>
          </a:prstGeom>
          <a:noFill/>
          <a:ln/>
        </p:spPr>
        <p:txBody>
          <a:bodyPr wrap="square" lIns="0" tIns="0" rIns="0" bIns="0" rtlCol="0" anchor="t"/>
          <a:lstStyle/>
          <a:p>
            <a:pPr algn="l" indent="0" marL="0">
              <a:lnSpc>
                <a:spcPts val="1100"/>
              </a:lnSpc>
              <a:buNone/>
            </a:pPr>
            <a:r>
              <a:rPr lang="en-US" sz="860" dirty="0">
                <a:solidFill>
                  <a:srgbClr val="5C6D67"/>
                </a:solidFill>
                <a:latin typeface="Calibri" pitchFamily="34" charset="0"/>
                <a:ea typeface="Calibri" pitchFamily="34" charset="-122"/>
                <a:cs typeface="Calibri" pitchFamily="34" charset="-120"/>
              </a:rPr>
              <a:t>Toda la evidencia quedó archivada con nombre, caso y resultado.</a:t>
            </a:r>
            <a:endParaRPr lang="en-US" sz="8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566928" y="411480"/>
            <a:ext cx="77724" cy="77724"/>
          </a:xfrm>
          <a:prstGeom prst="rect">
            <a:avLst/>
          </a:prstGeom>
          <a:solidFill>
            <a:srgbClr val="C98A1E"/>
          </a:solidFill>
          <a:ln w="12700">
            <a:solidFill>
              <a:srgbClr val="C98A1E"/>
            </a:solidFill>
            <a:prstDash val="solid"/>
          </a:ln>
        </p:spPr>
      </p:sp>
      <p:sp>
        <p:nvSpPr>
          <p:cNvPr id="3" name="Text 1"/>
          <p:cNvSpPr/>
          <p:nvPr/>
        </p:nvSpPr>
        <p:spPr>
          <a:xfrm>
            <a:off x="731520" y="338328"/>
            <a:ext cx="9601200" cy="201168"/>
          </a:xfrm>
          <a:prstGeom prst="rect">
            <a:avLst/>
          </a:prstGeom>
          <a:noFill/>
          <a:ln/>
        </p:spPr>
        <p:txBody>
          <a:bodyPr wrap="square" lIns="0" tIns="0" rIns="0" bIns="0" rtlCol="0" anchor="t"/>
          <a:lstStyle/>
          <a:p>
            <a:pPr algn="l" indent="0" marL="0">
              <a:buNone/>
            </a:pPr>
            <a:r>
              <a:rPr lang="en-US" sz="800" b="1" spc="130" kern="0" dirty="0">
                <a:solidFill>
                  <a:srgbClr val="5C6D67"/>
                </a:solidFill>
                <a:latin typeface="Courier New" pitchFamily="34" charset="0"/>
                <a:ea typeface="Courier New" pitchFamily="34" charset="-122"/>
                <a:cs typeface="Courier New" pitchFamily="34" charset="-120"/>
              </a:rPr>
              <a:t>07 · EJECUCIÓN</a:t>
            </a:r>
            <a:endParaRPr lang="en-US" sz="800" dirty="0"/>
          </a:p>
        </p:txBody>
      </p:sp>
      <p:sp>
        <p:nvSpPr>
          <p:cNvPr id="4" name="Text 2"/>
          <p:cNvSpPr/>
          <p:nvPr/>
        </p:nvSpPr>
        <p:spPr>
          <a:xfrm>
            <a:off x="566928" y="640080"/>
            <a:ext cx="11057839" cy="941832"/>
          </a:xfrm>
          <a:prstGeom prst="rect">
            <a:avLst/>
          </a:prstGeom>
          <a:noFill/>
          <a:ln/>
        </p:spPr>
        <p:txBody>
          <a:bodyPr wrap="square" lIns="0" tIns="0" rIns="0" bIns="0" rtlCol="0" anchor="t"/>
          <a:lstStyle/>
          <a:p>
            <a:pPr algn="l" indent="0" marL="0">
              <a:lnSpc>
                <a:spcPts val="3100"/>
              </a:lnSpc>
              <a:buNone/>
            </a:pPr>
            <a:r>
              <a:rPr lang="en-US" sz="2600" b="1" dirty="0">
                <a:solidFill>
                  <a:srgbClr val="1A2A25"/>
                </a:solidFill>
                <a:latin typeface="Cambria" pitchFamily="34" charset="0"/>
                <a:ea typeface="Cambria" pitchFamily="34" charset="-122"/>
                <a:cs typeface="Cambria" pitchFamily="34" charset="-120"/>
              </a:rPr>
              <a:t>Dos jornadas, ocho casos y evidencia por cada uno</a:t>
            </a:r>
            <a:endParaRPr lang="en-US" sz="2600" dirty="0"/>
          </a:p>
        </p:txBody>
      </p:sp>
      <p:sp>
        <p:nvSpPr>
          <p:cNvPr id="5" name="Text 3"/>
          <p:cNvSpPr/>
          <p:nvPr/>
        </p:nvSpPr>
        <p:spPr>
          <a:xfrm>
            <a:off x="566928" y="6547104"/>
            <a:ext cx="5943600" cy="182880"/>
          </a:xfrm>
          <a:prstGeom prst="rect">
            <a:avLst/>
          </a:prstGeom>
          <a:noFill/>
          <a:ln/>
        </p:spPr>
        <p:txBody>
          <a:bodyPr wrap="square" lIns="0" tIns="0" rIns="0" bIns="0" rtlCol="0" anchor="t"/>
          <a:lstStyle/>
          <a:p>
            <a:pPr algn="l" indent="0" marL="0">
              <a:buNone/>
            </a:pPr>
            <a:r>
              <a:rPr lang="en-US" sz="730" spc="60" kern="0" dirty="0">
                <a:solidFill>
                  <a:srgbClr val="8A9A94"/>
                </a:solidFill>
                <a:latin typeface="Courier New" pitchFamily="34" charset="0"/>
                <a:ea typeface="Courier New" pitchFamily="34" charset="-122"/>
                <a:cs typeface="Courier New" pitchFamily="34" charset="-120"/>
              </a:rPr>
              <a:t>Cuidarte+ · Auditoría de calidad y seguridad</a:t>
            </a:r>
            <a:endParaRPr lang="en-US" sz="730" dirty="0"/>
          </a:p>
        </p:txBody>
      </p:sp>
      <p:sp>
        <p:nvSpPr>
          <p:cNvPr id="6" name="Text 4"/>
          <p:cNvSpPr/>
          <p:nvPr/>
        </p:nvSpPr>
        <p:spPr>
          <a:xfrm>
            <a:off x="10561320" y="6547104"/>
            <a:ext cx="1060704" cy="182880"/>
          </a:xfrm>
          <a:prstGeom prst="rect">
            <a:avLst/>
          </a:prstGeom>
          <a:noFill/>
          <a:ln/>
        </p:spPr>
        <p:txBody>
          <a:bodyPr wrap="square" lIns="0" tIns="0" rIns="0" bIns="0" rtlCol="0" anchor="t"/>
          <a:lstStyle/>
          <a:p>
            <a:pPr algn="r" indent="0" marL="0">
              <a:buNone/>
            </a:pPr>
            <a:r>
              <a:rPr lang="en-US" sz="730" spc="60" kern="0" dirty="0">
                <a:solidFill>
                  <a:srgbClr val="8A9A94"/>
                </a:solidFill>
                <a:latin typeface="Courier New" pitchFamily="34" charset="0"/>
                <a:ea typeface="Courier New" pitchFamily="34" charset="-122"/>
                <a:cs typeface="Courier New" pitchFamily="34" charset="-120"/>
              </a:rPr>
              <a:t>08 / 17</a:t>
            </a:r>
            <a:endParaRPr lang="en-US" sz="730" dirty="0"/>
          </a:p>
        </p:txBody>
      </p:sp>
      <p:sp>
        <p:nvSpPr>
          <p:cNvPr id="7" name="Text 5"/>
          <p:cNvSpPr/>
          <p:nvPr/>
        </p:nvSpPr>
        <p:spPr>
          <a:xfrm>
            <a:off x="566928" y="1627632"/>
            <a:ext cx="640080" cy="411480"/>
          </a:xfrm>
          <a:prstGeom prst="rect">
            <a:avLst/>
          </a:prstGeom>
          <a:noFill/>
          <a:ln/>
        </p:spPr>
        <p:txBody>
          <a:bodyPr wrap="square" lIns="0" tIns="0" rIns="0" bIns="0" rtlCol="0" anchor="t"/>
          <a:lstStyle/>
          <a:p>
            <a:pPr algn="l" indent="0" marL="0">
              <a:buNone/>
            </a:pPr>
            <a:r>
              <a:rPr lang="en-US" sz="2800" b="1" dirty="0">
                <a:solidFill>
                  <a:srgbClr val="123B33"/>
                </a:solidFill>
                <a:latin typeface="Cambria" pitchFamily="34" charset="0"/>
                <a:ea typeface="Cambria" pitchFamily="34" charset="-122"/>
                <a:cs typeface="Cambria" pitchFamily="34" charset="-120"/>
              </a:rPr>
              <a:t>8</a:t>
            </a:r>
            <a:endParaRPr lang="en-US" sz="2800" dirty="0"/>
          </a:p>
        </p:txBody>
      </p:sp>
      <p:sp>
        <p:nvSpPr>
          <p:cNvPr id="8" name="Text 6"/>
          <p:cNvSpPr/>
          <p:nvPr/>
        </p:nvSpPr>
        <p:spPr>
          <a:xfrm>
            <a:off x="1069848" y="1737360"/>
            <a:ext cx="1463040" cy="228600"/>
          </a:xfrm>
          <a:prstGeom prst="rect">
            <a:avLst/>
          </a:prstGeom>
          <a:noFill/>
          <a:ln/>
        </p:spPr>
        <p:txBody>
          <a:bodyPr wrap="square" lIns="0" tIns="0" rIns="0" bIns="0" rtlCol="0" anchor="t"/>
          <a:lstStyle/>
          <a:p>
            <a:pPr algn="l" indent="0" marL="0">
              <a:buNone/>
            </a:pPr>
            <a:r>
              <a:rPr lang="en-US" sz="900" dirty="0">
                <a:solidFill>
                  <a:srgbClr val="5C6D67"/>
                </a:solidFill>
                <a:latin typeface="Calibri" pitchFamily="34" charset="0"/>
                <a:ea typeface="Calibri" pitchFamily="34" charset="-122"/>
                <a:cs typeface="Calibri" pitchFamily="34" charset="-120"/>
              </a:rPr>
              <a:t>ejecutados</a:t>
            </a:r>
            <a:endParaRPr lang="en-US" sz="900" dirty="0"/>
          </a:p>
        </p:txBody>
      </p:sp>
      <p:sp>
        <p:nvSpPr>
          <p:cNvPr id="9" name="Text 7"/>
          <p:cNvSpPr/>
          <p:nvPr/>
        </p:nvSpPr>
        <p:spPr>
          <a:xfrm>
            <a:off x="3328416" y="1627632"/>
            <a:ext cx="640080" cy="411480"/>
          </a:xfrm>
          <a:prstGeom prst="rect">
            <a:avLst/>
          </a:prstGeom>
          <a:noFill/>
          <a:ln/>
        </p:spPr>
        <p:txBody>
          <a:bodyPr wrap="square" lIns="0" tIns="0" rIns="0" bIns="0" rtlCol="0" anchor="t"/>
          <a:lstStyle/>
          <a:p>
            <a:pPr algn="l" indent="0" marL="0">
              <a:buNone/>
            </a:pPr>
            <a:r>
              <a:rPr lang="en-US" sz="2800" b="1" dirty="0">
                <a:solidFill>
                  <a:srgbClr val="123B33"/>
                </a:solidFill>
                <a:latin typeface="Cambria" pitchFamily="34" charset="0"/>
                <a:ea typeface="Cambria" pitchFamily="34" charset="-122"/>
                <a:cs typeface="Cambria" pitchFamily="34" charset="-120"/>
              </a:rPr>
              <a:t>7</a:t>
            </a:r>
            <a:endParaRPr lang="en-US" sz="2800" dirty="0"/>
          </a:p>
        </p:txBody>
      </p:sp>
      <p:sp>
        <p:nvSpPr>
          <p:cNvPr id="10" name="Text 8"/>
          <p:cNvSpPr/>
          <p:nvPr/>
        </p:nvSpPr>
        <p:spPr>
          <a:xfrm>
            <a:off x="3831336" y="1737360"/>
            <a:ext cx="1463040" cy="228600"/>
          </a:xfrm>
          <a:prstGeom prst="rect">
            <a:avLst/>
          </a:prstGeom>
          <a:noFill/>
          <a:ln/>
        </p:spPr>
        <p:txBody>
          <a:bodyPr wrap="square" lIns="0" tIns="0" rIns="0" bIns="0" rtlCol="0" anchor="t"/>
          <a:lstStyle/>
          <a:p>
            <a:pPr algn="l" indent="0" marL="0">
              <a:buNone/>
            </a:pPr>
            <a:r>
              <a:rPr lang="en-US" sz="900" dirty="0">
                <a:solidFill>
                  <a:srgbClr val="5C6D67"/>
                </a:solidFill>
                <a:latin typeface="Calibri" pitchFamily="34" charset="0"/>
                <a:ea typeface="Calibri" pitchFamily="34" charset="-122"/>
                <a:cs typeface="Calibri" pitchFamily="34" charset="-120"/>
              </a:rPr>
              <a:t>pass</a:t>
            </a:r>
            <a:endParaRPr lang="en-US" sz="900" dirty="0"/>
          </a:p>
        </p:txBody>
      </p:sp>
      <p:sp>
        <p:nvSpPr>
          <p:cNvPr id="11" name="Text 9"/>
          <p:cNvSpPr/>
          <p:nvPr/>
        </p:nvSpPr>
        <p:spPr>
          <a:xfrm>
            <a:off x="6089904" y="1627632"/>
            <a:ext cx="640080" cy="411480"/>
          </a:xfrm>
          <a:prstGeom prst="rect">
            <a:avLst/>
          </a:prstGeom>
          <a:noFill/>
          <a:ln/>
        </p:spPr>
        <p:txBody>
          <a:bodyPr wrap="square" lIns="0" tIns="0" rIns="0" bIns="0" rtlCol="0" anchor="t"/>
          <a:lstStyle/>
          <a:p>
            <a:pPr algn="l" indent="0" marL="0">
              <a:buNone/>
            </a:pPr>
            <a:r>
              <a:rPr lang="en-US" sz="2800" b="1" dirty="0">
                <a:solidFill>
                  <a:srgbClr val="A93A2E"/>
                </a:solidFill>
                <a:latin typeface="Cambria" pitchFamily="34" charset="0"/>
                <a:ea typeface="Cambria" pitchFamily="34" charset="-122"/>
                <a:cs typeface="Cambria" pitchFamily="34" charset="-120"/>
              </a:rPr>
              <a:t>1</a:t>
            </a:r>
            <a:endParaRPr lang="en-US" sz="2800" dirty="0"/>
          </a:p>
        </p:txBody>
      </p:sp>
      <p:sp>
        <p:nvSpPr>
          <p:cNvPr id="12" name="Text 10"/>
          <p:cNvSpPr/>
          <p:nvPr/>
        </p:nvSpPr>
        <p:spPr>
          <a:xfrm>
            <a:off x="6592824" y="1737360"/>
            <a:ext cx="1463040" cy="228600"/>
          </a:xfrm>
          <a:prstGeom prst="rect">
            <a:avLst/>
          </a:prstGeom>
          <a:noFill/>
          <a:ln/>
        </p:spPr>
        <p:txBody>
          <a:bodyPr wrap="square" lIns="0" tIns="0" rIns="0" bIns="0" rtlCol="0" anchor="t"/>
          <a:lstStyle/>
          <a:p>
            <a:pPr algn="l" indent="0" marL="0">
              <a:buNone/>
            </a:pPr>
            <a:r>
              <a:rPr lang="en-US" sz="900" dirty="0">
                <a:solidFill>
                  <a:srgbClr val="5C6D67"/>
                </a:solidFill>
                <a:latin typeface="Calibri" pitchFamily="34" charset="0"/>
                <a:ea typeface="Calibri" pitchFamily="34" charset="-122"/>
                <a:cs typeface="Calibri" pitchFamily="34" charset="-120"/>
              </a:rPr>
              <a:t>fail</a:t>
            </a:r>
            <a:endParaRPr lang="en-US" sz="900" dirty="0"/>
          </a:p>
        </p:txBody>
      </p:sp>
      <p:sp>
        <p:nvSpPr>
          <p:cNvPr id="13" name="Text 11"/>
          <p:cNvSpPr/>
          <p:nvPr/>
        </p:nvSpPr>
        <p:spPr>
          <a:xfrm>
            <a:off x="8851392" y="1627632"/>
            <a:ext cx="640080" cy="411480"/>
          </a:xfrm>
          <a:prstGeom prst="rect">
            <a:avLst/>
          </a:prstGeom>
          <a:noFill/>
          <a:ln/>
        </p:spPr>
        <p:txBody>
          <a:bodyPr wrap="square" lIns="0" tIns="0" rIns="0" bIns="0" rtlCol="0" anchor="t"/>
          <a:lstStyle/>
          <a:p>
            <a:pPr algn="l" indent="0" marL="0">
              <a:buNone/>
            </a:pPr>
            <a:r>
              <a:rPr lang="en-US" sz="2800" b="1" dirty="0">
                <a:solidFill>
                  <a:srgbClr val="123B33"/>
                </a:solidFill>
                <a:latin typeface="Cambria" pitchFamily="34" charset="0"/>
                <a:ea typeface="Cambria" pitchFamily="34" charset="-122"/>
                <a:cs typeface="Cambria" pitchFamily="34" charset="-120"/>
              </a:rPr>
              <a:t>0</a:t>
            </a:r>
            <a:endParaRPr lang="en-US" sz="2800" dirty="0"/>
          </a:p>
        </p:txBody>
      </p:sp>
      <p:sp>
        <p:nvSpPr>
          <p:cNvPr id="14" name="Text 12"/>
          <p:cNvSpPr/>
          <p:nvPr/>
        </p:nvSpPr>
        <p:spPr>
          <a:xfrm>
            <a:off x="9354312" y="1737360"/>
            <a:ext cx="1463040" cy="228600"/>
          </a:xfrm>
          <a:prstGeom prst="rect">
            <a:avLst/>
          </a:prstGeom>
          <a:noFill/>
          <a:ln/>
        </p:spPr>
        <p:txBody>
          <a:bodyPr wrap="square" lIns="0" tIns="0" rIns="0" bIns="0" rtlCol="0" anchor="t"/>
          <a:lstStyle/>
          <a:p>
            <a:pPr algn="l" indent="0" marL="0">
              <a:buNone/>
            </a:pPr>
            <a:r>
              <a:rPr lang="en-US" sz="900" dirty="0">
                <a:solidFill>
                  <a:srgbClr val="5C6D67"/>
                </a:solidFill>
                <a:latin typeface="Calibri" pitchFamily="34" charset="0"/>
                <a:ea typeface="Calibri" pitchFamily="34" charset="-122"/>
                <a:cs typeface="Calibri" pitchFamily="34" charset="-120"/>
              </a:rPr>
              <a:t>bloqueados</a:t>
            </a:r>
            <a:endParaRPr lang="en-US" sz="900" dirty="0"/>
          </a:p>
        </p:txBody>
      </p:sp>
      <p:sp>
        <p:nvSpPr>
          <p:cNvPr id="15" name="Shape 13"/>
          <p:cNvSpPr/>
          <p:nvPr/>
        </p:nvSpPr>
        <p:spPr>
          <a:xfrm>
            <a:off x="566928" y="2331720"/>
            <a:ext cx="5394960" cy="841248"/>
          </a:xfrm>
          <a:prstGeom prst="roundRect">
            <a:avLst>
              <a:gd name="adj" fmla="val 2717"/>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16" name="Text 14"/>
          <p:cNvSpPr/>
          <p:nvPr/>
        </p:nvSpPr>
        <p:spPr>
          <a:xfrm>
            <a:off x="731520" y="2450592"/>
            <a:ext cx="914400" cy="182880"/>
          </a:xfrm>
          <a:prstGeom prst="rect">
            <a:avLst/>
          </a:prstGeom>
          <a:noFill/>
          <a:ln/>
        </p:spPr>
        <p:txBody>
          <a:bodyPr wrap="square" lIns="0" tIns="0" rIns="0" bIns="0" rtlCol="0" anchor="t"/>
          <a:lstStyle/>
          <a:p>
            <a:pPr algn="l" indent="0" marL="0">
              <a:buNone/>
            </a:pPr>
            <a:r>
              <a:rPr lang="en-US" sz="800" b="1" spc="100" kern="0" dirty="0">
                <a:solidFill>
                  <a:srgbClr val="C98A1E"/>
                </a:solidFill>
                <a:latin typeface="Courier New" pitchFamily="34" charset="0"/>
                <a:ea typeface="Courier New" pitchFamily="34" charset="-122"/>
                <a:cs typeface="Courier New" pitchFamily="34" charset="-120"/>
              </a:rPr>
              <a:t>06 OCT</a:t>
            </a:r>
            <a:endParaRPr lang="en-US" sz="800" dirty="0"/>
          </a:p>
        </p:txBody>
      </p:sp>
      <p:sp>
        <p:nvSpPr>
          <p:cNvPr id="17" name="Text 15"/>
          <p:cNvSpPr/>
          <p:nvPr/>
        </p:nvSpPr>
        <p:spPr>
          <a:xfrm>
            <a:off x="1709928" y="2432304"/>
            <a:ext cx="4023360" cy="256032"/>
          </a:xfrm>
          <a:prstGeom prst="rect">
            <a:avLst/>
          </a:prstGeom>
          <a:noFill/>
          <a:ln/>
        </p:spPr>
        <p:txBody>
          <a:bodyPr wrap="square" lIns="0" tIns="0" rIns="0" bIns="0" rtlCol="0" anchor="t"/>
          <a:lstStyle/>
          <a:p>
            <a:pPr algn="l" indent="0" marL="0">
              <a:buNone/>
            </a:pPr>
            <a:r>
              <a:rPr lang="en-US" sz="1200" b="1" dirty="0">
                <a:solidFill>
                  <a:srgbClr val="1A2A25"/>
                </a:solidFill>
                <a:latin typeface="Calibri" pitchFamily="34" charset="0"/>
                <a:ea typeface="Calibri" pitchFamily="34" charset="-122"/>
                <a:cs typeface="Calibri" pitchFamily="34" charset="-120"/>
              </a:rPr>
              <a:t>CP001–CP004 · 4 Pass</a:t>
            </a:r>
            <a:endParaRPr lang="en-US" sz="1200" dirty="0"/>
          </a:p>
        </p:txBody>
      </p:sp>
      <p:sp>
        <p:nvSpPr>
          <p:cNvPr id="18" name="Text 16"/>
          <p:cNvSpPr/>
          <p:nvPr/>
        </p:nvSpPr>
        <p:spPr>
          <a:xfrm>
            <a:off x="1709928" y="2697480"/>
            <a:ext cx="4023360" cy="201168"/>
          </a:xfrm>
          <a:prstGeom prst="rect">
            <a:avLst/>
          </a:prstGeom>
          <a:noFill/>
          <a:ln/>
        </p:spPr>
        <p:txBody>
          <a:bodyPr wrap="square" lIns="0" tIns="0" rIns="0" bIns="0" rtlCol="0" anchor="t"/>
          <a:lstStyle/>
          <a:p>
            <a:pPr algn="l" indent="0" marL="0">
              <a:buNone/>
            </a:pPr>
            <a:r>
              <a:rPr lang="en-US" sz="880" dirty="0">
                <a:solidFill>
                  <a:srgbClr val="5C6D67"/>
                </a:solidFill>
                <a:latin typeface="Calibri" pitchFamily="34" charset="0"/>
                <a:ea typeface="Calibri" pitchFamily="34" charset="-122"/>
                <a:cs typeface="Calibri" pitchFamily="34" charset="-120"/>
              </a:rPr>
              <a:t>Registro de pacientes y validación de entrada.</a:t>
            </a:r>
            <a:endParaRPr lang="en-US" sz="880" dirty="0"/>
          </a:p>
        </p:txBody>
      </p:sp>
      <p:sp>
        <p:nvSpPr>
          <p:cNvPr id="19" name="Shape 17"/>
          <p:cNvSpPr/>
          <p:nvPr/>
        </p:nvSpPr>
        <p:spPr>
          <a:xfrm>
            <a:off x="5989320" y="2331720"/>
            <a:ext cx="5632704" cy="841248"/>
          </a:xfrm>
          <a:prstGeom prst="roundRect">
            <a:avLst>
              <a:gd name="adj" fmla="val 2717"/>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20" name="Text 18"/>
          <p:cNvSpPr/>
          <p:nvPr/>
        </p:nvSpPr>
        <p:spPr>
          <a:xfrm>
            <a:off x="6153912" y="2450592"/>
            <a:ext cx="914400" cy="182880"/>
          </a:xfrm>
          <a:prstGeom prst="rect">
            <a:avLst/>
          </a:prstGeom>
          <a:noFill/>
          <a:ln/>
        </p:spPr>
        <p:txBody>
          <a:bodyPr wrap="square" lIns="0" tIns="0" rIns="0" bIns="0" rtlCol="0" anchor="t"/>
          <a:lstStyle/>
          <a:p>
            <a:pPr algn="l" indent="0" marL="0">
              <a:buNone/>
            </a:pPr>
            <a:r>
              <a:rPr lang="en-US" sz="800" b="1" spc="100" kern="0" dirty="0">
                <a:solidFill>
                  <a:srgbClr val="C98A1E"/>
                </a:solidFill>
                <a:latin typeface="Courier New" pitchFamily="34" charset="0"/>
                <a:ea typeface="Courier New" pitchFamily="34" charset="-122"/>
                <a:cs typeface="Courier New" pitchFamily="34" charset="-120"/>
              </a:rPr>
              <a:t>16 OCT</a:t>
            </a:r>
            <a:endParaRPr lang="en-US" sz="800" dirty="0"/>
          </a:p>
        </p:txBody>
      </p:sp>
      <p:sp>
        <p:nvSpPr>
          <p:cNvPr id="21" name="Text 19"/>
          <p:cNvSpPr/>
          <p:nvPr/>
        </p:nvSpPr>
        <p:spPr>
          <a:xfrm>
            <a:off x="7132320" y="2432304"/>
            <a:ext cx="4206240" cy="256032"/>
          </a:xfrm>
          <a:prstGeom prst="rect">
            <a:avLst/>
          </a:prstGeom>
          <a:noFill/>
          <a:ln/>
        </p:spPr>
        <p:txBody>
          <a:bodyPr wrap="square" lIns="0" tIns="0" rIns="0" bIns="0" rtlCol="0" anchor="t"/>
          <a:lstStyle/>
          <a:p>
            <a:pPr algn="l" indent="0" marL="0">
              <a:buNone/>
            </a:pPr>
            <a:r>
              <a:rPr lang="en-US" sz="1200" b="1" dirty="0">
                <a:solidFill>
                  <a:srgbClr val="1A2A25"/>
                </a:solidFill>
                <a:latin typeface="Calibri" pitchFamily="34" charset="0"/>
                <a:ea typeface="Calibri" pitchFamily="34" charset="-122"/>
                <a:cs typeface="Calibri" pitchFamily="34" charset="-120"/>
              </a:rPr>
              <a:t>CP005–CP008 · 3 Pass / 1 Fail</a:t>
            </a:r>
            <a:endParaRPr lang="en-US" sz="1200" dirty="0"/>
          </a:p>
        </p:txBody>
      </p:sp>
      <p:sp>
        <p:nvSpPr>
          <p:cNvPr id="22" name="Text 20"/>
          <p:cNvSpPr/>
          <p:nvPr/>
        </p:nvSpPr>
        <p:spPr>
          <a:xfrm>
            <a:off x="7132320" y="2697480"/>
            <a:ext cx="4206240" cy="201168"/>
          </a:xfrm>
          <a:prstGeom prst="rect">
            <a:avLst/>
          </a:prstGeom>
          <a:noFill/>
          <a:ln/>
        </p:spPr>
        <p:txBody>
          <a:bodyPr wrap="square" lIns="0" tIns="0" rIns="0" bIns="0" rtlCol="0" anchor="t"/>
          <a:lstStyle/>
          <a:p>
            <a:pPr algn="l" indent="0" marL="0">
              <a:buNone/>
            </a:pPr>
            <a:r>
              <a:rPr lang="en-US" sz="880" dirty="0">
                <a:solidFill>
                  <a:srgbClr val="5C6D67"/>
                </a:solidFill>
                <a:latin typeface="Calibri" pitchFamily="34" charset="0"/>
                <a:ea typeface="Calibri" pitchFamily="34" charset="-122"/>
                <a:cs typeface="Calibri" pitchFamily="34" charset="-120"/>
              </a:rPr>
              <a:t>Sesión, RBAC, integridad y análisis estático.</a:t>
            </a:r>
            <a:endParaRPr lang="en-US" sz="880" dirty="0"/>
          </a:p>
        </p:txBody>
      </p:sp>
      <p:sp>
        <p:nvSpPr>
          <p:cNvPr id="23" name="Shape 21"/>
          <p:cNvSpPr/>
          <p:nvPr/>
        </p:nvSpPr>
        <p:spPr>
          <a:xfrm>
            <a:off x="521208" y="3456432"/>
            <a:ext cx="5138928" cy="2651760"/>
          </a:xfrm>
          <a:prstGeom prst="roundRect">
            <a:avLst>
              <a:gd name="adj" fmla="val 862"/>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pic>
        <p:nvPicPr>
          <p:cNvPr id="24" name="Image 0" descr="C:\Users\ibane\Desktop\Seg. y Calidad\cuidarte-plus-calidad-seguridad-isy1102\Mis_Entregables\U2.3_Ejecucion\Evidencias\Grupo1_CP003_Duplicado_400_Pass.png">    </p:cNvPr>
          <p:cNvPicPr>
            <a:picLocks noChangeAspect="1"/>
          </p:cNvPicPr>
          <p:nvPr/>
        </p:nvPicPr>
        <p:blipFill>
          <a:blip r:embed="rId1"/>
          <a:stretch>
            <a:fillRect/>
          </a:stretch>
        </p:blipFill>
        <p:spPr>
          <a:xfrm>
            <a:off x="566928" y="3502152"/>
            <a:ext cx="5047488" cy="2560320"/>
          </a:xfrm>
          <a:prstGeom prst="rect">
            <a:avLst/>
          </a:prstGeom>
        </p:spPr>
      </p:pic>
      <p:sp>
        <p:nvSpPr>
          <p:cNvPr id="25" name="Text 22"/>
          <p:cNvSpPr/>
          <p:nvPr/>
        </p:nvSpPr>
        <p:spPr>
          <a:xfrm>
            <a:off x="566928" y="6144768"/>
            <a:ext cx="5029200" cy="182880"/>
          </a:xfrm>
          <a:prstGeom prst="rect">
            <a:avLst/>
          </a:prstGeom>
          <a:noFill/>
          <a:ln/>
        </p:spPr>
        <p:txBody>
          <a:bodyPr wrap="square" lIns="0" tIns="0" rIns="0" bIns="0" rtlCol="0" anchor="t"/>
          <a:lstStyle/>
          <a:p>
            <a:pPr algn="l" indent="0" marL="0">
              <a:buNone/>
            </a:pPr>
            <a:r>
              <a:rPr lang="en-US" sz="720" spc="60" kern="0" dirty="0">
                <a:solidFill>
                  <a:srgbClr val="5C6D67"/>
                </a:solidFill>
                <a:latin typeface="Courier New" pitchFamily="34" charset="0"/>
                <a:ea typeface="Courier New" pitchFamily="34" charset="-122"/>
                <a:cs typeface="Courier New" pitchFamily="34" charset="-120"/>
              </a:rPr>
              <a:t>CP003 · duplicado → 400</a:t>
            </a:r>
            <a:endParaRPr lang="en-US" sz="720" dirty="0"/>
          </a:p>
        </p:txBody>
      </p:sp>
      <p:sp>
        <p:nvSpPr>
          <p:cNvPr id="26" name="Shape 23"/>
          <p:cNvSpPr/>
          <p:nvPr/>
        </p:nvSpPr>
        <p:spPr>
          <a:xfrm>
            <a:off x="5989320" y="3456432"/>
            <a:ext cx="5632704" cy="1371600"/>
          </a:xfrm>
          <a:prstGeom prst="roundRect">
            <a:avLst>
              <a:gd name="adj" fmla="val 1667"/>
            </a:avLst>
          </a:prstGeom>
          <a:solidFill>
            <a:srgbClr val="F5DDD9"/>
          </a:solidFill>
          <a:ln w="7620">
            <a:solidFill>
              <a:srgbClr val="F5DDD9"/>
            </a:solidFill>
            <a:prstDash val="solid"/>
          </a:ln>
          <a:effectLst>
            <a:outerShdw sx="100000" sy="100000" kx="0" ky="0" algn="bl" rotWithShape="0" blurRad="88900" dist="25400" dir="5400000">
              <a:srgbClr val="000000">
                <a:alpha val="5000"/>
              </a:srgbClr>
            </a:outerShdw>
          </a:effectLst>
        </p:spPr>
      </p:sp>
      <p:sp>
        <p:nvSpPr>
          <p:cNvPr id="27" name="Text 24"/>
          <p:cNvSpPr/>
          <p:nvPr/>
        </p:nvSpPr>
        <p:spPr>
          <a:xfrm>
            <a:off x="6144768" y="3566160"/>
            <a:ext cx="2286000" cy="182880"/>
          </a:xfrm>
          <a:prstGeom prst="rect">
            <a:avLst/>
          </a:prstGeom>
          <a:noFill/>
          <a:ln/>
        </p:spPr>
        <p:txBody>
          <a:bodyPr wrap="square" lIns="0" tIns="0" rIns="0" bIns="0" rtlCol="0" anchor="t"/>
          <a:lstStyle/>
          <a:p>
            <a:pPr algn="l" indent="0" marL="0">
              <a:buNone/>
            </a:pPr>
            <a:r>
              <a:rPr lang="en-US" sz="720" b="1" spc="110" kern="0" dirty="0">
                <a:solidFill>
                  <a:srgbClr val="B23A2F"/>
                </a:solidFill>
                <a:latin typeface="Courier New" pitchFamily="34" charset="0"/>
                <a:ea typeface="Courier New" pitchFamily="34" charset="-122"/>
                <a:cs typeface="Courier New" pitchFamily="34" charset="-120"/>
              </a:rPr>
              <a:t>CP006 · FAIL</a:t>
            </a:r>
            <a:endParaRPr lang="en-US" sz="720" dirty="0"/>
          </a:p>
        </p:txBody>
      </p:sp>
      <p:sp>
        <p:nvSpPr>
          <p:cNvPr id="28" name="Text 25"/>
          <p:cNvSpPr/>
          <p:nvPr/>
        </p:nvSpPr>
        <p:spPr>
          <a:xfrm>
            <a:off x="6144768" y="3767328"/>
            <a:ext cx="5212080" cy="274320"/>
          </a:xfrm>
          <a:prstGeom prst="rect">
            <a:avLst/>
          </a:prstGeom>
          <a:noFill/>
          <a:ln/>
        </p:spPr>
        <p:txBody>
          <a:bodyPr wrap="square" lIns="0" tIns="0" rIns="0" bIns="0" rtlCol="0" anchor="t"/>
          <a:lstStyle/>
          <a:p>
            <a:pPr algn="l" indent="0" marL="0">
              <a:buNone/>
            </a:pPr>
            <a:r>
              <a:rPr lang="en-US" sz="1600" b="1" dirty="0">
                <a:solidFill>
                  <a:srgbClr val="1A2A25"/>
                </a:solidFill>
                <a:latin typeface="Cambria" pitchFamily="34" charset="0"/>
                <a:ea typeface="Cambria" pitchFamily="34" charset="-122"/>
                <a:cs typeface="Cambria" pitchFamily="34" charset="-120"/>
              </a:rPr>
              <a:t>El token sobrevive al logout</a:t>
            </a:r>
            <a:endParaRPr lang="en-US" sz="1600" dirty="0"/>
          </a:p>
        </p:txBody>
      </p:sp>
      <p:sp>
        <p:nvSpPr>
          <p:cNvPr id="29" name="Text 26"/>
          <p:cNvSpPr/>
          <p:nvPr/>
        </p:nvSpPr>
        <p:spPr>
          <a:xfrm>
            <a:off x="6144768" y="4096512"/>
            <a:ext cx="5212080" cy="219456"/>
          </a:xfrm>
          <a:prstGeom prst="rect">
            <a:avLst/>
          </a:prstGeom>
          <a:noFill/>
          <a:ln/>
        </p:spPr>
        <p:txBody>
          <a:bodyPr wrap="square" lIns="0" tIns="0" rIns="0" bIns="0" rtlCol="0" anchor="t"/>
          <a:lstStyle/>
          <a:p>
            <a:pPr algn="l" indent="0" marL="0">
              <a:buNone/>
            </a:pPr>
            <a:r>
              <a:rPr lang="en-US" sz="640" spc="20" kern="0" dirty="0">
                <a:solidFill>
                  <a:srgbClr val="B23A2F"/>
                </a:solidFill>
                <a:latin typeface="Courier New" pitchFamily="34" charset="0"/>
                <a:ea typeface="Courier New" pitchFamily="34" charset="-122"/>
                <a:cs typeface="Courier New" pitchFamily="34" charset="-120"/>
              </a:rPr>
              <a:t>Sin endpoint de logout · token previo aceptado (200) · esperado: 401</a:t>
            </a:r>
            <a:endParaRPr lang="en-US" sz="740" dirty="0"/>
          </a:p>
        </p:txBody>
      </p:sp>
      <p:sp>
        <p:nvSpPr>
          <p:cNvPr id="30" name="Text 27"/>
          <p:cNvSpPr/>
          <p:nvPr/>
        </p:nvSpPr>
        <p:spPr>
          <a:xfrm>
            <a:off x="6144768" y="4370832"/>
            <a:ext cx="5257800" cy="320040"/>
          </a:xfrm>
          <a:prstGeom prst="rect">
            <a:avLst/>
          </a:prstGeom>
          <a:noFill/>
          <a:ln/>
        </p:spPr>
        <p:txBody>
          <a:bodyPr wrap="square" lIns="0" tIns="0" rIns="0" bIns="0" rtlCol="0" anchor="t"/>
          <a:lstStyle/>
          <a:p>
            <a:pPr algn="l" indent="0" marL="0">
              <a:lnSpc>
                <a:spcPts val="1100"/>
              </a:lnSpc>
              <a:buNone/>
            </a:pPr>
            <a:r>
              <a:rPr lang="en-US" sz="880" dirty="0">
                <a:solidFill>
                  <a:srgbClr val="1A2A25"/>
                </a:solidFill>
                <a:latin typeface="Calibri" pitchFamily="34" charset="0"/>
                <a:ea typeface="Calibri" pitchFamily="34" charset="-122"/>
                <a:cs typeface="Calibri" pitchFamily="34" charset="-120"/>
              </a:rPr>
              <a:t>El cierre de sesión solo borra el token en el navegador; el servidor lo sigue aceptando.</a:t>
            </a:r>
            <a:endParaRPr lang="en-US" sz="880" dirty="0"/>
          </a:p>
        </p:txBody>
      </p:sp>
      <p:sp>
        <p:nvSpPr>
          <p:cNvPr id="31" name="Shape 28"/>
          <p:cNvSpPr/>
          <p:nvPr/>
        </p:nvSpPr>
        <p:spPr>
          <a:xfrm>
            <a:off x="5989320" y="4956048"/>
            <a:ext cx="5632704" cy="1133856"/>
          </a:xfrm>
          <a:prstGeom prst="roundRect">
            <a:avLst>
              <a:gd name="adj" fmla="val 2016"/>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32" name="Text 29"/>
          <p:cNvSpPr/>
          <p:nvPr/>
        </p:nvSpPr>
        <p:spPr>
          <a:xfrm>
            <a:off x="6144768" y="5056632"/>
            <a:ext cx="2286000" cy="182880"/>
          </a:xfrm>
          <a:prstGeom prst="rect">
            <a:avLst/>
          </a:prstGeom>
          <a:noFill/>
          <a:ln/>
        </p:spPr>
        <p:txBody>
          <a:bodyPr wrap="square" lIns="0" tIns="0" rIns="0" bIns="0" rtlCol="0" anchor="t"/>
          <a:lstStyle/>
          <a:p>
            <a:pPr algn="l" indent="0" marL="0">
              <a:buNone/>
            </a:pPr>
            <a:r>
              <a:rPr lang="en-US" sz="710" b="1" spc="110" kern="0" dirty="0">
                <a:solidFill>
                  <a:srgbClr val="5C6D67"/>
                </a:solidFill>
                <a:latin typeface="Courier New" pitchFamily="34" charset="0"/>
                <a:ea typeface="Courier New" pitchFamily="34" charset="-122"/>
                <a:cs typeface="Courier New" pitchFamily="34" charset="-120"/>
              </a:rPr>
              <a:t>QUÉ IMPLICA</a:t>
            </a:r>
            <a:endParaRPr lang="en-US" sz="710" dirty="0"/>
          </a:p>
        </p:txBody>
      </p:sp>
      <p:sp>
        <p:nvSpPr>
          <p:cNvPr id="33" name="Text 30"/>
          <p:cNvSpPr/>
          <p:nvPr/>
        </p:nvSpPr>
        <p:spPr>
          <a:xfrm>
            <a:off x="6144768" y="5276088"/>
            <a:ext cx="5230368" cy="685800"/>
          </a:xfrm>
          <a:prstGeom prst="rect">
            <a:avLst/>
          </a:prstGeom>
          <a:noFill/>
          <a:ln/>
        </p:spPr>
        <p:txBody>
          <a:bodyPr wrap="square" lIns="0" tIns="0" rIns="0" bIns="0" rtlCol="0" anchor="t"/>
          <a:lstStyle/>
          <a:p>
            <a:pPr algn="l" indent="0" marL="0">
              <a:lnSpc>
                <a:spcPts val="1250"/>
              </a:lnSpc>
              <a:buNone/>
            </a:pPr>
            <a:r>
              <a:rPr lang="en-US" sz="920" dirty="0">
                <a:solidFill>
                  <a:srgbClr val="1A2A25"/>
                </a:solidFill>
                <a:latin typeface="Calibri" pitchFamily="34" charset="0"/>
                <a:ea typeface="Calibri" pitchFamily="34" charset="-122"/>
                <a:cs typeface="Calibri" pitchFamily="34" charset="-120"/>
              </a:rPr>
              <a:t>Un atacante con un token robado conserva acceso a la lista de pacientes después de que la víctima cierre sesión. Incumple NFR-SEG-9 y OWASP A07.</a:t>
            </a:r>
            <a:endParaRPr lang="en-US" sz="9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566928" y="411480"/>
            <a:ext cx="77724" cy="77724"/>
          </a:xfrm>
          <a:prstGeom prst="rect">
            <a:avLst/>
          </a:prstGeom>
          <a:solidFill>
            <a:srgbClr val="C98A1E"/>
          </a:solidFill>
          <a:ln w="12700">
            <a:solidFill>
              <a:srgbClr val="C98A1E"/>
            </a:solidFill>
            <a:prstDash val="solid"/>
          </a:ln>
        </p:spPr>
      </p:sp>
      <p:sp>
        <p:nvSpPr>
          <p:cNvPr id="3" name="Text 1"/>
          <p:cNvSpPr/>
          <p:nvPr/>
        </p:nvSpPr>
        <p:spPr>
          <a:xfrm>
            <a:off x="731520" y="338328"/>
            <a:ext cx="9601200" cy="201168"/>
          </a:xfrm>
          <a:prstGeom prst="rect">
            <a:avLst/>
          </a:prstGeom>
          <a:noFill/>
          <a:ln/>
        </p:spPr>
        <p:txBody>
          <a:bodyPr wrap="square" lIns="0" tIns="0" rIns="0" bIns="0" rtlCol="0" anchor="t"/>
          <a:lstStyle/>
          <a:p>
            <a:pPr algn="l" indent="0" marL="0">
              <a:buNone/>
            </a:pPr>
            <a:r>
              <a:rPr lang="en-US" sz="800" b="1" spc="130" kern="0" dirty="0">
                <a:solidFill>
                  <a:srgbClr val="5C6D67"/>
                </a:solidFill>
                <a:latin typeface="Courier New" pitchFamily="34" charset="0"/>
                <a:ea typeface="Courier New" pitchFamily="34" charset="-122"/>
                <a:cs typeface="Courier New" pitchFamily="34" charset="-120"/>
              </a:rPr>
              <a:t>08 · HALLAZGOS</a:t>
            </a:r>
            <a:endParaRPr lang="en-US" sz="800" dirty="0"/>
          </a:p>
        </p:txBody>
      </p:sp>
      <p:sp>
        <p:nvSpPr>
          <p:cNvPr id="4" name="Text 2"/>
          <p:cNvSpPr/>
          <p:nvPr/>
        </p:nvSpPr>
        <p:spPr>
          <a:xfrm>
            <a:off x="566928" y="640080"/>
            <a:ext cx="11057839" cy="941832"/>
          </a:xfrm>
          <a:prstGeom prst="rect">
            <a:avLst/>
          </a:prstGeom>
          <a:noFill/>
          <a:ln/>
        </p:spPr>
        <p:txBody>
          <a:bodyPr wrap="square" lIns="0" tIns="0" rIns="0" bIns="0" rtlCol="0" anchor="t"/>
          <a:lstStyle/>
          <a:p>
            <a:pPr algn="l" indent="0" marL="0">
              <a:lnSpc>
                <a:spcPts val="3100"/>
              </a:lnSpc>
              <a:buNone/>
            </a:pPr>
            <a:r>
              <a:rPr lang="en-US" sz="2600" b="1" dirty="0">
                <a:solidFill>
                  <a:srgbClr val="1A2A25"/>
                </a:solidFill>
                <a:latin typeface="Cambria" pitchFamily="34" charset="0"/>
                <a:ea typeface="Cambria" pitchFamily="34" charset="-122"/>
                <a:cs typeface="Cambria" pitchFamily="34" charset="-120"/>
              </a:rPr>
              <a:t>Siete hallazgos: 1 crítico, 3 graves, 2 moderados y 1 leve</a:t>
            </a:r>
            <a:endParaRPr lang="en-US" sz="2600" dirty="0"/>
          </a:p>
        </p:txBody>
      </p:sp>
      <p:sp>
        <p:nvSpPr>
          <p:cNvPr id="5" name="Text 3"/>
          <p:cNvSpPr/>
          <p:nvPr/>
        </p:nvSpPr>
        <p:spPr>
          <a:xfrm>
            <a:off x="566928" y="6547104"/>
            <a:ext cx="5943600" cy="182880"/>
          </a:xfrm>
          <a:prstGeom prst="rect">
            <a:avLst/>
          </a:prstGeom>
          <a:noFill/>
          <a:ln/>
        </p:spPr>
        <p:txBody>
          <a:bodyPr wrap="square" lIns="0" tIns="0" rIns="0" bIns="0" rtlCol="0" anchor="t"/>
          <a:lstStyle/>
          <a:p>
            <a:pPr algn="l" indent="0" marL="0">
              <a:buNone/>
            </a:pPr>
            <a:r>
              <a:rPr lang="en-US" sz="730" spc="60" kern="0" dirty="0">
                <a:solidFill>
                  <a:srgbClr val="8A9A94"/>
                </a:solidFill>
                <a:latin typeface="Courier New" pitchFamily="34" charset="0"/>
                <a:ea typeface="Courier New" pitchFamily="34" charset="-122"/>
                <a:cs typeface="Courier New" pitchFamily="34" charset="-120"/>
              </a:rPr>
              <a:t>Cuidarte+ · Auditoría de calidad y seguridad</a:t>
            </a:r>
            <a:endParaRPr lang="en-US" sz="730" dirty="0"/>
          </a:p>
        </p:txBody>
      </p:sp>
      <p:sp>
        <p:nvSpPr>
          <p:cNvPr id="6" name="Text 4"/>
          <p:cNvSpPr/>
          <p:nvPr/>
        </p:nvSpPr>
        <p:spPr>
          <a:xfrm>
            <a:off x="10561320" y="6547104"/>
            <a:ext cx="1060704" cy="182880"/>
          </a:xfrm>
          <a:prstGeom prst="rect">
            <a:avLst/>
          </a:prstGeom>
          <a:noFill/>
          <a:ln/>
        </p:spPr>
        <p:txBody>
          <a:bodyPr wrap="square" lIns="0" tIns="0" rIns="0" bIns="0" rtlCol="0" anchor="t"/>
          <a:lstStyle/>
          <a:p>
            <a:pPr algn="r" indent="0" marL="0">
              <a:buNone/>
            </a:pPr>
            <a:r>
              <a:rPr lang="en-US" sz="730" spc="60" kern="0" dirty="0">
                <a:solidFill>
                  <a:srgbClr val="8A9A94"/>
                </a:solidFill>
                <a:latin typeface="Courier New" pitchFamily="34" charset="0"/>
                <a:ea typeface="Courier New" pitchFamily="34" charset="-122"/>
                <a:cs typeface="Courier New" pitchFamily="34" charset="-120"/>
              </a:rPr>
              <a:t>09 / 17</a:t>
            </a:r>
            <a:endParaRPr lang="en-US" sz="730" dirty="0"/>
          </a:p>
        </p:txBody>
      </p:sp>
      <p:sp>
        <p:nvSpPr>
          <p:cNvPr id="7" name="Shape 5"/>
          <p:cNvSpPr/>
          <p:nvPr/>
        </p:nvSpPr>
        <p:spPr>
          <a:xfrm>
            <a:off x="566928" y="1645920"/>
            <a:ext cx="2670048" cy="566928"/>
          </a:xfrm>
          <a:prstGeom prst="roundRect">
            <a:avLst>
              <a:gd name="adj" fmla="val 4032"/>
            </a:avLst>
          </a:prstGeom>
          <a:solidFill>
            <a:srgbClr val="F5DDD9"/>
          </a:solidFill>
          <a:ln w="7620">
            <a:solidFill>
              <a:srgbClr val="F5DDD9"/>
            </a:solidFill>
            <a:prstDash val="solid"/>
          </a:ln>
          <a:effectLst>
            <a:outerShdw sx="100000" sy="100000" kx="0" ky="0" algn="bl" rotWithShape="0" blurRad="88900" dist="25400" dir="5400000">
              <a:srgbClr val="000000">
                <a:alpha val="5000"/>
              </a:srgbClr>
            </a:outerShdw>
          </a:effectLst>
        </p:spPr>
      </p:sp>
      <p:sp>
        <p:nvSpPr>
          <p:cNvPr id="8" name="Text 6"/>
          <p:cNvSpPr/>
          <p:nvPr/>
        </p:nvSpPr>
        <p:spPr>
          <a:xfrm>
            <a:off x="704088" y="1737360"/>
            <a:ext cx="1371600" cy="182880"/>
          </a:xfrm>
          <a:prstGeom prst="rect">
            <a:avLst/>
          </a:prstGeom>
          <a:noFill/>
          <a:ln/>
        </p:spPr>
        <p:txBody>
          <a:bodyPr wrap="square" lIns="0" tIns="0" rIns="0" bIns="0" rtlCol="0" anchor="t"/>
          <a:lstStyle/>
          <a:p>
            <a:pPr algn="l" indent="0" marL="0">
              <a:buNone/>
            </a:pPr>
            <a:r>
              <a:rPr lang="en-US" sz="700" b="1" spc="120" kern="0" dirty="0">
                <a:solidFill>
                  <a:srgbClr val="B23A2F"/>
                </a:solidFill>
                <a:latin typeface="Courier New" pitchFamily="34" charset="0"/>
                <a:ea typeface="Courier New" pitchFamily="34" charset="-122"/>
                <a:cs typeface="Courier New" pitchFamily="34" charset="-120"/>
              </a:rPr>
              <a:t>CRÍTICO</a:t>
            </a:r>
            <a:endParaRPr lang="en-US" sz="700" dirty="0"/>
          </a:p>
        </p:txBody>
      </p:sp>
      <p:sp>
        <p:nvSpPr>
          <p:cNvPr id="9" name="Text 7"/>
          <p:cNvSpPr/>
          <p:nvPr/>
        </p:nvSpPr>
        <p:spPr>
          <a:xfrm>
            <a:off x="2578608" y="1682496"/>
            <a:ext cx="457200" cy="384048"/>
          </a:xfrm>
          <a:prstGeom prst="rect">
            <a:avLst/>
          </a:prstGeom>
          <a:noFill/>
          <a:ln/>
        </p:spPr>
        <p:txBody>
          <a:bodyPr wrap="square" lIns="0" tIns="0" rIns="0" bIns="0" rtlCol="0" anchor="t"/>
          <a:lstStyle/>
          <a:p>
            <a:pPr algn="r" indent="0" marL="0">
              <a:buNone/>
            </a:pPr>
            <a:r>
              <a:rPr lang="en-US" sz="2000" b="1" dirty="0">
                <a:solidFill>
                  <a:srgbClr val="B23A2F"/>
                </a:solidFill>
                <a:latin typeface="Cambria" pitchFamily="34" charset="0"/>
                <a:ea typeface="Cambria" pitchFamily="34" charset="-122"/>
                <a:cs typeface="Cambria" pitchFamily="34" charset="-120"/>
              </a:rPr>
              <a:t>1</a:t>
            </a:r>
            <a:endParaRPr lang="en-US" sz="2000" dirty="0"/>
          </a:p>
        </p:txBody>
      </p:sp>
      <p:sp>
        <p:nvSpPr>
          <p:cNvPr id="10" name="Shape 8"/>
          <p:cNvSpPr/>
          <p:nvPr/>
        </p:nvSpPr>
        <p:spPr>
          <a:xfrm>
            <a:off x="3355848" y="1645920"/>
            <a:ext cx="2670048" cy="566928"/>
          </a:xfrm>
          <a:prstGeom prst="roundRect">
            <a:avLst>
              <a:gd name="adj" fmla="val 4032"/>
            </a:avLst>
          </a:prstGeom>
          <a:solidFill>
            <a:srgbClr val="F6E8CD"/>
          </a:solidFill>
          <a:ln w="7620">
            <a:solidFill>
              <a:srgbClr val="F6E8CD"/>
            </a:solidFill>
            <a:prstDash val="solid"/>
          </a:ln>
          <a:effectLst>
            <a:outerShdw sx="100000" sy="100000" kx="0" ky="0" algn="bl" rotWithShape="0" blurRad="88900" dist="25400" dir="5400000">
              <a:srgbClr val="000000">
                <a:alpha val="5000"/>
              </a:srgbClr>
            </a:outerShdw>
          </a:effectLst>
        </p:spPr>
      </p:sp>
      <p:sp>
        <p:nvSpPr>
          <p:cNvPr id="11" name="Text 9"/>
          <p:cNvSpPr/>
          <p:nvPr/>
        </p:nvSpPr>
        <p:spPr>
          <a:xfrm>
            <a:off x="3493008" y="1737360"/>
            <a:ext cx="1371600" cy="182880"/>
          </a:xfrm>
          <a:prstGeom prst="rect">
            <a:avLst/>
          </a:prstGeom>
          <a:noFill/>
          <a:ln/>
        </p:spPr>
        <p:txBody>
          <a:bodyPr wrap="square" lIns="0" tIns="0" rIns="0" bIns="0" rtlCol="0" anchor="t"/>
          <a:lstStyle/>
          <a:p>
            <a:pPr algn="l" indent="0" marL="0">
              <a:buNone/>
            </a:pPr>
            <a:r>
              <a:rPr lang="en-US" sz="700" b="1" spc="120" kern="0" dirty="0">
                <a:solidFill>
                  <a:srgbClr val="8A5E0F"/>
                </a:solidFill>
                <a:latin typeface="Courier New" pitchFamily="34" charset="0"/>
                <a:ea typeface="Courier New" pitchFamily="34" charset="-122"/>
                <a:cs typeface="Courier New" pitchFamily="34" charset="-120"/>
              </a:rPr>
              <a:t>GRAVE</a:t>
            </a:r>
            <a:endParaRPr lang="en-US" sz="700" dirty="0"/>
          </a:p>
        </p:txBody>
      </p:sp>
      <p:sp>
        <p:nvSpPr>
          <p:cNvPr id="12" name="Text 10"/>
          <p:cNvSpPr/>
          <p:nvPr/>
        </p:nvSpPr>
        <p:spPr>
          <a:xfrm>
            <a:off x="5367528" y="1682496"/>
            <a:ext cx="457200" cy="384048"/>
          </a:xfrm>
          <a:prstGeom prst="rect">
            <a:avLst/>
          </a:prstGeom>
          <a:noFill/>
          <a:ln/>
        </p:spPr>
        <p:txBody>
          <a:bodyPr wrap="square" lIns="0" tIns="0" rIns="0" bIns="0" rtlCol="0" anchor="t"/>
          <a:lstStyle/>
          <a:p>
            <a:pPr algn="r" indent="0" marL="0">
              <a:buNone/>
            </a:pPr>
            <a:r>
              <a:rPr lang="en-US" sz="2000" b="1" dirty="0">
                <a:solidFill>
                  <a:srgbClr val="8A5E0F"/>
                </a:solidFill>
                <a:latin typeface="Cambria" pitchFamily="34" charset="0"/>
                <a:ea typeface="Cambria" pitchFamily="34" charset="-122"/>
                <a:cs typeface="Cambria" pitchFamily="34" charset="-120"/>
              </a:rPr>
              <a:t>3</a:t>
            </a:r>
            <a:endParaRPr lang="en-US" sz="2000" dirty="0"/>
          </a:p>
        </p:txBody>
      </p:sp>
      <p:sp>
        <p:nvSpPr>
          <p:cNvPr id="13" name="Shape 11"/>
          <p:cNvSpPr/>
          <p:nvPr/>
        </p:nvSpPr>
        <p:spPr>
          <a:xfrm>
            <a:off x="6144768" y="1645920"/>
            <a:ext cx="2670048" cy="566928"/>
          </a:xfrm>
          <a:prstGeom prst="roundRect">
            <a:avLst>
              <a:gd name="adj" fmla="val 4032"/>
            </a:avLst>
          </a:prstGeom>
          <a:solidFill>
            <a:srgbClr val="DCEBE5"/>
          </a:solidFill>
          <a:ln w="7620">
            <a:solidFill>
              <a:srgbClr val="DCEBE5"/>
            </a:solidFill>
            <a:prstDash val="solid"/>
          </a:ln>
          <a:effectLst>
            <a:outerShdw sx="100000" sy="100000" kx="0" ky="0" algn="bl" rotWithShape="0" blurRad="88900" dist="25400" dir="5400000">
              <a:srgbClr val="000000">
                <a:alpha val="5000"/>
              </a:srgbClr>
            </a:outerShdw>
          </a:effectLst>
        </p:spPr>
      </p:sp>
      <p:sp>
        <p:nvSpPr>
          <p:cNvPr id="14" name="Text 12"/>
          <p:cNvSpPr/>
          <p:nvPr/>
        </p:nvSpPr>
        <p:spPr>
          <a:xfrm>
            <a:off x="6281928" y="1737360"/>
            <a:ext cx="1371600" cy="182880"/>
          </a:xfrm>
          <a:prstGeom prst="rect">
            <a:avLst/>
          </a:prstGeom>
          <a:noFill/>
          <a:ln/>
        </p:spPr>
        <p:txBody>
          <a:bodyPr wrap="square" lIns="0" tIns="0" rIns="0" bIns="0" rtlCol="0" anchor="t"/>
          <a:lstStyle/>
          <a:p>
            <a:pPr algn="l" indent="0" marL="0">
              <a:buNone/>
            </a:pPr>
            <a:r>
              <a:rPr lang="en-US" sz="700" b="1" spc="120" kern="0" dirty="0">
                <a:solidFill>
                  <a:srgbClr val="123B33"/>
                </a:solidFill>
                <a:latin typeface="Courier New" pitchFamily="34" charset="0"/>
                <a:ea typeface="Courier New" pitchFamily="34" charset="-122"/>
                <a:cs typeface="Courier New" pitchFamily="34" charset="-120"/>
              </a:rPr>
              <a:t>MODERADO</a:t>
            </a:r>
            <a:endParaRPr lang="en-US" sz="700" dirty="0"/>
          </a:p>
        </p:txBody>
      </p:sp>
      <p:sp>
        <p:nvSpPr>
          <p:cNvPr id="15" name="Text 13"/>
          <p:cNvSpPr/>
          <p:nvPr/>
        </p:nvSpPr>
        <p:spPr>
          <a:xfrm>
            <a:off x="8156448" y="1682496"/>
            <a:ext cx="457200" cy="384048"/>
          </a:xfrm>
          <a:prstGeom prst="rect">
            <a:avLst/>
          </a:prstGeom>
          <a:noFill/>
          <a:ln/>
        </p:spPr>
        <p:txBody>
          <a:bodyPr wrap="square" lIns="0" tIns="0" rIns="0" bIns="0" rtlCol="0" anchor="t"/>
          <a:lstStyle/>
          <a:p>
            <a:pPr algn="r" indent="0" marL="0">
              <a:buNone/>
            </a:pPr>
            <a:r>
              <a:rPr lang="en-US" sz="2000" b="1" dirty="0">
                <a:solidFill>
                  <a:srgbClr val="123B33"/>
                </a:solidFill>
                <a:latin typeface="Cambria" pitchFamily="34" charset="0"/>
                <a:ea typeface="Cambria" pitchFamily="34" charset="-122"/>
                <a:cs typeface="Cambria" pitchFamily="34" charset="-120"/>
              </a:rPr>
              <a:t>2</a:t>
            </a:r>
            <a:endParaRPr lang="en-US" sz="2000" dirty="0"/>
          </a:p>
        </p:txBody>
      </p:sp>
      <p:sp>
        <p:nvSpPr>
          <p:cNvPr id="16" name="Shape 14"/>
          <p:cNvSpPr/>
          <p:nvPr/>
        </p:nvSpPr>
        <p:spPr>
          <a:xfrm>
            <a:off x="8933688" y="1645920"/>
            <a:ext cx="2670048" cy="566928"/>
          </a:xfrm>
          <a:prstGeom prst="roundRect">
            <a:avLst>
              <a:gd name="adj" fmla="val 4032"/>
            </a:avLst>
          </a:prstGeom>
          <a:solidFill>
            <a:srgbClr val="EDF4F0"/>
          </a:solidFill>
          <a:ln w="7620">
            <a:solidFill>
              <a:srgbClr val="EDF4F0"/>
            </a:solidFill>
            <a:prstDash val="solid"/>
          </a:ln>
          <a:effectLst>
            <a:outerShdw sx="100000" sy="100000" kx="0" ky="0" algn="bl" rotWithShape="0" blurRad="88900" dist="25400" dir="5400000">
              <a:srgbClr val="000000">
                <a:alpha val="5000"/>
              </a:srgbClr>
            </a:outerShdw>
          </a:effectLst>
        </p:spPr>
      </p:sp>
      <p:sp>
        <p:nvSpPr>
          <p:cNvPr id="17" name="Text 15"/>
          <p:cNvSpPr/>
          <p:nvPr/>
        </p:nvSpPr>
        <p:spPr>
          <a:xfrm>
            <a:off x="9070848" y="1737360"/>
            <a:ext cx="1371600" cy="182880"/>
          </a:xfrm>
          <a:prstGeom prst="rect">
            <a:avLst/>
          </a:prstGeom>
          <a:noFill/>
          <a:ln/>
        </p:spPr>
        <p:txBody>
          <a:bodyPr wrap="square" lIns="0" tIns="0" rIns="0" bIns="0" rtlCol="0" anchor="t"/>
          <a:lstStyle/>
          <a:p>
            <a:pPr algn="l" indent="0" marL="0">
              <a:buNone/>
            </a:pPr>
            <a:r>
              <a:rPr lang="en-US" sz="700" b="1" spc="120" kern="0" dirty="0">
                <a:solidFill>
                  <a:srgbClr val="5C6D67"/>
                </a:solidFill>
                <a:latin typeface="Courier New" pitchFamily="34" charset="0"/>
                <a:ea typeface="Courier New" pitchFamily="34" charset="-122"/>
                <a:cs typeface="Courier New" pitchFamily="34" charset="-120"/>
              </a:rPr>
              <a:t>LEVE</a:t>
            </a:r>
            <a:endParaRPr lang="en-US" sz="700" dirty="0"/>
          </a:p>
        </p:txBody>
      </p:sp>
      <p:sp>
        <p:nvSpPr>
          <p:cNvPr id="18" name="Text 16"/>
          <p:cNvSpPr/>
          <p:nvPr/>
        </p:nvSpPr>
        <p:spPr>
          <a:xfrm>
            <a:off x="10945368" y="1682496"/>
            <a:ext cx="457200" cy="384048"/>
          </a:xfrm>
          <a:prstGeom prst="rect">
            <a:avLst/>
          </a:prstGeom>
          <a:noFill/>
          <a:ln/>
        </p:spPr>
        <p:txBody>
          <a:bodyPr wrap="square" lIns="0" tIns="0" rIns="0" bIns="0" rtlCol="0" anchor="t"/>
          <a:lstStyle/>
          <a:p>
            <a:pPr algn="r" indent="0" marL="0">
              <a:buNone/>
            </a:pPr>
            <a:r>
              <a:rPr lang="en-US" sz="2000" b="1" dirty="0">
                <a:solidFill>
                  <a:srgbClr val="5C6D67"/>
                </a:solidFill>
                <a:latin typeface="Cambria" pitchFamily="34" charset="0"/>
                <a:ea typeface="Cambria" pitchFamily="34" charset="-122"/>
                <a:cs typeface="Cambria" pitchFamily="34" charset="-120"/>
              </a:rPr>
              <a:t>1</a:t>
            </a:r>
            <a:endParaRPr lang="en-US" sz="2000" dirty="0"/>
          </a:p>
        </p:txBody>
      </p:sp>
      <p:sp>
        <p:nvSpPr>
          <p:cNvPr id="19" name="Shape 17"/>
          <p:cNvSpPr/>
          <p:nvPr/>
        </p:nvSpPr>
        <p:spPr>
          <a:xfrm>
            <a:off x="566928" y="2395728"/>
            <a:ext cx="5358384" cy="1225296"/>
          </a:xfrm>
          <a:prstGeom prst="roundRect">
            <a:avLst>
              <a:gd name="adj" fmla="val 1866"/>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20" name="Text 18"/>
          <p:cNvSpPr/>
          <p:nvPr/>
        </p:nvSpPr>
        <p:spPr>
          <a:xfrm>
            <a:off x="731520" y="2514600"/>
            <a:ext cx="2011680" cy="182880"/>
          </a:xfrm>
          <a:prstGeom prst="rect">
            <a:avLst/>
          </a:prstGeom>
          <a:noFill/>
          <a:ln/>
        </p:spPr>
        <p:txBody>
          <a:bodyPr wrap="square" lIns="0" tIns="0" rIns="0" bIns="0" rtlCol="0" anchor="t"/>
          <a:lstStyle/>
          <a:p>
            <a:pPr algn="l" indent="0" marL="0">
              <a:buNone/>
            </a:pPr>
            <a:r>
              <a:rPr lang="en-US" sz="680" b="1" spc="110" kern="0" dirty="0">
                <a:solidFill>
                  <a:srgbClr val="B23A2F"/>
                </a:solidFill>
                <a:latin typeface="Courier New" pitchFamily="34" charset="0"/>
                <a:ea typeface="Courier New" pitchFamily="34" charset="-122"/>
                <a:cs typeface="Courier New" pitchFamily="34" charset="-120"/>
              </a:rPr>
              <a:t>CRÍTICO</a:t>
            </a:r>
            <a:endParaRPr lang="en-US" sz="680" dirty="0"/>
          </a:p>
        </p:txBody>
      </p:sp>
      <p:sp>
        <p:nvSpPr>
          <p:cNvPr id="21" name="Text 19"/>
          <p:cNvSpPr/>
          <p:nvPr/>
        </p:nvSpPr>
        <p:spPr>
          <a:xfrm>
            <a:off x="731520" y="2724912"/>
            <a:ext cx="5029200" cy="274320"/>
          </a:xfrm>
          <a:prstGeom prst="rect">
            <a:avLst/>
          </a:prstGeom>
          <a:noFill/>
          <a:ln/>
        </p:spPr>
        <p:txBody>
          <a:bodyPr wrap="square" lIns="0" tIns="0" rIns="0" bIns="0" rtlCol="0" anchor="t"/>
          <a:lstStyle/>
          <a:p>
            <a:pPr algn="l" indent="0" marL="0">
              <a:buNone/>
            </a:pPr>
            <a:r>
              <a:rPr lang="en-US" sz="1280" b="1" dirty="0">
                <a:solidFill>
                  <a:srgbClr val="1A2A25"/>
                </a:solidFill>
                <a:latin typeface="Cambria" pitchFamily="34" charset="0"/>
                <a:ea typeface="Cambria" pitchFamily="34" charset="-122"/>
                <a:cs typeface="Cambria" pitchFamily="34" charset="-120"/>
              </a:rPr>
              <a:t>H-01 · Contraseñas en texto plano</a:t>
            </a:r>
            <a:endParaRPr lang="en-US" sz="1280" dirty="0"/>
          </a:p>
        </p:txBody>
      </p:sp>
      <p:sp>
        <p:nvSpPr>
          <p:cNvPr id="22" name="Text 20"/>
          <p:cNvSpPr/>
          <p:nvPr/>
        </p:nvSpPr>
        <p:spPr>
          <a:xfrm>
            <a:off x="731520" y="3054096"/>
            <a:ext cx="5029200" cy="182880"/>
          </a:xfrm>
          <a:prstGeom prst="rect">
            <a:avLst/>
          </a:prstGeom>
          <a:noFill/>
          <a:ln/>
        </p:spPr>
        <p:txBody>
          <a:bodyPr wrap="square" lIns="0" tIns="0" rIns="0" bIns="0" rtlCol="0" anchor="t"/>
          <a:lstStyle/>
          <a:p>
            <a:pPr algn="l" indent="0" marL="0">
              <a:buNone/>
            </a:pPr>
            <a:r>
              <a:rPr lang="en-US" sz="690" spc="20" kern="0" dirty="0">
                <a:solidFill>
                  <a:srgbClr val="5C6D67"/>
                </a:solidFill>
                <a:latin typeface="Courier New" pitchFamily="34" charset="0"/>
                <a:ea typeface="Courier New" pitchFamily="34" charset="-122"/>
                <a:cs typeface="Courier New" pitchFamily="34" charset="-120"/>
              </a:rPr>
              <a:t>auth.js:21 · auth.js:110</a:t>
            </a:r>
            <a:endParaRPr lang="en-US" sz="690" dirty="0"/>
          </a:p>
        </p:txBody>
      </p:sp>
      <p:sp>
        <p:nvSpPr>
          <p:cNvPr id="23" name="Text 21"/>
          <p:cNvSpPr/>
          <p:nvPr/>
        </p:nvSpPr>
        <p:spPr>
          <a:xfrm>
            <a:off x="731520" y="3291840"/>
            <a:ext cx="4983480" cy="256032"/>
          </a:xfrm>
          <a:prstGeom prst="rect">
            <a:avLst/>
          </a:prstGeom>
          <a:noFill/>
          <a:ln/>
        </p:spPr>
        <p:txBody>
          <a:bodyPr wrap="square" lIns="0" tIns="0" rIns="0" bIns="0" rtlCol="0" anchor="t"/>
          <a:lstStyle/>
          <a:p>
            <a:pPr algn="l" indent="0" marL="0">
              <a:buNone/>
            </a:pPr>
            <a:r>
              <a:rPr lang="en-US" sz="860" dirty="0">
                <a:solidFill>
                  <a:srgbClr val="5C6D67"/>
                </a:solidFill>
                <a:latin typeface="Calibri" pitchFamily="34" charset="0"/>
                <a:ea typeface="Calibri" pitchFamily="34" charset="-122"/>
                <a:cs typeface="Calibri" pitchFamily="34" charset="-120"/>
              </a:rPr>
              <a:t>Cualquiera con acceso a la base de datos obtiene credenciales legibles.</a:t>
            </a:r>
            <a:endParaRPr lang="en-US" sz="860" dirty="0"/>
          </a:p>
        </p:txBody>
      </p:sp>
      <p:sp>
        <p:nvSpPr>
          <p:cNvPr id="24" name="Shape 22"/>
          <p:cNvSpPr/>
          <p:nvPr/>
        </p:nvSpPr>
        <p:spPr>
          <a:xfrm>
            <a:off x="6053328" y="2395728"/>
            <a:ext cx="5358384" cy="1225296"/>
          </a:xfrm>
          <a:prstGeom prst="roundRect">
            <a:avLst>
              <a:gd name="adj" fmla="val 1866"/>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25" name="Text 23"/>
          <p:cNvSpPr/>
          <p:nvPr/>
        </p:nvSpPr>
        <p:spPr>
          <a:xfrm>
            <a:off x="6217920" y="2514600"/>
            <a:ext cx="2011680" cy="182880"/>
          </a:xfrm>
          <a:prstGeom prst="rect">
            <a:avLst/>
          </a:prstGeom>
          <a:noFill/>
          <a:ln/>
        </p:spPr>
        <p:txBody>
          <a:bodyPr wrap="square" lIns="0" tIns="0" rIns="0" bIns="0" rtlCol="0" anchor="t"/>
          <a:lstStyle/>
          <a:p>
            <a:pPr algn="l" indent="0" marL="0">
              <a:buNone/>
            </a:pPr>
            <a:r>
              <a:rPr lang="en-US" sz="680" b="1" spc="110" kern="0" dirty="0">
                <a:solidFill>
                  <a:srgbClr val="8A5E0F"/>
                </a:solidFill>
                <a:latin typeface="Courier New" pitchFamily="34" charset="0"/>
                <a:ea typeface="Courier New" pitchFamily="34" charset="-122"/>
                <a:cs typeface="Courier New" pitchFamily="34" charset="-120"/>
              </a:rPr>
              <a:t>GRAVE</a:t>
            </a:r>
            <a:endParaRPr lang="en-US" sz="680" dirty="0"/>
          </a:p>
        </p:txBody>
      </p:sp>
      <p:sp>
        <p:nvSpPr>
          <p:cNvPr id="26" name="Text 24"/>
          <p:cNvSpPr/>
          <p:nvPr/>
        </p:nvSpPr>
        <p:spPr>
          <a:xfrm>
            <a:off x="6217920" y="2724912"/>
            <a:ext cx="5029200" cy="274320"/>
          </a:xfrm>
          <a:prstGeom prst="rect">
            <a:avLst/>
          </a:prstGeom>
          <a:noFill/>
          <a:ln/>
        </p:spPr>
        <p:txBody>
          <a:bodyPr wrap="square" lIns="0" tIns="0" rIns="0" bIns="0" rtlCol="0" anchor="t"/>
          <a:lstStyle/>
          <a:p>
            <a:pPr algn="l" indent="0" marL="0">
              <a:buNone/>
            </a:pPr>
            <a:r>
              <a:rPr lang="en-US" sz="1280" b="1" dirty="0">
                <a:solidFill>
                  <a:srgbClr val="1A2A25"/>
                </a:solidFill>
                <a:latin typeface="Cambria" pitchFamily="34" charset="0"/>
                <a:ea typeface="Cambria" pitchFamily="34" charset="-122"/>
                <a:cs typeface="Cambria" pitchFamily="34" charset="-120"/>
              </a:rPr>
              <a:t>H-02 · JWT sin revocación ni secreto propio</a:t>
            </a:r>
            <a:endParaRPr lang="en-US" sz="1280" dirty="0"/>
          </a:p>
        </p:txBody>
      </p:sp>
      <p:sp>
        <p:nvSpPr>
          <p:cNvPr id="27" name="Text 25"/>
          <p:cNvSpPr/>
          <p:nvPr/>
        </p:nvSpPr>
        <p:spPr>
          <a:xfrm>
            <a:off x="6217920" y="3054096"/>
            <a:ext cx="5029200" cy="182880"/>
          </a:xfrm>
          <a:prstGeom prst="rect">
            <a:avLst/>
          </a:prstGeom>
          <a:noFill/>
          <a:ln/>
        </p:spPr>
        <p:txBody>
          <a:bodyPr wrap="square" lIns="0" tIns="0" rIns="0" bIns="0" rtlCol="0" anchor="t"/>
          <a:lstStyle/>
          <a:p>
            <a:pPr algn="l" indent="0" marL="0">
              <a:buNone/>
            </a:pPr>
            <a:r>
              <a:rPr lang="en-US" sz="690" spc="20" kern="0" dirty="0">
                <a:solidFill>
                  <a:srgbClr val="5C6D67"/>
                </a:solidFill>
                <a:latin typeface="Courier New" pitchFamily="34" charset="0"/>
                <a:ea typeface="Courier New" pitchFamily="34" charset="-122"/>
                <a:cs typeface="Courier New" pitchFamily="34" charset="-120"/>
              </a:rPr>
              <a:t>auth.js:8, :44–55 · docker-compose.yml:35</a:t>
            </a:r>
            <a:endParaRPr lang="en-US" sz="690" dirty="0"/>
          </a:p>
        </p:txBody>
      </p:sp>
      <p:sp>
        <p:nvSpPr>
          <p:cNvPr id="28" name="Text 26"/>
          <p:cNvSpPr/>
          <p:nvPr/>
        </p:nvSpPr>
        <p:spPr>
          <a:xfrm>
            <a:off x="6217920" y="3291840"/>
            <a:ext cx="4983480" cy="256032"/>
          </a:xfrm>
          <a:prstGeom prst="rect">
            <a:avLst/>
          </a:prstGeom>
          <a:noFill/>
          <a:ln/>
        </p:spPr>
        <p:txBody>
          <a:bodyPr wrap="square" lIns="0" tIns="0" rIns="0" bIns="0" rtlCol="0" anchor="t"/>
          <a:lstStyle/>
          <a:p>
            <a:pPr algn="l" indent="0" marL="0">
              <a:buNone/>
            </a:pPr>
            <a:r>
              <a:rPr lang="en-US" sz="860" dirty="0">
                <a:solidFill>
                  <a:srgbClr val="5C6D67"/>
                </a:solidFill>
                <a:latin typeface="Calibri" pitchFamily="34" charset="0"/>
                <a:ea typeface="Calibri" pitchFamily="34" charset="-122"/>
                <a:cs typeface="Calibri" pitchFamily="34" charset="-120"/>
              </a:rPr>
              <a:t>Un token robado sigue vivo después del logout (CP006).</a:t>
            </a:r>
            <a:endParaRPr lang="en-US" sz="860" dirty="0"/>
          </a:p>
        </p:txBody>
      </p:sp>
      <p:sp>
        <p:nvSpPr>
          <p:cNvPr id="29" name="Shape 27"/>
          <p:cNvSpPr/>
          <p:nvPr/>
        </p:nvSpPr>
        <p:spPr>
          <a:xfrm>
            <a:off x="566928" y="3767328"/>
            <a:ext cx="5358384" cy="1225296"/>
          </a:xfrm>
          <a:prstGeom prst="roundRect">
            <a:avLst>
              <a:gd name="adj" fmla="val 1866"/>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30" name="Text 28"/>
          <p:cNvSpPr/>
          <p:nvPr/>
        </p:nvSpPr>
        <p:spPr>
          <a:xfrm>
            <a:off x="731520" y="3886200"/>
            <a:ext cx="2011680" cy="182880"/>
          </a:xfrm>
          <a:prstGeom prst="rect">
            <a:avLst/>
          </a:prstGeom>
          <a:noFill/>
          <a:ln/>
        </p:spPr>
        <p:txBody>
          <a:bodyPr wrap="square" lIns="0" tIns="0" rIns="0" bIns="0" rtlCol="0" anchor="t"/>
          <a:lstStyle/>
          <a:p>
            <a:pPr algn="l" indent="0" marL="0">
              <a:buNone/>
            </a:pPr>
            <a:r>
              <a:rPr lang="en-US" sz="680" b="1" spc="110" kern="0" dirty="0">
                <a:solidFill>
                  <a:srgbClr val="8A5E0F"/>
                </a:solidFill>
                <a:latin typeface="Courier New" pitchFamily="34" charset="0"/>
                <a:ea typeface="Courier New" pitchFamily="34" charset="-122"/>
                <a:cs typeface="Courier New" pitchFamily="34" charset="-120"/>
              </a:rPr>
              <a:t>GRAVE</a:t>
            </a:r>
            <a:endParaRPr lang="en-US" sz="680" dirty="0"/>
          </a:p>
        </p:txBody>
      </p:sp>
      <p:sp>
        <p:nvSpPr>
          <p:cNvPr id="31" name="Text 29"/>
          <p:cNvSpPr/>
          <p:nvPr/>
        </p:nvSpPr>
        <p:spPr>
          <a:xfrm>
            <a:off x="731520" y="4096512"/>
            <a:ext cx="5029200" cy="274320"/>
          </a:xfrm>
          <a:prstGeom prst="rect">
            <a:avLst/>
          </a:prstGeom>
          <a:noFill/>
          <a:ln/>
        </p:spPr>
        <p:txBody>
          <a:bodyPr wrap="square" lIns="0" tIns="0" rIns="0" bIns="0" rtlCol="0" anchor="t"/>
          <a:lstStyle/>
          <a:p>
            <a:pPr algn="l" indent="0" marL="0">
              <a:buNone/>
            </a:pPr>
            <a:r>
              <a:rPr lang="en-US" sz="1280" b="1" dirty="0">
                <a:solidFill>
                  <a:srgbClr val="1A2A25"/>
                </a:solidFill>
                <a:latin typeface="Cambria" pitchFamily="34" charset="0"/>
                <a:ea typeface="Cambria" pitchFamily="34" charset="-122"/>
                <a:cs typeface="Cambria" pitchFamily="34" charset="-120"/>
              </a:rPr>
              <a:t>H-03 · RUT sin dígito verificador</a:t>
            </a:r>
            <a:endParaRPr lang="en-US" sz="1280" dirty="0"/>
          </a:p>
        </p:txBody>
      </p:sp>
      <p:sp>
        <p:nvSpPr>
          <p:cNvPr id="32" name="Text 30"/>
          <p:cNvSpPr/>
          <p:nvPr/>
        </p:nvSpPr>
        <p:spPr>
          <a:xfrm>
            <a:off x="731520" y="4425696"/>
            <a:ext cx="5029200" cy="182880"/>
          </a:xfrm>
          <a:prstGeom prst="rect">
            <a:avLst/>
          </a:prstGeom>
          <a:noFill/>
          <a:ln/>
        </p:spPr>
        <p:txBody>
          <a:bodyPr wrap="square" lIns="0" tIns="0" rIns="0" bIns="0" rtlCol="0" anchor="t"/>
          <a:lstStyle/>
          <a:p>
            <a:pPr algn="l" indent="0" marL="0">
              <a:buNone/>
            </a:pPr>
            <a:r>
              <a:rPr lang="en-US" sz="690" spc="20" kern="0" dirty="0">
                <a:solidFill>
                  <a:srgbClr val="5C6D67"/>
                </a:solidFill>
                <a:latin typeface="Courier New" pitchFamily="34" charset="0"/>
                <a:ea typeface="Courier New" pitchFamily="34" charset="-122"/>
                <a:cs typeface="Courier New" pitchFamily="34" charset="-120"/>
              </a:rPr>
              <a:t>validations/pacientes.js:8 · utils/rut.js:5–8</a:t>
            </a:r>
            <a:endParaRPr lang="en-US" sz="690" dirty="0"/>
          </a:p>
        </p:txBody>
      </p:sp>
      <p:sp>
        <p:nvSpPr>
          <p:cNvPr id="33" name="Text 31"/>
          <p:cNvSpPr/>
          <p:nvPr/>
        </p:nvSpPr>
        <p:spPr>
          <a:xfrm>
            <a:off x="731520" y="4663440"/>
            <a:ext cx="4983480" cy="256032"/>
          </a:xfrm>
          <a:prstGeom prst="rect">
            <a:avLst/>
          </a:prstGeom>
          <a:noFill/>
          <a:ln/>
        </p:spPr>
        <p:txBody>
          <a:bodyPr wrap="square" lIns="0" tIns="0" rIns="0" bIns="0" rtlCol="0" anchor="t"/>
          <a:lstStyle/>
          <a:p>
            <a:pPr algn="l" indent="0" marL="0">
              <a:buNone/>
            </a:pPr>
            <a:r>
              <a:rPr lang="en-US" sz="860" dirty="0">
                <a:solidFill>
                  <a:srgbClr val="5C6D67"/>
                </a:solidFill>
                <a:latin typeface="Calibri" pitchFamily="34" charset="0"/>
                <a:ea typeface="Calibri" pitchFamily="34" charset="-122"/>
                <a:cs typeface="Calibri" pitchFamily="34" charset="-120"/>
              </a:rPr>
              <a:t>Acepta 21.437.351-4; el dígito real es 3.</a:t>
            </a:r>
            <a:endParaRPr lang="en-US" sz="860" dirty="0"/>
          </a:p>
        </p:txBody>
      </p:sp>
      <p:sp>
        <p:nvSpPr>
          <p:cNvPr id="34" name="Shape 32"/>
          <p:cNvSpPr/>
          <p:nvPr/>
        </p:nvSpPr>
        <p:spPr>
          <a:xfrm>
            <a:off x="6053328" y="3767328"/>
            <a:ext cx="5358384" cy="1225296"/>
          </a:xfrm>
          <a:prstGeom prst="roundRect">
            <a:avLst>
              <a:gd name="adj" fmla="val 1866"/>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35" name="Text 33"/>
          <p:cNvSpPr/>
          <p:nvPr/>
        </p:nvSpPr>
        <p:spPr>
          <a:xfrm>
            <a:off x="6217920" y="3886200"/>
            <a:ext cx="2011680" cy="182880"/>
          </a:xfrm>
          <a:prstGeom prst="rect">
            <a:avLst/>
          </a:prstGeom>
          <a:noFill/>
          <a:ln/>
        </p:spPr>
        <p:txBody>
          <a:bodyPr wrap="square" lIns="0" tIns="0" rIns="0" bIns="0" rtlCol="0" anchor="t"/>
          <a:lstStyle/>
          <a:p>
            <a:pPr algn="l" indent="0" marL="0">
              <a:buNone/>
            </a:pPr>
            <a:r>
              <a:rPr lang="en-US" sz="680" b="1" spc="110" kern="0" dirty="0">
                <a:solidFill>
                  <a:srgbClr val="8A5E0F"/>
                </a:solidFill>
                <a:latin typeface="Courier New" pitchFamily="34" charset="0"/>
                <a:ea typeface="Courier New" pitchFamily="34" charset="-122"/>
                <a:cs typeface="Courier New" pitchFamily="34" charset="-120"/>
              </a:rPr>
              <a:t>GRAVE · LATENTE</a:t>
            </a:r>
            <a:endParaRPr lang="en-US" sz="680" dirty="0"/>
          </a:p>
        </p:txBody>
      </p:sp>
      <p:sp>
        <p:nvSpPr>
          <p:cNvPr id="36" name="Text 34"/>
          <p:cNvSpPr/>
          <p:nvPr/>
        </p:nvSpPr>
        <p:spPr>
          <a:xfrm>
            <a:off x="6217920" y="4096512"/>
            <a:ext cx="5029200" cy="274320"/>
          </a:xfrm>
          <a:prstGeom prst="rect">
            <a:avLst/>
          </a:prstGeom>
          <a:noFill/>
          <a:ln/>
        </p:spPr>
        <p:txBody>
          <a:bodyPr wrap="square" lIns="0" tIns="0" rIns="0" bIns="0" rtlCol="0" anchor="t"/>
          <a:lstStyle/>
          <a:p>
            <a:pPr algn="l" indent="0" marL="0">
              <a:buNone/>
            </a:pPr>
            <a:r>
              <a:rPr lang="en-US" sz="1280" b="1" dirty="0">
                <a:solidFill>
                  <a:srgbClr val="1A2A25"/>
                </a:solidFill>
                <a:latin typeface="Cambria" pitchFamily="34" charset="0"/>
                <a:ea typeface="Cambria" pitchFamily="34" charset="-122"/>
                <a:cs typeface="Cambria" pitchFamily="34" charset="-120"/>
              </a:rPr>
              <a:t>H-04 · Documentos servidos sin autenticación</a:t>
            </a:r>
            <a:endParaRPr lang="en-US" sz="1280" dirty="0"/>
          </a:p>
        </p:txBody>
      </p:sp>
      <p:sp>
        <p:nvSpPr>
          <p:cNvPr id="37" name="Text 35"/>
          <p:cNvSpPr/>
          <p:nvPr/>
        </p:nvSpPr>
        <p:spPr>
          <a:xfrm>
            <a:off x="6217920" y="4425696"/>
            <a:ext cx="5029200" cy="182880"/>
          </a:xfrm>
          <a:prstGeom prst="rect">
            <a:avLst/>
          </a:prstGeom>
          <a:noFill/>
          <a:ln/>
        </p:spPr>
        <p:txBody>
          <a:bodyPr wrap="square" lIns="0" tIns="0" rIns="0" bIns="0" rtlCol="0" anchor="t"/>
          <a:lstStyle/>
          <a:p>
            <a:pPr algn="l" indent="0" marL="0">
              <a:buNone/>
            </a:pPr>
            <a:r>
              <a:rPr lang="en-US" sz="690" spc="20" kern="0" dirty="0">
                <a:solidFill>
                  <a:srgbClr val="5C6D67"/>
                </a:solidFill>
                <a:latin typeface="Courier New" pitchFamily="34" charset="0"/>
                <a:ea typeface="Courier New" pitchFamily="34" charset="-122"/>
                <a:cs typeface="Courier New" pitchFamily="34" charset="-120"/>
              </a:rPr>
              <a:t>app.js:43</a:t>
            </a:r>
            <a:endParaRPr lang="en-US" sz="690" dirty="0"/>
          </a:p>
        </p:txBody>
      </p:sp>
      <p:sp>
        <p:nvSpPr>
          <p:cNvPr id="38" name="Text 36"/>
          <p:cNvSpPr/>
          <p:nvPr/>
        </p:nvSpPr>
        <p:spPr>
          <a:xfrm>
            <a:off x="6217920" y="4663440"/>
            <a:ext cx="4983480" cy="256032"/>
          </a:xfrm>
          <a:prstGeom prst="rect">
            <a:avLst/>
          </a:prstGeom>
          <a:noFill/>
          <a:ln/>
        </p:spPr>
        <p:txBody>
          <a:bodyPr wrap="square" lIns="0" tIns="0" rIns="0" bIns="0" rtlCol="0" anchor="t"/>
          <a:lstStyle/>
          <a:p>
            <a:pPr algn="l" indent="0" marL="0">
              <a:buNone/>
            </a:pPr>
            <a:r>
              <a:rPr lang="en-US" sz="860" dirty="0">
                <a:solidFill>
                  <a:srgbClr val="5C6D67"/>
                </a:solidFill>
                <a:latin typeface="Calibri" pitchFamily="34" charset="0"/>
                <a:ea typeface="Calibri" pitchFamily="34" charset="-122"/>
                <a:cs typeface="Calibri" pitchFamily="34" charset="-120"/>
              </a:rPr>
              <a:t>Si se almacenaran en disco, cualquiera con la URL accedería sin sesión.</a:t>
            </a:r>
            <a:endParaRPr lang="en-US" sz="860" dirty="0"/>
          </a:p>
        </p:txBody>
      </p:sp>
      <p:sp>
        <p:nvSpPr>
          <p:cNvPr id="39" name="Shape 37"/>
          <p:cNvSpPr/>
          <p:nvPr/>
        </p:nvSpPr>
        <p:spPr>
          <a:xfrm>
            <a:off x="566928" y="5193792"/>
            <a:ext cx="3584448" cy="896112"/>
          </a:xfrm>
          <a:prstGeom prst="roundRect">
            <a:avLst>
              <a:gd name="adj" fmla="val 2551"/>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40" name="Text 38"/>
          <p:cNvSpPr/>
          <p:nvPr/>
        </p:nvSpPr>
        <p:spPr>
          <a:xfrm>
            <a:off x="704088" y="5285232"/>
            <a:ext cx="1645920" cy="182880"/>
          </a:xfrm>
          <a:prstGeom prst="rect">
            <a:avLst/>
          </a:prstGeom>
          <a:noFill/>
          <a:ln/>
        </p:spPr>
        <p:txBody>
          <a:bodyPr wrap="square" lIns="0" tIns="0" rIns="0" bIns="0" rtlCol="0" anchor="t"/>
          <a:lstStyle/>
          <a:p>
            <a:pPr algn="l" indent="0" marL="0">
              <a:buNone/>
            </a:pPr>
            <a:r>
              <a:rPr lang="en-US" sz="660" b="1" spc="100" kern="0" dirty="0">
                <a:solidFill>
                  <a:srgbClr val="5C6D67"/>
                </a:solidFill>
                <a:latin typeface="Courier New" pitchFamily="34" charset="0"/>
                <a:ea typeface="Courier New" pitchFamily="34" charset="-122"/>
                <a:cs typeface="Courier New" pitchFamily="34" charset="-120"/>
              </a:rPr>
              <a:t>MODERADO</a:t>
            </a:r>
            <a:endParaRPr lang="en-US" sz="660" dirty="0"/>
          </a:p>
        </p:txBody>
      </p:sp>
      <p:sp>
        <p:nvSpPr>
          <p:cNvPr id="41" name="Text 39"/>
          <p:cNvSpPr/>
          <p:nvPr/>
        </p:nvSpPr>
        <p:spPr>
          <a:xfrm>
            <a:off x="704088" y="5477256"/>
            <a:ext cx="3291840" cy="228600"/>
          </a:xfrm>
          <a:prstGeom prst="rect">
            <a:avLst/>
          </a:prstGeom>
          <a:noFill/>
          <a:ln/>
        </p:spPr>
        <p:txBody>
          <a:bodyPr wrap="square" lIns="0" tIns="0" rIns="0" bIns="0" rtlCol="0" anchor="t"/>
          <a:lstStyle/>
          <a:p>
            <a:pPr algn="l" indent="0" marL="0">
              <a:buNone/>
            </a:pPr>
            <a:r>
              <a:rPr lang="en-US" sz="1050" b="1" dirty="0">
                <a:solidFill>
                  <a:srgbClr val="1A2A25"/>
                </a:solidFill>
                <a:latin typeface="Cambria" pitchFamily="34" charset="0"/>
                <a:ea typeface="Cambria" pitchFamily="34" charset="-122"/>
                <a:cs typeface="Cambria" pitchFamily="34" charset="-120"/>
              </a:rPr>
              <a:t>H-05 · Delay de 5 s</a:t>
            </a:r>
            <a:endParaRPr lang="en-US" sz="1050" dirty="0"/>
          </a:p>
        </p:txBody>
      </p:sp>
      <p:sp>
        <p:nvSpPr>
          <p:cNvPr id="42" name="Text 40"/>
          <p:cNvSpPr/>
          <p:nvPr/>
        </p:nvSpPr>
        <p:spPr>
          <a:xfrm>
            <a:off x="704088" y="5733288"/>
            <a:ext cx="3291840" cy="274320"/>
          </a:xfrm>
          <a:prstGeom prst="rect">
            <a:avLst/>
          </a:prstGeom>
          <a:noFill/>
          <a:ln/>
        </p:spPr>
        <p:txBody>
          <a:bodyPr wrap="square" lIns="0" tIns="0" rIns="0" bIns="0" rtlCol="0" anchor="t"/>
          <a:lstStyle/>
          <a:p>
            <a:pPr algn="l" indent="0" marL="0">
              <a:lnSpc>
                <a:spcPts val="1000"/>
              </a:lnSpc>
              <a:buNone/>
            </a:pPr>
            <a:r>
              <a:rPr lang="en-US" sz="780" dirty="0">
                <a:solidFill>
                  <a:srgbClr val="5C6D67"/>
                </a:solidFill>
                <a:latin typeface="Calibri" pitchFamily="34" charset="0"/>
                <a:ea typeface="Calibri" pitchFamily="34" charset="-122"/>
                <a:cs typeface="Calibri" pitchFamily="34" charset="-120"/>
              </a:rPr>
              <a:t>middleware/delay.js:5 · aplicado a pacientes, exámenes y documentos.</a:t>
            </a:r>
            <a:endParaRPr lang="en-US" sz="780" dirty="0"/>
          </a:p>
        </p:txBody>
      </p:sp>
      <p:sp>
        <p:nvSpPr>
          <p:cNvPr id="43" name="Shape 41"/>
          <p:cNvSpPr/>
          <p:nvPr/>
        </p:nvSpPr>
        <p:spPr>
          <a:xfrm>
            <a:off x="4288536" y="5193792"/>
            <a:ext cx="3584448" cy="896112"/>
          </a:xfrm>
          <a:prstGeom prst="roundRect">
            <a:avLst>
              <a:gd name="adj" fmla="val 2551"/>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44" name="Text 42"/>
          <p:cNvSpPr/>
          <p:nvPr/>
        </p:nvSpPr>
        <p:spPr>
          <a:xfrm>
            <a:off x="4425696" y="5285232"/>
            <a:ext cx="1645920" cy="182880"/>
          </a:xfrm>
          <a:prstGeom prst="rect">
            <a:avLst/>
          </a:prstGeom>
          <a:noFill/>
          <a:ln/>
        </p:spPr>
        <p:txBody>
          <a:bodyPr wrap="square" lIns="0" tIns="0" rIns="0" bIns="0" rtlCol="0" anchor="t"/>
          <a:lstStyle/>
          <a:p>
            <a:pPr algn="l" indent="0" marL="0">
              <a:buNone/>
            </a:pPr>
            <a:r>
              <a:rPr lang="en-US" sz="660" b="1" spc="100" kern="0" dirty="0">
                <a:solidFill>
                  <a:srgbClr val="5C6D67"/>
                </a:solidFill>
                <a:latin typeface="Courier New" pitchFamily="34" charset="0"/>
                <a:ea typeface="Courier New" pitchFamily="34" charset="-122"/>
                <a:cs typeface="Courier New" pitchFamily="34" charset="-120"/>
              </a:rPr>
              <a:t>MODERADO</a:t>
            </a:r>
            <a:endParaRPr lang="en-US" sz="660" dirty="0"/>
          </a:p>
        </p:txBody>
      </p:sp>
      <p:sp>
        <p:nvSpPr>
          <p:cNvPr id="45" name="Text 43"/>
          <p:cNvSpPr/>
          <p:nvPr/>
        </p:nvSpPr>
        <p:spPr>
          <a:xfrm>
            <a:off x="4425696" y="5477256"/>
            <a:ext cx="3291840" cy="228600"/>
          </a:xfrm>
          <a:prstGeom prst="rect">
            <a:avLst/>
          </a:prstGeom>
          <a:noFill/>
          <a:ln/>
        </p:spPr>
        <p:txBody>
          <a:bodyPr wrap="square" lIns="0" tIns="0" rIns="0" bIns="0" rtlCol="0" anchor="t"/>
          <a:lstStyle/>
          <a:p>
            <a:pPr algn="l" indent="0" marL="0">
              <a:buNone/>
            </a:pPr>
            <a:r>
              <a:rPr lang="en-US" sz="1050" b="1" dirty="0">
                <a:solidFill>
                  <a:srgbClr val="1A2A25"/>
                </a:solidFill>
                <a:latin typeface="Cambria" pitchFamily="34" charset="0"/>
                <a:ea typeface="Cambria" pitchFamily="34" charset="-122"/>
                <a:cs typeface="Cambria" pitchFamily="34" charset="-120"/>
              </a:rPr>
              <a:t>H-06 · CORS abierto</a:t>
            </a:r>
            <a:endParaRPr lang="en-US" sz="1050" dirty="0"/>
          </a:p>
        </p:txBody>
      </p:sp>
      <p:sp>
        <p:nvSpPr>
          <p:cNvPr id="46" name="Text 44"/>
          <p:cNvSpPr/>
          <p:nvPr/>
        </p:nvSpPr>
        <p:spPr>
          <a:xfrm>
            <a:off x="4425696" y="5733288"/>
            <a:ext cx="3291840" cy="274320"/>
          </a:xfrm>
          <a:prstGeom prst="rect">
            <a:avLst/>
          </a:prstGeom>
          <a:noFill/>
          <a:ln/>
        </p:spPr>
        <p:txBody>
          <a:bodyPr wrap="square" lIns="0" tIns="0" rIns="0" bIns="0" rtlCol="0" anchor="t"/>
          <a:lstStyle/>
          <a:p>
            <a:pPr algn="l" indent="0" marL="0">
              <a:lnSpc>
                <a:spcPts val="1000"/>
              </a:lnSpc>
              <a:buNone/>
            </a:pPr>
            <a:r>
              <a:rPr lang="en-US" sz="780" dirty="0">
                <a:solidFill>
                  <a:srgbClr val="5C6D67"/>
                </a:solidFill>
                <a:latin typeface="Calibri" pitchFamily="34" charset="0"/>
                <a:ea typeface="Calibri" pitchFamily="34" charset="-122"/>
                <a:cs typeface="Calibri" pitchFamily="34" charset="-120"/>
              </a:rPr>
              <a:t>app.js:21 · cualquier origen puede llamar la API.</a:t>
            </a:r>
            <a:endParaRPr lang="en-US" sz="780" dirty="0"/>
          </a:p>
        </p:txBody>
      </p:sp>
      <p:sp>
        <p:nvSpPr>
          <p:cNvPr id="47" name="Shape 45"/>
          <p:cNvSpPr/>
          <p:nvPr/>
        </p:nvSpPr>
        <p:spPr>
          <a:xfrm>
            <a:off x="8010144" y="5193792"/>
            <a:ext cx="3584448" cy="896112"/>
          </a:xfrm>
          <a:prstGeom prst="roundRect">
            <a:avLst>
              <a:gd name="adj" fmla="val 2551"/>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48" name="Text 46"/>
          <p:cNvSpPr/>
          <p:nvPr/>
        </p:nvSpPr>
        <p:spPr>
          <a:xfrm>
            <a:off x="8147304" y="5285232"/>
            <a:ext cx="1645920" cy="182880"/>
          </a:xfrm>
          <a:prstGeom prst="rect">
            <a:avLst/>
          </a:prstGeom>
          <a:noFill/>
          <a:ln/>
        </p:spPr>
        <p:txBody>
          <a:bodyPr wrap="square" lIns="0" tIns="0" rIns="0" bIns="0" rtlCol="0" anchor="t"/>
          <a:lstStyle/>
          <a:p>
            <a:pPr algn="l" indent="0" marL="0">
              <a:buNone/>
            </a:pPr>
            <a:r>
              <a:rPr lang="en-US" sz="660" b="1" spc="100" kern="0" dirty="0">
                <a:solidFill>
                  <a:srgbClr val="5C6D67"/>
                </a:solidFill>
                <a:latin typeface="Courier New" pitchFamily="34" charset="0"/>
                <a:ea typeface="Courier New" pitchFamily="34" charset="-122"/>
                <a:cs typeface="Courier New" pitchFamily="34" charset="-120"/>
              </a:rPr>
              <a:t>LEVE</a:t>
            </a:r>
            <a:endParaRPr lang="en-US" sz="660" dirty="0"/>
          </a:p>
        </p:txBody>
      </p:sp>
      <p:sp>
        <p:nvSpPr>
          <p:cNvPr id="49" name="Text 47"/>
          <p:cNvSpPr/>
          <p:nvPr/>
        </p:nvSpPr>
        <p:spPr>
          <a:xfrm>
            <a:off x="8147304" y="5477256"/>
            <a:ext cx="3291840" cy="228600"/>
          </a:xfrm>
          <a:prstGeom prst="rect">
            <a:avLst/>
          </a:prstGeom>
          <a:noFill/>
          <a:ln/>
        </p:spPr>
        <p:txBody>
          <a:bodyPr wrap="square" lIns="0" tIns="0" rIns="0" bIns="0" rtlCol="0" anchor="t"/>
          <a:lstStyle/>
          <a:p>
            <a:pPr algn="l" indent="0" marL="0">
              <a:buNone/>
            </a:pPr>
            <a:r>
              <a:rPr lang="en-US" sz="1050" b="1" dirty="0">
                <a:solidFill>
                  <a:srgbClr val="1A2A25"/>
                </a:solidFill>
                <a:latin typeface="Cambria" pitchFamily="34" charset="0"/>
                <a:ea typeface="Cambria" pitchFamily="34" charset="-122"/>
                <a:cs typeface="Cambria" pitchFamily="34" charset="-120"/>
              </a:rPr>
              <a:t>H-07 · Errores internos expuestos</a:t>
            </a:r>
            <a:endParaRPr lang="en-US" sz="1050" dirty="0"/>
          </a:p>
        </p:txBody>
      </p:sp>
      <p:sp>
        <p:nvSpPr>
          <p:cNvPr id="50" name="Text 48"/>
          <p:cNvSpPr/>
          <p:nvPr/>
        </p:nvSpPr>
        <p:spPr>
          <a:xfrm>
            <a:off x="8147304" y="5733288"/>
            <a:ext cx="3291840" cy="274320"/>
          </a:xfrm>
          <a:prstGeom prst="rect">
            <a:avLst/>
          </a:prstGeom>
          <a:noFill/>
          <a:ln/>
        </p:spPr>
        <p:txBody>
          <a:bodyPr wrap="square" lIns="0" tIns="0" rIns="0" bIns="0" rtlCol="0" anchor="t"/>
          <a:lstStyle/>
          <a:p>
            <a:pPr algn="l" indent="0" marL="0">
              <a:lnSpc>
                <a:spcPts val="1000"/>
              </a:lnSpc>
              <a:buNone/>
            </a:pPr>
            <a:r>
              <a:rPr lang="en-US" sz="780" dirty="0">
                <a:solidFill>
                  <a:srgbClr val="5C6D67"/>
                </a:solidFill>
                <a:latin typeface="Calibri" pitchFamily="34" charset="0"/>
                <a:ea typeface="Calibri" pitchFamily="34" charset="-122"/>
                <a:cs typeface="Calibri" pitchFamily="34" charset="-120"/>
              </a:rPr>
              <a:t>auth.js:67 · documentos.js:115 · err.message en la respuesta.</a:t>
            </a:r>
            <a:endParaRPr lang="en-US" sz="7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566928" y="411480"/>
            <a:ext cx="77724" cy="77724"/>
          </a:xfrm>
          <a:prstGeom prst="rect">
            <a:avLst/>
          </a:prstGeom>
          <a:solidFill>
            <a:srgbClr val="C98A1E"/>
          </a:solidFill>
          <a:ln w="12700">
            <a:solidFill>
              <a:srgbClr val="C98A1E"/>
            </a:solidFill>
            <a:prstDash val="solid"/>
          </a:ln>
        </p:spPr>
      </p:sp>
      <p:sp>
        <p:nvSpPr>
          <p:cNvPr id="3" name="Text 1"/>
          <p:cNvSpPr/>
          <p:nvPr/>
        </p:nvSpPr>
        <p:spPr>
          <a:xfrm>
            <a:off x="731520" y="338328"/>
            <a:ext cx="9601200" cy="201168"/>
          </a:xfrm>
          <a:prstGeom prst="rect">
            <a:avLst/>
          </a:prstGeom>
          <a:noFill/>
          <a:ln/>
        </p:spPr>
        <p:txBody>
          <a:bodyPr wrap="square" lIns="0" tIns="0" rIns="0" bIns="0" rtlCol="0" anchor="t"/>
          <a:lstStyle/>
          <a:p>
            <a:pPr algn="l" indent="0" marL="0">
              <a:buNone/>
            </a:pPr>
            <a:r>
              <a:rPr lang="en-US" sz="800" b="1" spc="130" kern="0" dirty="0">
                <a:solidFill>
                  <a:srgbClr val="5C6D67"/>
                </a:solidFill>
                <a:latin typeface="Courier New" pitchFamily="34" charset="0"/>
                <a:ea typeface="Courier New" pitchFamily="34" charset="-122"/>
                <a:cs typeface="Courier New" pitchFamily="34" charset="-120"/>
              </a:rPr>
              <a:t>09 · ANÁLISIS ESTÁTICO</a:t>
            </a:r>
            <a:endParaRPr lang="en-US" sz="800" dirty="0"/>
          </a:p>
        </p:txBody>
      </p:sp>
      <p:sp>
        <p:nvSpPr>
          <p:cNvPr id="4" name="Text 2"/>
          <p:cNvSpPr/>
          <p:nvPr/>
        </p:nvSpPr>
        <p:spPr>
          <a:xfrm>
            <a:off x="566928" y="640080"/>
            <a:ext cx="11057839" cy="941832"/>
          </a:xfrm>
          <a:prstGeom prst="rect">
            <a:avLst/>
          </a:prstGeom>
          <a:noFill/>
          <a:ln/>
        </p:spPr>
        <p:txBody>
          <a:bodyPr wrap="square" lIns="0" tIns="0" rIns="0" bIns="0" rtlCol="0" anchor="t"/>
          <a:lstStyle/>
          <a:p>
            <a:pPr algn="l" indent="0" marL="0">
              <a:lnSpc>
                <a:spcPts val="3100"/>
              </a:lnSpc>
              <a:buNone/>
            </a:pPr>
            <a:r>
              <a:rPr lang="en-US" sz="2600" b="1" dirty="0">
                <a:solidFill>
                  <a:srgbClr val="1A2A25"/>
                </a:solidFill>
                <a:latin typeface="Cambria" pitchFamily="34" charset="0"/>
                <a:ea typeface="Cambria" pitchFamily="34" charset="-122"/>
                <a:cs typeface="Cambria" pitchFamily="34" charset="-120"/>
              </a:rPr>
              <a:t>El Quality Gate está en verde; el cumplimiento legal no</a:t>
            </a:r>
            <a:endParaRPr lang="en-US" sz="2600" dirty="0"/>
          </a:p>
        </p:txBody>
      </p:sp>
      <p:sp>
        <p:nvSpPr>
          <p:cNvPr id="5" name="Text 3"/>
          <p:cNvSpPr/>
          <p:nvPr/>
        </p:nvSpPr>
        <p:spPr>
          <a:xfrm>
            <a:off x="566928" y="6547104"/>
            <a:ext cx="5943600" cy="182880"/>
          </a:xfrm>
          <a:prstGeom prst="rect">
            <a:avLst/>
          </a:prstGeom>
          <a:noFill/>
          <a:ln/>
        </p:spPr>
        <p:txBody>
          <a:bodyPr wrap="square" lIns="0" tIns="0" rIns="0" bIns="0" rtlCol="0" anchor="t"/>
          <a:lstStyle/>
          <a:p>
            <a:pPr algn="l" indent="0" marL="0">
              <a:buNone/>
            </a:pPr>
            <a:r>
              <a:rPr lang="en-US" sz="730" spc="60" kern="0" dirty="0">
                <a:solidFill>
                  <a:srgbClr val="8A9A94"/>
                </a:solidFill>
                <a:latin typeface="Courier New" pitchFamily="34" charset="0"/>
                <a:ea typeface="Courier New" pitchFamily="34" charset="-122"/>
                <a:cs typeface="Courier New" pitchFamily="34" charset="-120"/>
              </a:rPr>
              <a:t>Cuidarte+ · Auditoría de calidad y seguridad</a:t>
            </a:r>
            <a:endParaRPr lang="en-US" sz="730" dirty="0"/>
          </a:p>
        </p:txBody>
      </p:sp>
      <p:sp>
        <p:nvSpPr>
          <p:cNvPr id="6" name="Text 4"/>
          <p:cNvSpPr/>
          <p:nvPr/>
        </p:nvSpPr>
        <p:spPr>
          <a:xfrm>
            <a:off x="10561320" y="6547104"/>
            <a:ext cx="1060704" cy="182880"/>
          </a:xfrm>
          <a:prstGeom prst="rect">
            <a:avLst/>
          </a:prstGeom>
          <a:noFill/>
          <a:ln/>
        </p:spPr>
        <p:txBody>
          <a:bodyPr wrap="square" lIns="0" tIns="0" rIns="0" bIns="0" rtlCol="0" anchor="t"/>
          <a:lstStyle/>
          <a:p>
            <a:pPr algn="r" indent="0" marL="0">
              <a:buNone/>
            </a:pPr>
            <a:r>
              <a:rPr lang="en-US" sz="730" spc="60" kern="0" dirty="0">
                <a:solidFill>
                  <a:srgbClr val="8A9A94"/>
                </a:solidFill>
                <a:latin typeface="Courier New" pitchFamily="34" charset="0"/>
                <a:ea typeface="Courier New" pitchFamily="34" charset="-122"/>
                <a:cs typeface="Courier New" pitchFamily="34" charset="-120"/>
              </a:rPr>
              <a:t>10 / 17</a:t>
            </a:r>
            <a:endParaRPr lang="en-US" sz="730" dirty="0"/>
          </a:p>
        </p:txBody>
      </p:sp>
      <p:sp>
        <p:nvSpPr>
          <p:cNvPr id="7" name="Shape 5"/>
          <p:cNvSpPr/>
          <p:nvPr/>
        </p:nvSpPr>
        <p:spPr>
          <a:xfrm>
            <a:off x="566928" y="1664208"/>
            <a:ext cx="1828800" cy="914400"/>
          </a:xfrm>
          <a:prstGeom prst="roundRect">
            <a:avLst>
              <a:gd name="adj" fmla="val 2500"/>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8" name="Text 6"/>
          <p:cNvSpPr/>
          <p:nvPr/>
        </p:nvSpPr>
        <p:spPr>
          <a:xfrm>
            <a:off x="694944" y="1801368"/>
            <a:ext cx="1572768" cy="347472"/>
          </a:xfrm>
          <a:prstGeom prst="rect">
            <a:avLst/>
          </a:prstGeom>
          <a:noFill/>
          <a:ln/>
        </p:spPr>
        <p:txBody>
          <a:bodyPr wrap="square" lIns="0" tIns="0" rIns="0" bIns="0" rtlCol="0" anchor="t"/>
          <a:lstStyle/>
          <a:p>
            <a:pPr algn="l" indent="0" marL="0">
              <a:buNone/>
            </a:pPr>
            <a:r>
              <a:rPr lang="en-US" sz="2200" b="1" dirty="0">
                <a:solidFill>
                  <a:srgbClr val="123B33"/>
                </a:solidFill>
                <a:latin typeface="Cambria" pitchFamily="34" charset="0"/>
                <a:ea typeface="Cambria" pitchFamily="34" charset="-122"/>
                <a:cs typeface="Cambria" pitchFamily="34" charset="-120"/>
              </a:rPr>
              <a:t>QG OK</a:t>
            </a:r>
            <a:endParaRPr lang="en-US" sz="2200" dirty="0"/>
          </a:p>
        </p:txBody>
      </p:sp>
      <p:sp>
        <p:nvSpPr>
          <p:cNvPr id="9" name="Text 7"/>
          <p:cNvSpPr/>
          <p:nvPr/>
        </p:nvSpPr>
        <p:spPr>
          <a:xfrm>
            <a:off x="694944" y="2231136"/>
            <a:ext cx="1572768" cy="182880"/>
          </a:xfrm>
          <a:prstGeom prst="rect">
            <a:avLst/>
          </a:prstGeom>
          <a:noFill/>
          <a:ln/>
        </p:spPr>
        <p:txBody>
          <a:bodyPr wrap="square" lIns="0" tIns="0" rIns="0" bIns="0" rtlCol="0" anchor="t"/>
          <a:lstStyle/>
          <a:p>
            <a:pPr algn="l" indent="0" marL="0">
              <a:buNone/>
            </a:pPr>
            <a:r>
              <a:rPr lang="en-US" sz="800" dirty="0">
                <a:solidFill>
                  <a:srgbClr val="5C6D67"/>
                </a:solidFill>
                <a:latin typeface="Calibri" pitchFamily="34" charset="0"/>
                <a:ea typeface="Calibri" pitchFamily="34" charset="-122"/>
                <a:cs typeface="Calibri" pitchFamily="34" charset="-120"/>
              </a:rPr>
              <a:t>Quality Gate</a:t>
            </a:r>
            <a:endParaRPr lang="en-US" sz="800" dirty="0"/>
          </a:p>
        </p:txBody>
      </p:sp>
      <p:sp>
        <p:nvSpPr>
          <p:cNvPr id="10" name="Shape 8"/>
          <p:cNvSpPr/>
          <p:nvPr/>
        </p:nvSpPr>
        <p:spPr>
          <a:xfrm>
            <a:off x="2523744" y="1664208"/>
            <a:ext cx="1828800" cy="914400"/>
          </a:xfrm>
          <a:prstGeom prst="roundRect">
            <a:avLst>
              <a:gd name="adj" fmla="val 2500"/>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11" name="Text 9"/>
          <p:cNvSpPr/>
          <p:nvPr/>
        </p:nvSpPr>
        <p:spPr>
          <a:xfrm>
            <a:off x="2651760" y="1801368"/>
            <a:ext cx="1572768" cy="347472"/>
          </a:xfrm>
          <a:prstGeom prst="rect">
            <a:avLst/>
          </a:prstGeom>
          <a:noFill/>
          <a:ln/>
        </p:spPr>
        <p:txBody>
          <a:bodyPr wrap="square" lIns="0" tIns="0" rIns="0" bIns="0" rtlCol="0" anchor="t"/>
          <a:lstStyle/>
          <a:p>
            <a:pPr algn="l" indent="0" marL="0">
              <a:buNone/>
            </a:pPr>
            <a:r>
              <a:rPr lang="en-US" sz="2200" b="1" dirty="0">
                <a:solidFill>
                  <a:srgbClr val="123B33"/>
                </a:solidFill>
                <a:latin typeface="Cambria" pitchFamily="34" charset="0"/>
                <a:ea typeface="Cambria" pitchFamily="34" charset="-122"/>
                <a:cs typeface="Cambria" pitchFamily="34" charset="-120"/>
              </a:rPr>
              <a:t>0</a:t>
            </a:r>
            <a:endParaRPr lang="en-US" sz="2200" dirty="0"/>
          </a:p>
        </p:txBody>
      </p:sp>
      <p:sp>
        <p:nvSpPr>
          <p:cNvPr id="12" name="Text 10"/>
          <p:cNvSpPr/>
          <p:nvPr/>
        </p:nvSpPr>
        <p:spPr>
          <a:xfrm>
            <a:off x="2651760" y="2231136"/>
            <a:ext cx="1572768" cy="182880"/>
          </a:xfrm>
          <a:prstGeom prst="rect">
            <a:avLst/>
          </a:prstGeom>
          <a:noFill/>
          <a:ln/>
        </p:spPr>
        <p:txBody>
          <a:bodyPr wrap="square" lIns="0" tIns="0" rIns="0" bIns="0" rtlCol="0" anchor="t"/>
          <a:lstStyle/>
          <a:p>
            <a:pPr algn="l" indent="0" marL="0">
              <a:buNone/>
            </a:pPr>
            <a:r>
              <a:rPr lang="en-US" sz="800" dirty="0">
                <a:solidFill>
                  <a:srgbClr val="5C6D67"/>
                </a:solidFill>
                <a:latin typeface="Calibri" pitchFamily="34" charset="0"/>
                <a:ea typeface="Calibri" pitchFamily="34" charset="-122"/>
                <a:cs typeface="Calibri" pitchFamily="34" charset="-120"/>
              </a:rPr>
              <a:t>vulnerabilidades</a:t>
            </a:r>
            <a:endParaRPr lang="en-US" sz="800" dirty="0"/>
          </a:p>
        </p:txBody>
      </p:sp>
      <p:sp>
        <p:nvSpPr>
          <p:cNvPr id="13" name="Shape 11"/>
          <p:cNvSpPr/>
          <p:nvPr/>
        </p:nvSpPr>
        <p:spPr>
          <a:xfrm>
            <a:off x="4480560" y="1664208"/>
            <a:ext cx="1828800" cy="914400"/>
          </a:xfrm>
          <a:prstGeom prst="roundRect">
            <a:avLst>
              <a:gd name="adj" fmla="val 2500"/>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14" name="Text 12"/>
          <p:cNvSpPr/>
          <p:nvPr/>
        </p:nvSpPr>
        <p:spPr>
          <a:xfrm>
            <a:off x="4608576" y="1801368"/>
            <a:ext cx="1572768" cy="347472"/>
          </a:xfrm>
          <a:prstGeom prst="rect">
            <a:avLst/>
          </a:prstGeom>
          <a:noFill/>
          <a:ln/>
        </p:spPr>
        <p:txBody>
          <a:bodyPr wrap="square" lIns="0" tIns="0" rIns="0" bIns="0" rtlCol="0" anchor="t"/>
          <a:lstStyle/>
          <a:p>
            <a:pPr algn="l" indent="0" marL="0">
              <a:buNone/>
            </a:pPr>
            <a:r>
              <a:rPr lang="en-US" sz="2200" b="1" dirty="0">
                <a:solidFill>
                  <a:srgbClr val="1A2A25"/>
                </a:solidFill>
                <a:latin typeface="Cambria" pitchFamily="34" charset="0"/>
                <a:ea typeface="Cambria" pitchFamily="34" charset="-122"/>
                <a:cs typeface="Cambria" pitchFamily="34" charset="-120"/>
              </a:rPr>
              <a:t>73</a:t>
            </a:r>
            <a:endParaRPr lang="en-US" sz="2200" dirty="0"/>
          </a:p>
        </p:txBody>
      </p:sp>
      <p:sp>
        <p:nvSpPr>
          <p:cNvPr id="15" name="Text 13"/>
          <p:cNvSpPr/>
          <p:nvPr/>
        </p:nvSpPr>
        <p:spPr>
          <a:xfrm>
            <a:off x="4608576" y="2231136"/>
            <a:ext cx="1572768" cy="182880"/>
          </a:xfrm>
          <a:prstGeom prst="rect">
            <a:avLst/>
          </a:prstGeom>
          <a:noFill/>
          <a:ln/>
        </p:spPr>
        <p:txBody>
          <a:bodyPr wrap="square" lIns="0" tIns="0" rIns="0" bIns="0" rtlCol="0" anchor="t"/>
          <a:lstStyle/>
          <a:p>
            <a:pPr algn="l" indent="0" marL="0">
              <a:buNone/>
            </a:pPr>
            <a:r>
              <a:rPr lang="en-US" sz="800" dirty="0">
                <a:solidFill>
                  <a:srgbClr val="5C6D67"/>
                </a:solidFill>
                <a:latin typeface="Calibri" pitchFamily="34" charset="0"/>
                <a:ea typeface="Calibri" pitchFamily="34" charset="-122"/>
                <a:cs typeface="Calibri" pitchFamily="34" charset="-120"/>
              </a:rPr>
              <a:t>issues</a:t>
            </a:r>
            <a:endParaRPr lang="en-US" sz="800" dirty="0"/>
          </a:p>
        </p:txBody>
      </p:sp>
      <p:sp>
        <p:nvSpPr>
          <p:cNvPr id="16" name="Shape 14"/>
          <p:cNvSpPr/>
          <p:nvPr/>
        </p:nvSpPr>
        <p:spPr>
          <a:xfrm>
            <a:off x="566928" y="2688336"/>
            <a:ext cx="1828800" cy="914400"/>
          </a:xfrm>
          <a:prstGeom prst="roundRect">
            <a:avLst>
              <a:gd name="adj" fmla="val 2500"/>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17" name="Text 15"/>
          <p:cNvSpPr/>
          <p:nvPr/>
        </p:nvSpPr>
        <p:spPr>
          <a:xfrm>
            <a:off x="694944" y="2825496"/>
            <a:ext cx="1572768" cy="347472"/>
          </a:xfrm>
          <a:prstGeom prst="rect">
            <a:avLst/>
          </a:prstGeom>
          <a:noFill/>
          <a:ln/>
        </p:spPr>
        <p:txBody>
          <a:bodyPr wrap="square" lIns="0" tIns="0" rIns="0" bIns="0" rtlCol="0" anchor="t"/>
          <a:lstStyle/>
          <a:p>
            <a:pPr algn="l" indent="0" marL="0">
              <a:buNone/>
            </a:pPr>
            <a:r>
              <a:rPr lang="en-US" sz="2200" b="1" dirty="0">
                <a:solidFill>
                  <a:srgbClr val="B23A2F"/>
                </a:solidFill>
                <a:latin typeface="Cambria" pitchFamily="34" charset="0"/>
                <a:ea typeface="Cambria" pitchFamily="34" charset="-122"/>
                <a:cs typeface="Cambria" pitchFamily="34" charset="-120"/>
              </a:rPr>
              <a:t>8</a:t>
            </a:r>
            <a:endParaRPr lang="en-US" sz="2200" dirty="0"/>
          </a:p>
        </p:txBody>
      </p:sp>
      <p:sp>
        <p:nvSpPr>
          <p:cNvPr id="18" name="Text 16"/>
          <p:cNvSpPr/>
          <p:nvPr/>
        </p:nvSpPr>
        <p:spPr>
          <a:xfrm>
            <a:off x="694944" y="3255264"/>
            <a:ext cx="1572768" cy="182880"/>
          </a:xfrm>
          <a:prstGeom prst="rect">
            <a:avLst/>
          </a:prstGeom>
          <a:noFill/>
          <a:ln/>
        </p:spPr>
        <p:txBody>
          <a:bodyPr wrap="square" lIns="0" tIns="0" rIns="0" bIns="0" rtlCol="0" anchor="t"/>
          <a:lstStyle/>
          <a:p>
            <a:pPr algn="l" indent="0" marL="0">
              <a:buNone/>
            </a:pPr>
            <a:r>
              <a:rPr lang="en-US" sz="800" dirty="0">
                <a:solidFill>
                  <a:srgbClr val="5C6D67"/>
                </a:solidFill>
                <a:latin typeface="Calibri" pitchFamily="34" charset="0"/>
                <a:ea typeface="Calibri" pitchFamily="34" charset="-122"/>
                <a:cs typeface="Calibri" pitchFamily="34" charset="-120"/>
              </a:rPr>
              <a:t>críticos</a:t>
            </a:r>
            <a:endParaRPr lang="en-US" sz="800" dirty="0"/>
          </a:p>
        </p:txBody>
      </p:sp>
      <p:sp>
        <p:nvSpPr>
          <p:cNvPr id="19" name="Shape 17"/>
          <p:cNvSpPr/>
          <p:nvPr/>
        </p:nvSpPr>
        <p:spPr>
          <a:xfrm>
            <a:off x="2523744" y="2688336"/>
            <a:ext cx="1828800" cy="914400"/>
          </a:xfrm>
          <a:prstGeom prst="roundRect">
            <a:avLst>
              <a:gd name="adj" fmla="val 2500"/>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20" name="Text 18"/>
          <p:cNvSpPr/>
          <p:nvPr/>
        </p:nvSpPr>
        <p:spPr>
          <a:xfrm>
            <a:off x="2651760" y="2825496"/>
            <a:ext cx="1572768" cy="347472"/>
          </a:xfrm>
          <a:prstGeom prst="rect">
            <a:avLst/>
          </a:prstGeom>
          <a:noFill/>
          <a:ln/>
        </p:spPr>
        <p:txBody>
          <a:bodyPr wrap="square" lIns="0" tIns="0" rIns="0" bIns="0" rtlCol="0" anchor="t"/>
          <a:lstStyle/>
          <a:p>
            <a:pPr algn="l" indent="0" marL="0">
              <a:buNone/>
            </a:pPr>
            <a:r>
              <a:rPr lang="en-US" sz="2200" b="1" dirty="0">
                <a:solidFill>
                  <a:srgbClr val="8A5E0F"/>
                </a:solidFill>
                <a:latin typeface="Cambria" pitchFamily="34" charset="0"/>
                <a:ea typeface="Cambria" pitchFamily="34" charset="-122"/>
                <a:cs typeface="Cambria" pitchFamily="34" charset="-120"/>
              </a:rPr>
              <a:t>0,0%</a:t>
            </a:r>
            <a:endParaRPr lang="en-US" sz="2200" dirty="0"/>
          </a:p>
        </p:txBody>
      </p:sp>
      <p:sp>
        <p:nvSpPr>
          <p:cNvPr id="21" name="Text 19"/>
          <p:cNvSpPr/>
          <p:nvPr/>
        </p:nvSpPr>
        <p:spPr>
          <a:xfrm>
            <a:off x="2651760" y="3255264"/>
            <a:ext cx="1572768" cy="182880"/>
          </a:xfrm>
          <a:prstGeom prst="rect">
            <a:avLst/>
          </a:prstGeom>
          <a:noFill/>
          <a:ln/>
        </p:spPr>
        <p:txBody>
          <a:bodyPr wrap="square" lIns="0" tIns="0" rIns="0" bIns="0" rtlCol="0" anchor="t"/>
          <a:lstStyle/>
          <a:p>
            <a:pPr algn="l" indent="0" marL="0">
              <a:buNone/>
            </a:pPr>
            <a:r>
              <a:rPr lang="en-US" sz="800" dirty="0">
                <a:solidFill>
                  <a:srgbClr val="5C6D67"/>
                </a:solidFill>
                <a:latin typeface="Calibri" pitchFamily="34" charset="0"/>
                <a:ea typeface="Calibri" pitchFamily="34" charset="-122"/>
                <a:cs typeface="Calibri" pitchFamily="34" charset="-120"/>
              </a:rPr>
              <a:t>cobertura</a:t>
            </a:r>
            <a:endParaRPr lang="en-US" sz="800" dirty="0"/>
          </a:p>
        </p:txBody>
      </p:sp>
      <p:sp>
        <p:nvSpPr>
          <p:cNvPr id="22" name="Shape 20"/>
          <p:cNvSpPr/>
          <p:nvPr/>
        </p:nvSpPr>
        <p:spPr>
          <a:xfrm>
            <a:off x="4480560" y="2688336"/>
            <a:ext cx="1828800" cy="914400"/>
          </a:xfrm>
          <a:prstGeom prst="roundRect">
            <a:avLst>
              <a:gd name="adj" fmla="val 2500"/>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23" name="Text 21"/>
          <p:cNvSpPr/>
          <p:nvPr/>
        </p:nvSpPr>
        <p:spPr>
          <a:xfrm>
            <a:off x="4608576" y="2825496"/>
            <a:ext cx="1572768" cy="347472"/>
          </a:xfrm>
          <a:prstGeom prst="rect">
            <a:avLst/>
          </a:prstGeom>
          <a:noFill/>
          <a:ln/>
        </p:spPr>
        <p:txBody>
          <a:bodyPr wrap="square" lIns="0" tIns="0" rIns="0" bIns="0" rtlCol="0" anchor="t"/>
          <a:lstStyle/>
          <a:p>
            <a:pPr algn="l" indent="0" marL="0">
              <a:buNone/>
            </a:pPr>
            <a:r>
              <a:rPr lang="en-US" sz="2200" b="1" dirty="0">
                <a:solidFill>
                  <a:srgbClr val="1A2A25"/>
                </a:solidFill>
                <a:latin typeface="Cambria" pitchFamily="34" charset="0"/>
                <a:ea typeface="Cambria" pitchFamily="34" charset="-122"/>
                <a:cs typeface="Cambria" pitchFamily="34" charset="-120"/>
              </a:rPr>
              <a:t>465</a:t>
            </a:r>
            <a:endParaRPr lang="en-US" sz="2200" dirty="0"/>
          </a:p>
        </p:txBody>
      </p:sp>
      <p:sp>
        <p:nvSpPr>
          <p:cNvPr id="24" name="Text 22"/>
          <p:cNvSpPr/>
          <p:nvPr/>
        </p:nvSpPr>
        <p:spPr>
          <a:xfrm>
            <a:off x="4608576" y="3255264"/>
            <a:ext cx="1572768" cy="182880"/>
          </a:xfrm>
          <a:prstGeom prst="rect">
            <a:avLst/>
          </a:prstGeom>
          <a:noFill/>
          <a:ln/>
        </p:spPr>
        <p:txBody>
          <a:bodyPr wrap="square" lIns="0" tIns="0" rIns="0" bIns="0" rtlCol="0" anchor="t"/>
          <a:lstStyle/>
          <a:p>
            <a:pPr algn="l" indent="0" marL="0">
              <a:buNone/>
            </a:pPr>
            <a:r>
              <a:rPr lang="en-US" sz="800" dirty="0">
                <a:solidFill>
                  <a:srgbClr val="5C6D67"/>
                </a:solidFill>
                <a:latin typeface="Calibri" pitchFamily="34" charset="0"/>
                <a:ea typeface="Calibri" pitchFamily="34" charset="-122"/>
                <a:cs typeface="Calibri" pitchFamily="34" charset="-120"/>
              </a:rPr>
              <a:t>min de deuda</a:t>
            </a:r>
            <a:endParaRPr lang="en-US" sz="800" dirty="0"/>
          </a:p>
        </p:txBody>
      </p:sp>
      <p:sp>
        <p:nvSpPr>
          <p:cNvPr id="25" name="Shape 23"/>
          <p:cNvSpPr/>
          <p:nvPr/>
        </p:nvSpPr>
        <p:spPr>
          <a:xfrm>
            <a:off x="6400800" y="1627632"/>
            <a:ext cx="5221224" cy="2331720"/>
          </a:xfrm>
          <a:prstGeom prst="roundRect">
            <a:avLst>
              <a:gd name="adj" fmla="val 980"/>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26" name="Text 24"/>
          <p:cNvSpPr/>
          <p:nvPr/>
        </p:nvSpPr>
        <p:spPr>
          <a:xfrm>
            <a:off x="6547104" y="1737360"/>
            <a:ext cx="3108960" cy="182880"/>
          </a:xfrm>
          <a:prstGeom prst="rect">
            <a:avLst/>
          </a:prstGeom>
          <a:noFill/>
          <a:ln/>
        </p:spPr>
        <p:txBody>
          <a:bodyPr wrap="square" lIns="0" tIns="0" rIns="0" bIns="0" rtlCol="0" anchor="t"/>
          <a:lstStyle/>
          <a:p>
            <a:pPr algn="l" indent="0" marL="0">
              <a:buNone/>
            </a:pPr>
            <a:r>
              <a:rPr lang="en-US" sz="710" b="1" spc="120" kern="0" dirty="0">
                <a:solidFill>
                  <a:srgbClr val="5C6D67"/>
                </a:solidFill>
                <a:latin typeface="Courier New" pitchFamily="34" charset="0"/>
                <a:ea typeface="Courier New" pitchFamily="34" charset="-122"/>
                <a:cs typeface="Courier New" pitchFamily="34" charset="-120"/>
              </a:rPr>
              <a:t>ISSUES POR SEVERIDAD</a:t>
            </a:r>
            <a:endParaRPr lang="en-US" sz="710" dirty="0"/>
          </a:p>
        </p:txBody>
      </p:sp>
      <p:graphicFrame>
        <p:nvGraphicFramePr>
          <p:cNvPr id="27" name="Chart 0" descr=""/>
          <p:cNvGraphicFramePr/>
          <p:nvPr/>
        </p:nvGraphicFramePr>
        <p:xfrm>
          <a:off x="6510528" y="1938528"/>
          <a:ext cx="4983480" cy="187452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66928" y="4133088"/>
          <a:ext cx="11055096" cy="914400"/>
        </p:xfrm>
        <a:graphic>
          <a:graphicData uri="http://schemas.openxmlformats.org/drawingml/2006/table">
            <a:tbl>
              <a:tblPr/>
              <a:tblGrid>
                <a:gridCol w="1417320"/>
                <a:gridCol w="2743200"/>
                <a:gridCol w="6894576"/>
              </a:tblGrid>
              <a:tr h="356616">
                <a:tc>
                  <a:txBody>
                    <a:bodyPr/>
                    <a:lstStyle/>
                    <a:p>
                      <a:pPr indent="0" marL="0">
                        <a:buNone/>
                      </a:pPr>
                      <a:r>
                        <a:rPr lang="en-US" sz="800" b="1" dirty="0">
                          <a:solidFill>
                            <a:srgbClr val="FFFFFF"/>
                          </a:solidFill>
                          <a:latin typeface="Courier New" pitchFamily="34" charset="0"/>
                          <a:ea typeface="Courier New" pitchFamily="34" charset="-122"/>
                          <a:cs typeface="Courier New" pitchFamily="34" charset="-120"/>
                        </a:rPr>
                        <a:t>Hallazgo</a:t>
                      </a:r>
                      <a:endParaRPr lang="en-US" sz="80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Norma</a:t>
                      </a:r>
                      <a:endParaRPr lang="en-US" sz="80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c>
                  <a:txBody>
                    <a:bodyPr/>
                    <a:lstStyle/>
                    <a:p>
                      <a:pPr indent="0" marL="0">
                        <a:buNone/>
                      </a:pPr>
                      <a:r>
                        <a:rPr lang="en-US" sz="800" b="1" dirty="0">
                          <a:solidFill>
                            <a:srgbClr val="FFFFFF"/>
                          </a:solidFill>
                          <a:latin typeface="Calibri" pitchFamily="34" charset="0"/>
                          <a:ea typeface="Calibri" pitchFamily="34" charset="-122"/>
                          <a:cs typeface="Calibri" pitchFamily="34" charset="-120"/>
                        </a:rPr>
                        <a:t>Por qué es un incumplimiento</a:t>
                      </a:r>
                      <a:endParaRPr lang="en-US" sz="80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r>
              <a:tr h="356616">
                <a:tc>
                  <a:txBody>
                    <a:bodyPr/>
                    <a:lstStyle/>
                    <a:p>
                      <a:pPr indent="0" marL="0">
                        <a:buNone/>
                      </a:pPr>
                      <a:r>
                        <a:rPr lang="en-US" sz="820" b="1" dirty="0">
                          <a:solidFill>
                            <a:srgbClr val="1A2A25"/>
                          </a:solidFill>
                          <a:latin typeface="Courier New" pitchFamily="34" charset="0"/>
                          <a:ea typeface="Courier New" pitchFamily="34" charset="-122"/>
                          <a:cs typeface="Courier New" pitchFamily="34" charset="-120"/>
                        </a:rPr>
                        <a:t>H-01 / H-02</a:t>
                      </a:r>
                      <a:endParaRPr lang="en-US" sz="82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20" dirty="0">
                          <a:solidFill>
                            <a:srgbClr val="1A2A25"/>
                          </a:solidFill>
                          <a:latin typeface="Calibri" pitchFamily="34" charset="0"/>
                          <a:ea typeface="Calibri" pitchFamily="34" charset="-122"/>
                          <a:cs typeface="Calibri" pitchFamily="34" charset="-120"/>
                        </a:rPr>
                        <a:t>OWASP A02/A07 · Ley 19.628</a:t>
                      </a:r>
                      <a:endParaRPr lang="en-US" sz="82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20" dirty="0">
                          <a:solidFill>
                            <a:srgbClr val="1A2A25"/>
                          </a:solidFill>
                          <a:latin typeface="Calibri" pitchFamily="34" charset="0"/>
                          <a:ea typeface="Calibri" pitchFamily="34" charset="-122"/>
                          <a:cs typeface="Calibri" pitchFamily="34" charset="-120"/>
                        </a:rPr>
                        <a:t>Credenciales y sesiones sin protección suficiente para datos sensibles de salud.</a:t>
                      </a:r>
                      <a:endParaRPr lang="en-US" sz="82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356616">
                <a:tc>
                  <a:txBody>
                    <a:bodyPr/>
                    <a:lstStyle/>
                    <a:p>
                      <a:pPr indent="0" marL="0">
                        <a:buNone/>
                      </a:pPr>
                      <a:r>
                        <a:rPr lang="en-US" sz="820" b="1" dirty="0">
                          <a:solidFill>
                            <a:srgbClr val="1A2A25"/>
                          </a:solidFill>
                          <a:latin typeface="Courier New" pitchFamily="34" charset="0"/>
                          <a:ea typeface="Courier New" pitchFamily="34" charset="-122"/>
                          <a:cs typeface="Courier New" pitchFamily="34" charset="-120"/>
                        </a:rPr>
                        <a:t>H-03</a:t>
                      </a:r>
                      <a:endParaRPr lang="en-US" sz="82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20" dirty="0">
                          <a:solidFill>
                            <a:srgbClr val="1A2A25"/>
                          </a:solidFill>
                          <a:latin typeface="Calibri" pitchFamily="34" charset="0"/>
                          <a:ea typeface="Calibri" pitchFamily="34" charset="-122"/>
                          <a:cs typeface="Calibri" pitchFamily="34" charset="-120"/>
                        </a:rPr>
                        <a:t>Ley 20.584</a:t>
                      </a:r>
                      <a:endParaRPr lang="en-US" sz="82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20" dirty="0">
                          <a:solidFill>
                            <a:srgbClr val="1A2A25"/>
                          </a:solidFill>
                          <a:latin typeface="Calibri" pitchFamily="34" charset="0"/>
                          <a:ea typeface="Calibri" pitchFamily="34" charset="-122"/>
                          <a:cs typeface="Calibri" pitchFamily="34" charset="-120"/>
                        </a:rPr>
                        <a:t>La ficha clínica se identifica con un RUT que puede ser inválido.</a:t>
                      </a:r>
                      <a:endParaRPr lang="en-US" sz="82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356616">
                <a:tc>
                  <a:txBody>
                    <a:bodyPr/>
                    <a:lstStyle/>
                    <a:p>
                      <a:pPr indent="0" marL="0">
                        <a:buNone/>
                      </a:pPr>
                      <a:r>
                        <a:rPr lang="en-US" sz="820" b="1" dirty="0">
                          <a:solidFill>
                            <a:srgbClr val="1A2A25"/>
                          </a:solidFill>
                          <a:latin typeface="Courier New" pitchFamily="34" charset="0"/>
                          <a:ea typeface="Courier New" pitchFamily="34" charset="-122"/>
                          <a:cs typeface="Courier New" pitchFamily="34" charset="-120"/>
                        </a:rPr>
                        <a:t>H-04</a:t>
                      </a:r>
                      <a:endParaRPr lang="en-US" sz="82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20" dirty="0">
                          <a:solidFill>
                            <a:srgbClr val="1A2A25"/>
                          </a:solidFill>
                          <a:latin typeface="Calibri" pitchFamily="34" charset="0"/>
                          <a:ea typeface="Calibri" pitchFamily="34" charset="-122"/>
                          <a:cs typeface="Calibri" pitchFamily="34" charset="-120"/>
                        </a:rPr>
                        <a:t>OWASP A01 · Ley 19.628</a:t>
                      </a:r>
                      <a:endParaRPr lang="en-US" sz="82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20" dirty="0">
                          <a:solidFill>
                            <a:srgbClr val="1A2A25"/>
                          </a:solidFill>
                          <a:latin typeface="Calibri" pitchFamily="34" charset="0"/>
                          <a:ea typeface="Calibri" pitchFamily="34" charset="-122"/>
                          <a:cs typeface="Calibri" pitchFamily="34" charset="-120"/>
                        </a:rPr>
                        <a:t>Documentos clínicos accesibles sin control de acceso.</a:t>
                      </a:r>
                      <a:endParaRPr lang="en-US" sz="82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356616">
                <a:tc>
                  <a:txBody>
                    <a:bodyPr/>
                    <a:lstStyle/>
                    <a:p>
                      <a:pPr indent="0" marL="0">
                        <a:buNone/>
                      </a:pPr>
                      <a:r>
                        <a:rPr lang="en-US" sz="820" b="1" dirty="0">
                          <a:solidFill>
                            <a:srgbClr val="1A2A25"/>
                          </a:solidFill>
                          <a:latin typeface="Courier New" pitchFamily="34" charset="0"/>
                          <a:ea typeface="Courier New" pitchFamily="34" charset="-122"/>
                          <a:cs typeface="Courier New" pitchFamily="34" charset="-120"/>
                        </a:rPr>
                        <a:t>0,0% cobertura</a:t>
                      </a:r>
                      <a:endParaRPr lang="en-US" sz="82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20" dirty="0">
                          <a:solidFill>
                            <a:srgbClr val="1A2A25"/>
                          </a:solidFill>
                          <a:latin typeface="Calibri" pitchFamily="34" charset="0"/>
                          <a:ea typeface="Calibri" pitchFamily="34" charset="-122"/>
                          <a:cs typeface="Calibri" pitchFamily="34" charset="-120"/>
                        </a:rPr>
                        <a:t>ISO/IEC 25010</a:t>
                      </a:r>
                      <a:endParaRPr lang="en-US" sz="82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20" dirty="0">
                          <a:solidFill>
                            <a:srgbClr val="1A2A25"/>
                          </a:solidFill>
                          <a:latin typeface="Calibri" pitchFamily="34" charset="0"/>
                          <a:ea typeface="Calibri" pitchFamily="34" charset="-122"/>
                          <a:cs typeface="Calibri" pitchFamily="34" charset="-120"/>
                        </a:rPr>
                        <a:t>Mantenibilidad y confiabilidad no verificadas por pruebas automatizadas.</a:t>
                      </a:r>
                      <a:endParaRPr lang="en-US" sz="82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bl>
          </a:graphicData>
        </a:graphic>
      </p:graphicFrame>
      <p:sp>
        <p:nvSpPr>
          <p:cNvPr id="29" name="Text 25"/>
          <p:cNvSpPr/>
          <p:nvPr/>
        </p:nvSpPr>
        <p:spPr>
          <a:xfrm>
            <a:off x="566928" y="5989320"/>
            <a:ext cx="10972800" cy="292608"/>
          </a:xfrm>
          <a:prstGeom prst="rect">
            <a:avLst/>
          </a:prstGeom>
          <a:noFill/>
          <a:ln/>
        </p:spPr>
        <p:txBody>
          <a:bodyPr wrap="square" lIns="0" tIns="0" rIns="0" bIns="0" rtlCol="0" anchor="t"/>
          <a:lstStyle/>
          <a:p>
            <a:pPr algn="l" indent="0" marL="0">
              <a:buNone/>
            </a:pPr>
            <a:r>
              <a:rPr lang="en-US" sz="1050" b="1" i="1" dirty="0">
                <a:solidFill>
                  <a:srgbClr val="8A5E0F"/>
                </a:solidFill>
                <a:latin typeface="Calibri" pitchFamily="34" charset="0"/>
                <a:ea typeface="Calibri" pitchFamily="34" charset="-122"/>
                <a:cs typeface="Calibri" pitchFamily="34" charset="-120"/>
              </a:rPr>
              <a:t>SonarQube mide patrones; la ley exige deberes. 0 vulnerabilidades automáticas no significa 0 riesgos reales.</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566928" y="411480"/>
            <a:ext cx="77724" cy="77724"/>
          </a:xfrm>
          <a:prstGeom prst="rect">
            <a:avLst/>
          </a:prstGeom>
          <a:solidFill>
            <a:srgbClr val="C98A1E"/>
          </a:solidFill>
          <a:ln w="12700">
            <a:solidFill>
              <a:srgbClr val="C98A1E"/>
            </a:solidFill>
            <a:prstDash val="solid"/>
          </a:ln>
        </p:spPr>
      </p:sp>
      <p:sp>
        <p:nvSpPr>
          <p:cNvPr id="3" name="Text 1"/>
          <p:cNvSpPr/>
          <p:nvPr/>
        </p:nvSpPr>
        <p:spPr>
          <a:xfrm>
            <a:off x="731520" y="338328"/>
            <a:ext cx="9601200" cy="201168"/>
          </a:xfrm>
          <a:prstGeom prst="rect">
            <a:avLst/>
          </a:prstGeom>
          <a:noFill/>
          <a:ln/>
        </p:spPr>
        <p:txBody>
          <a:bodyPr wrap="square" lIns="0" tIns="0" rIns="0" bIns="0" rtlCol="0" anchor="t"/>
          <a:lstStyle/>
          <a:p>
            <a:pPr algn="l" indent="0" marL="0">
              <a:buNone/>
            </a:pPr>
            <a:r>
              <a:rPr lang="en-US" sz="800" b="1" spc="130" kern="0" dirty="0">
                <a:solidFill>
                  <a:srgbClr val="5C6D67"/>
                </a:solidFill>
                <a:latin typeface="Courier New" pitchFamily="34" charset="0"/>
                <a:ea typeface="Courier New" pitchFamily="34" charset="-122"/>
                <a:cs typeface="Courier New" pitchFamily="34" charset="-120"/>
              </a:rPr>
              <a:t>10 · REFLEXIONES</a:t>
            </a:r>
            <a:endParaRPr lang="en-US" sz="800" dirty="0"/>
          </a:p>
        </p:txBody>
      </p:sp>
      <p:sp>
        <p:nvSpPr>
          <p:cNvPr id="4" name="Text 2"/>
          <p:cNvSpPr/>
          <p:nvPr/>
        </p:nvSpPr>
        <p:spPr>
          <a:xfrm>
            <a:off x="566928" y="640080"/>
            <a:ext cx="11057839" cy="941832"/>
          </a:xfrm>
          <a:prstGeom prst="rect">
            <a:avLst/>
          </a:prstGeom>
          <a:noFill/>
          <a:ln/>
        </p:spPr>
        <p:txBody>
          <a:bodyPr wrap="square" lIns="0" tIns="0" rIns="0" bIns="0" rtlCol="0" anchor="t"/>
          <a:lstStyle/>
          <a:p>
            <a:pPr algn="l" indent="0" marL="0">
              <a:lnSpc>
                <a:spcPts val="3100"/>
              </a:lnSpc>
              <a:buNone/>
            </a:pPr>
            <a:r>
              <a:rPr lang="en-US" sz="2600" b="1" dirty="0">
                <a:solidFill>
                  <a:srgbClr val="1A2A25"/>
                </a:solidFill>
                <a:latin typeface="Cambria" pitchFamily="34" charset="0"/>
                <a:ea typeface="Cambria" pitchFamily="34" charset="-122"/>
                <a:cs typeface="Cambria" pitchFamily="34" charset="-120"/>
              </a:rPr>
              <a:t>Lo que funcionó, lo que falló y lo que decidimos no ocultar</a:t>
            </a:r>
            <a:endParaRPr lang="en-US" sz="2600" dirty="0"/>
          </a:p>
        </p:txBody>
      </p:sp>
      <p:sp>
        <p:nvSpPr>
          <p:cNvPr id="5" name="Text 3"/>
          <p:cNvSpPr/>
          <p:nvPr/>
        </p:nvSpPr>
        <p:spPr>
          <a:xfrm>
            <a:off x="566928" y="6547104"/>
            <a:ext cx="5943600" cy="182880"/>
          </a:xfrm>
          <a:prstGeom prst="rect">
            <a:avLst/>
          </a:prstGeom>
          <a:noFill/>
          <a:ln/>
        </p:spPr>
        <p:txBody>
          <a:bodyPr wrap="square" lIns="0" tIns="0" rIns="0" bIns="0" rtlCol="0" anchor="t"/>
          <a:lstStyle/>
          <a:p>
            <a:pPr algn="l" indent="0" marL="0">
              <a:buNone/>
            </a:pPr>
            <a:r>
              <a:rPr lang="en-US" sz="730" spc="60" kern="0" dirty="0">
                <a:solidFill>
                  <a:srgbClr val="8A9A94"/>
                </a:solidFill>
                <a:latin typeface="Courier New" pitchFamily="34" charset="0"/>
                <a:ea typeface="Courier New" pitchFamily="34" charset="-122"/>
                <a:cs typeface="Courier New" pitchFamily="34" charset="-120"/>
              </a:rPr>
              <a:t>Cuidarte+ · Auditoría de calidad y seguridad</a:t>
            </a:r>
            <a:endParaRPr lang="en-US" sz="730" dirty="0"/>
          </a:p>
        </p:txBody>
      </p:sp>
      <p:sp>
        <p:nvSpPr>
          <p:cNvPr id="6" name="Text 4"/>
          <p:cNvSpPr/>
          <p:nvPr/>
        </p:nvSpPr>
        <p:spPr>
          <a:xfrm>
            <a:off x="10561320" y="6547104"/>
            <a:ext cx="1060704" cy="182880"/>
          </a:xfrm>
          <a:prstGeom prst="rect">
            <a:avLst/>
          </a:prstGeom>
          <a:noFill/>
          <a:ln/>
        </p:spPr>
        <p:txBody>
          <a:bodyPr wrap="square" lIns="0" tIns="0" rIns="0" bIns="0" rtlCol="0" anchor="t"/>
          <a:lstStyle/>
          <a:p>
            <a:pPr algn="r" indent="0" marL="0">
              <a:buNone/>
            </a:pPr>
            <a:r>
              <a:rPr lang="en-US" sz="730" spc="60" kern="0" dirty="0">
                <a:solidFill>
                  <a:srgbClr val="8A9A94"/>
                </a:solidFill>
                <a:latin typeface="Courier New" pitchFamily="34" charset="0"/>
                <a:ea typeface="Courier New" pitchFamily="34" charset="-122"/>
                <a:cs typeface="Courier New" pitchFamily="34" charset="-120"/>
              </a:rPr>
              <a:t>11 / 17</a:t>
            </a:r>
            <a:endParaRPr lang="en-US" sz="730" dirty="0"/>
          </a:p>
        </p:txBody>
      </p:sp>
      <p:sp>
        <p:nvSpPr>
          <p:cNvPr id="7" name="Shape 5"/>
          <p:cNvSpPr/>
          <p:nvPr/>
        </p:nvSpPr>
        <p:spPr>
          <a:xfrm>
            <a:off x="566928" y="1664208"/>
            <a:ext cx="5358384" cy="1591056"/>
          </a:xfrm>
          <a:prstGeom prst="roundRect">
            <a:avLst>
              <a:gd name="adj" fmla="val 1437"/>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8" name="Text 6"/>
          <p:cNvSpPr/>
          <p:nvPr/>
        </p:nvSpPr>
        <p:spPr>
          <a:xfrm>
            <a:off x="768096" y="1810512"/>
            <a:ext cx="2286000" cy="274320"/>
          </a:xfrm>
          <a:prstGeom prst="rect">
            <a:avLst/>
          </a:prstGeom>
          <a:noFill/>
          <a:ln/>
        </p:spPr>
        <p:txBody>
          <a:bodyPr wrap="square" lIns="0" tIns="0" rIns="0" bIns="0" rtlCol="0" anchor="t"/>
          <a:lstStyle/>
          <a:p>
            <a:pPr algn="l" indent="0" marL="0">
              <a:buNone/>
            </a:pPr>
            <a:r>
              <a:rPr lang="en-US" sz="1500" b="1" dirty="0">
                <a:solidFill>
                  <a:srgbClr val="1A2A25"/>
                </a:solidFill>
                <a:latin typeface="Cambria" pitchFamily="34" charset="0"/>
                <a:ea typeface="Cambria" pitchFamily="34" charset="-122"/>
                <a:cs typeface="Cambria" pitchFamily="34" charset="-120"/>
              </a:rPr>
              <a:t>Calidad</a:t>
            </a:r>
            <a:endParaRPr lang="en-US" sz="1500" dirty="0"/>
          </a:p>
        </p:txBody>
      </p:sp>
      <p:sp>
        <p:nvSpPr>
          <p:cNvPr id="9" name="Text 7"/>
          <p:cNvSpPr/>
          <p:nvPr/>
        </p:nvSpPr>
        <p:spPr>
          <a:xfrm>
            <a:off x="768096" y="2194560"/>
            <a:ext cx="475488" cy="164592"/>
          </a:xfrm>
          <a:prstGeom prst="rect">
            <a:avLst/>
          </a:prstGeom>
          <a:noFill/>
          <a:ln/>
        </p:spPr>
        <p:txBody>
          <a:bodyPr wrap="square" lIns="0" tIns="0" rIns="0" bIns="0" rtlCol="0" anchor="t"/>
          <a:lstStyle/>
          <a:p>
            <a:pPr algn="l" indent="0" marL="0">
              <a:buNone/>
            </a:pPr>
            <a:r>
              <a:rPr lang="en-US" sz="660" b="1" spc="80" kern="0" dirty="0">
                <a:solidFill>
                  <a:srgbClr val="123B33"/>
                </a:solidFill>
                <a:latin typeface="Courier New" pitchFamily="34" charset="0"/>
                <a:ea typeface="Courier New" pitchFamily="34" charset="-122"/>
                <a:cs typeface="Courier New" pitchFamily="34" charset="-120"/>
              </a:rPr>
              <a:t>BIEN</a:t>
            </a:r>
            <a:endParaRPr lang="en-US" sz="660" dirty="0"/>
          </a:p>
        </p:txBody>
      </p:sp>
      <p:sp>
        <p:nvSpPr>
          <p:cNvPr id="10" name="Text 8"/>
          <p:cNvSpPr/>
          <p:nvPr/>
        </p:nvSpPr>
        <p:spPr>
          <a:xfrm>
            <a:off x="1280160" y="2176272"/>
            <a:ext cx="4434840" cy="274320"/>
          </a:xfrm>
          <a:prstGeom prst="rect">
            <a:avLst/>
          </a:prstGeom>
          <a:noFill/>
          <a:ln/>
        </p:spPr>
        <p:txBody>
          <a:bodyPr wrap="square" lIns="0" tIns="0" rIns="0" bIns="0" rtlCol="0" anchor="t"/>
          <a:lstStyle/>
          <a:p>
            <a:pPr algn="l" indent="0" marL="0">
              <a:buNone/>
            </a:pPr>
            <a:r>
              <a:rPr lang="en-US" sz="930" dirty="0">
                <a:solidFill>
                  <a:srgbClr val="1A2A25"/>
                </a:solidFill>
                <a:latin typeface="Calibri" pitchFamily="34" charset="0"/>
                <a:ea typeface="Calibri" pitchFamily="34" charset="-122"/>
                <a:cs typeface="Calibri" pitchFamily="34" charset="-120"/>
              </a:rPr>
              <a:t>RBAC, validaciones y auditoría responden.</a:t>
            </a:r>
            <a:endParaRPr lang="en-US" sz="930" dirty="0"/>
          </a:p>
        </p:txBody>
      </p:sp>
      <p:sp>
        <p:nvSpPr>
          <p:cNvPr id="11" name="Text 9"/>
          <p:cNvSpPr/>
          <p:nvPr/>
        </p:nvSpPr>
        <p:spPr>
          <a:xfrm>
            <a:off x="768096" y="2596896"/>
            <a:ext cx="566928" cy="164592"/>
          </a:xfrm>
          <a:prstGeom prst="rect">
            <a:avLst/>
          </a:prstGeom>
          <a:noFill/>
          <a:ln/>
        </p:spPr>
        <p:txBody>
          <a:bodyPr wrap="square" lIns="0" tIns="0" rIns="0" bIns="0" rtlCol="0" anchor="t"/>
          <a:lstStyle/>
          <a:p>
            <a:pPr algn="l" indent="0" marL="0">
              <a:buNone/>
            </a:pPr>
            <a:r>
              <a:rPr lang="en-US" sz="660" b="1" spc="80" kern="0" dirty="0">
                <a:solidFill>
                  <a:srgbClr val="8A5E0F"/>
                </a:solidFill>
                <a:latin typeface="Courier New" pitchFamily="34" charset="0"/>
                <a:ea typeface="Courier New" pitchFamily="34" charset="-122"/>
                <a:cs typeface="Courier New" pitchFamily="34" charset="-120"/>
              </a:rPr>
              <a:t>BRECHA</a:t>
            </a:r>
            <a:endParaRPr lang="en-US" sz="660" dirty="0"/>
          </a:p>
        </p:txBody>
      </p:sp>
      <p:sp>
        <p:nvSpPr>
          <p:cNvPr id="12" name="Text 10"/>
          <p:cNvSpPr/>
          <p:nvPr/>
        </p:nvSpPr>
        <p:spPr>
          <a:xfrm>
            <a:off x="1371600" y="2578608"/>
            <a:ext cx="4343400" cy="457200"/>
          </a:xfrm>
          <a:prstGeom prst="rect">
            <a:avLst/>
          </a:prstGeom>
          <a:noFill/>
          <a:ln/>
        </p:spPr>
        <p:txBody>
          <a:bodyPr wrap="square" lIns="0" tIns="0" rIns="0" bIns="0" rtlCol="0" anchor="t"/>
          <a:lstStyle/>
          <a:p>
            <a:pPr algn="l" indent="0" marL="0">
              <a:lnSpc>
                <a:spcPts val="1200"/>
              </a:lnSpc>
              <a:buNone/>
            </a:pPr>
            <a:r>
              <a:rPr lang="en-US" sz="930" dirty="0">
                <a:solidFill>
                  <a:srgbClr val="5C6D67"/>
                </a:solidFill>
                <a:latin typeface="Calibri" pitchFamily="34" charset="0"/>
                <a:ea typeface="Calibri" pitchFamily="34" charset="-122"/>
                <a:cs typeface="Calibri" pitchFamily="34" charset="-120"/>
              </a:rPr>
              <a:t>73 issues y 14,5% de duplicación.</a:t>
            </a:r>
            <a:endParaRPr lang="en-US" sz="930" dirty="0"/>
          </a:p>
        </p:txBody>
      </p:sp>
      <p:sp>
        <p:nvSpPr>
          <p:cNvPr id="13" name="Text 11"/>
          <p:cNvSpPr/>
          <p:nvPr/>
        </p:nvSpPr>
        <p:spPr>
          <a:xfrm>
            <a:off x="768096" y="2990088"/>
            <a:ext cx="4846320" cy="164592"/>
          </a:xfrm>
          <a:prstGeom prst="rect">
            <a:avLst/>
          </a:prstGeom>
          <a:noFill/>
          <a:ln/>
        </p:spPr>
        <p:txBody>
          <a:bodyPr wrap="square" lIns="0" tIns="0" rIns="0" bIns="0" rtlCol="0" anchor="t"/>
          <a:lstStyle/>
          <a:p>
            <a:pPr algn="l" indent="0" marL="0">
              <a:buNone/>
            </a:pPr>
            <a:r>
              <a:rPr lang="en-US" sz="680" spc="40" kern="0" dirty="0">
                <a:solidFill>
                  <a:srgbClr val="8A9A94"/>
                </a:solidFill>
                <a:latin typeface="Courier New" pitchFamily="34" charset="0"/>
                <a:ea typeface="Courier New" pitchFamily="34" charset="-122"/>
                <a:cs typeface="Courier New" pitchFamily="34" charset="-120"/>
              </a:rPr>
              <a:t>CP001–CP008 · SonarQube</a:t>
            </a:r>
            <a:endParaRPr lang="en-US" sz="680" dirty="0"/>
          </a:p>
        </p:txBody>
      </p:sp>
      <p:sp>
        <p:nvSpPr>
          <p:cNvPr id="14" name="Shape 12"/>
          <p:cNvSpPr/>
          <p:nvPr/>
        </p:nvSpPr>
        <p:spPr>
          <a:xfrm>
            <a:off x="6053328" y="1664208"/>
            <a:ext cx="5358384" cy="1591056"/>
          </a:xfrm>
          <a:prstGeom prst="roundRect">
            <a:avLst>
              <a:gd name="adj" fmla="val 1437"/>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15" name="Text 13"/>
          <p:cNvSpPr/>
          <p:nvPr/>
        </p:nvSpPr>
        <p:spPr>
          <a:xfrm>
            <a:off x="6254496" y="1810512"/>
            <a:ext cx="2286000" cy="274320"/>
          </a:xfrm>
          <a:prstGeom prst="rect">
            <a:avLst/>
          </a:prstGeom>
          <a:noFill/>
          <a:ln/>
        </p:spPr>
        <p:txBody>
          <a:bodyPr wrap="square" lIns="0" tIns="0" rIns="0" bIns="0" rtlCol="0" anchor="t"/>
          <a:lstStyle/>
          <a:p>
            <a:pPr algn="l" indent="0" marL="0">
              <a:buNone/>
            </a:pPr>
            <a:r>
              <a:rPr lang="en-US" sz="1500" b="1" dirty="0">
                <a:solidFill>
                  <a:srgbClr val="1A2A25"/>
                </a:solidFill>
                <a:latin typeface="Cambria" pitchFamily="34" charset="0"/>
                <a:ea typeface="Cambria" pitchFamily="34" charset="-122"/>
                <a:cs typeface="Cambria" pitchFamily="34" charset="-120"/>
              </a:rPr>
              <a:t>Seguridad</a:t>
            </a:r>
            <a:endParaRPr lang="en-US" sz="1500" dirty="0"/>
          </a:p>
        </p:txBody>
      </p:sp>
      <p:sp>
        <p:nvSpPr>
          <p:cNvPr id="16" name="Text 14"/>
          <p:cNvSpPr/>
          <p:nvPr/>
        </p:nvSpPr>
        <p:spPr>
          <a:xfrm>
            <a:off x="6254496" y="2194560"/>
            <a:ext cx="475488" cy="164592"/>
          </a:xfrm>
          <a:prstGeom prst="rect">
            <a:avLst/>
          </a:prstGeom>
          <a:noFill/>
          <a:ln/>
        </p:spPr>
        <p:txBody>
          <a:bodyPr wrap="square" lIns="0" tIns="0" rIns="0" bIns="0" rtlCol="0" anchor="t"/>
          <a:lstStyle/>
          <a:p>
            <a:pPr algn="l" indent="0" marL="0">
              <a:buNone/>
            </a:pPr>
            <a:r>
              <a:rPr lang="en-US" sz="660" b="1" spc="80" kern="0" dirty="0">
                <a:solidFill>
                  <a:srgbClr val="123B33"/>
                </a:solidFill>
                <a:latin typeface="Courier New" pitchFamily="34" charset="0"/>
                <a:ea typeface="Courier New" pitchFamily="34" charset="-122"/>
                <a:cs typeface="Courier New" pitchFamily="34" charset="-120"/>
              </a:rPr>
              <a:t>BIEN</a:t>
            </a:r>
            <a:endParaRPr lang="en-US" sz="660" dirty="0"/>
          </a:p>
        </p:txBody>
      </p:sp>
      <p:sp>
        <p:nvSpPr>
          <p:cNvPr id="17" name="Text 15"/>
          <p:cNvSpPr/>
          <p:nvPr/>
        </p:nvSpPr>
        <p:spPr>
          <a:xfrm>
            <a:off x="6766560" y="2176272"/>
            <a:ext cx="4434840" cy="274320"/>
          </a:xfrm>
          <a:prstGeom prst="rect">
            <a:avLst/>
          </a:prstGeom>
          <a:noFill/>
          <a:ln/>
        </p:spPr>
        <p:txBody>
          <a:bodyPr wrap="square" lIns="0" tIns="0" rIns="0" bIns="0" rtlCol="0" anchor="t"/>
          <a:lstStyle/>
          <a:p>
            <a:pPr algn="l" indent="0" marL="0">
              <a:buNone/>
            </a:pPr>
            <a:r>
              <a:rPr lang="en-US" sz="930" dirty="0">
                <a:solidFill>
                  <a:srgbClr val="1A2A25"/>
                </a:solidFill>
                <a:latin typeface="Calibri" pitchFamily="34" charset="0"/>
                <a:ea typeface="Calibri" pitchFamily="34" charset="-122"/>
                <a:cs typeface="Calibri" pitchFamily="34" charset="-120"/>
              </a:rPr>
              <a:t>JWT y roles bloquean accesos indebidos.</a:t>
            </a:r>
            <a:endParaRPr lang="en-US" sz="930" dirty="0"/>
          </a:p>
        </p:txBody>
      </p:sp>
      <p:sp>
        <p:nvSpPr>
          <p:cNvPr id="18" name="Text 16"/>
          <p:cNvSpPr/>
          <p:nvPr/>
        </p:nvSpPr>
        <p:spPr>
          <a:xfrm>
            <a:off x="6254496" y="2596896"/>
            <a:ext cx="566928" cy="164592"/>
          </a:xfrm>
          <a:prstGeom prst="rect">
            <a:avLst/>
          </a:prstGeom>
          <a:noFill/>
          <a:ln/>
        </p:spPr>
        <p:txBody>
          <a:bodyPr wrap="square" lIns="0" tIns="0" rIns="0" bIns="0" rtlCol="0" anchor="t"/>
          <a:lstStyle/>
          <a:p>
            <a:pPr algn="l" indent="0" marL="0">
              <a:buNone/>
            </a:pPr>
            <a:r>
              <a:rPr lang="en-US" sz="660" b="1" spc="80" kern="0" dirty="0">
                <a:solidFill>
                  <a:srgbClr val="8A5E0F"/>
                </a:solidFill>
                <a:latin typeface="Courier New" pitchFamily="34" charset="0"/>
                <a:ea typeface="Courier New" pitchFamily="34" charset="-122"/>
                <a:cs typeface="Courier New" pitchFamily="34" charset="-120"/>
              </a:rPr>
              <a:t>BRECHA</a:t>
            </a:r>
            <a:endParaRPr lang="en-US" sz="660" dirty="0"/>
          </a:p>
        </p:txBody>
      </p:sp>
      <p:sp>
        <p:nvSpPr>
          <p:cNvPr id="19" name="Text 17"/>
          <p:cNvSpPr/>
          <p:nvPr/>
        </p:nvSpPr>
        <p:spPr>
          <a:xfrm>
            <a:off x="6858000" y="2578608"/>
            <a:ext cx="4343400" cy="457200"/>
          </a:xfrm>
          <a:prstGeom prst="rect">
            <a:avLst/>
          </a:prstGeom>
          <a:noFill/>
          <a:ln/>
        </p:spPr>
        <p:txBody>
          <a:bodyPr wrap="square" lIns="0" tIns="0" rIns="0" bIns="0" rtlCol="0" anchor="t"/>
          <a:lstStyle/>
          <a:p>
            <a:pPr algn="l" indent="0" marL="0">
              <a:lnSpc>
                <a:spcPts val="1200"/>
              </a:lnSpc>
              <a:buNone/>
            </a:pPr>
            <a:r>
              <a:rPr lang="en-US" sz="930" dirty="0">
                <a:solidFill>
                  <a:srgbClr val="5C6D67"/>
                </a:solidFill>
                <a:latin typeface="Calibri" pitchFamily="34" charset="0"/>
                <a:ea typeface="Calibri" pitchFamily="34" charset="-122"/>
                <a:cs typeface="Calibri" pitchFamily="34" charset="-120"/>
              </a:rPr>
              <a:t>H-01 y CP006: credenciales y sesión.</a:t>
            </a:r>
            <a:endParaRPr lang="en-US" sz="930" dirty="0"/>
          </a:p>
        </p:txBody>
      </p:sp>
      <p:sp>
        <p:nvSpPr>
          <p:cNvPr id="20" name="Text 18"/>
          <p:cNvSpPr/>
          <p:nvPr/>
        </p:nvSpPr>
        <p:spPr>
          <a:xfrm>
            <a:off x="6254496" y="2990088"/>
            <a:ext cx="4846320" cy="164592"/>
          </a:xfrm>
          <a:prstGeom prst="rect">
            <a:avLst/>
          </a:prstGeom>
          <a:noFill/>
          <a:ln/>
        </p:spPr>
        <p:txBody>
          <a:bodyPr wrap="square" lIns="0" tIns="0" rIns="0" bIns="0" rtlCol="0" anchor="t"/>
          <a:lstStyle/>
          <a:p>
            <a:pPr algn="l" indent="0" marL="0">
              <a:buNone/>
            </a:pPr>
            <a:r>
              <a:rPr lang="en-US" sz="680" spc="40" kern="0" dirty="0">
                <a:solidFill>
                  <a:srgbClr val="8A9A94"/>
                </a:solidFill>
                <a:latin typeface="Courier New" pitchFamily="34" charset="0"/>
                <a:ea typeface="Courier New" pitchFamily="34" charset="-122"/>
                <a:cs typeface="Courier New" pitchFamily="34" charset="-120"/>
              </a:rPr>
              <a:t>CP005–CP007</a:t>
            </a:r>
            <a:endParaRPr lang="en-US" sz="680" dirty="0"/>
          </a:p>
        </p:txBody>
      </p:sp>
      <p:sp>
        <p:nvSpPr>
          <p:cNvPr id="21" name="Shape 19"/>
          <p:cNvSpPr/>
          <p:nvPr/>
        </p:nvSpPr>
        <p:spPr>
          <a:xfrm>
            <a:off x="566928" y="3456432"/>
            <a:ext cx="5358384" cy="1591056"/>
          </a:xfrm>
          <a:prstGeom prst="roundRect">
            <a:avLst>
              <a:gd name="adj" fmla="val 1437"/>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22" name="Text 20"/>
          <p:cNvSpPr/>
          <p:nvPr/>
        </p:nvSpPr>
        <p:spPr>
          <a:xfrm>
            <a:off x="768096" y="3602736"/>
            <a:ext cx="2286000" cy="274320"/>
          </a:xfrm>
          <a:prstGeom prst="rect">
            <a:avLst/>
          </a:prstGeom>
          <a:noFill/>
          <a:ln/>
        </p:spPr>
        <p:txBody>
          <a:bodyPr wrap="square" lIns="0" tIns="0" rIns="0" bIns="0" rtlCol="0" anchor="t"/>
          <a:lstStyle/>
          <a:p>
            <a:pPr algn="l" indent="0" marL="0">
              <a:buNone/>
            </a:pPr>
            <a:r>
              <a:rPr lang="en-US" sz="1500" b="1" dirty="0">
                <a:solidFill>
                  <a:srgbClr val="1A2A25"/>
                </a:solidFill>
                <a:latin typeface="Cambria" pitchFamily="34" charset="0"/>
                <a:ea typeface="Cambria" pitchFamily="34" charset="-122"/>
                <a:cs typeface="Cambria" pitchFamily="34" charset="-120"/>
              </a:rPr>
              <a:t>Normativo</a:t>
            </a:r>
            <a:endParaRPr lang="en-US" sz="1500" dirty="0"/>
          </a:p>
        </p:txBody>
      </p:sp>
      <p:sp>
        <p:nvSpPr>
          <p:cNvPr id="23" name="Text 21"/>
          <p:cNvSpPr/>
          <p:nvPr/>
        </p:nvSpPr>
        <p:spPr>
          <a:xfrm>
            <a:off x="768096" y="3986784"/>
            <a:ext cx="475488" cy="164592"/>
          </a:xfrm>
          <a:prstGeom prst="rect">
            <a:avLst/>
          </a:prstGeom>
          <a:noFill/>
          <a:ln/>
        </p:spPr>
        <p:txBody>
          <a:bodyPr wrap="square" lIns="0" tIns="0" rIns="0" bIns="0" rtlCol="0" anchor="t"/>
          <a:lstStyle/>
          <a:p>
            <a:pPr algn="l" indent="0" marL="0">
              <a:buNone/>
            </a:pPr>
            <a:r>
              <a:rPr lang="en-US" sz="660" b="1" spc="80" kern="0" dirty="0">
                <a:solidFill>
                  <a:srgbClr val="123B33"/>
                </a:solidFill>
                <a:latin typeface="Courier New" pitchFamily="34" charset="0"/>
                <a:ea typeface="Courier New" pitchFamily="34" charset="-122"/>
                <a:cs typeface="Courier New" pitchFamily="34" charset="-120"/>
              </a:rPr>
              <a:t>BIEN</a:t>
            </a:r>
            <a:endParaRPr lang="en-US" sz="660" dirty="0"/>
          </a:p>
        </p:txBody>
      </p:sp>
      <p:sp>
        <p:nvSpPr>
          <p:cNvPr id="24" name="Text 22"/>
          <p:cNvSpPr/>
          <p:nvPr/>
        </p:nvSpPr>
        <p:spPr>
          <a:xfrm>
            <a:off x="1280160" y="3968496"/>
            <a:ext cx="4434840" cy="274320"/>
          </a:xfrm>
          <a:prstGeom prst="rect">
            <a:avLst/>
          </a:prstGeom>
          <a:noFill/>
          <a:ln/>
        </p:spPr>
        <p:txBody>
          <a:bodyPr wrap="square" lIns="0" tIns="0" rIns="0" bIns="0" rtlCol="0" anchor="t"/>
          <a:lstStyle/>
          <a:p>
            <a:pPr algn="l" indent="0" marL="0">
              <a:buNone/>
            </a:pPr>
            <a:r>
              <a:rPr lang="en-US" sz="930" dirty="0">
                <a:solidFill>
                  <a:srgbClr val="1A2A25"/>
                </a:solidFill>
                <a:latin typeface="Calibri" pitchFamily="34" charset="0"/>
                <a:ea typeface="Calibri" pitchFamily="34" charset="-122"/>
                <a:cs typeface="Calibri" pitchFamily="34" charset="-120"/>
              </a:rPr>
              <a:t>Auditoría y trazabilidad de acciones.</a:t>
            </a:r>
            <a:endParaRPr lang="en-US" sz="930" dirty="0"/>
          </a:p>
        </p:txBody>
      </p:sp>
      <p:sp>
        <p:nvSpPr>
          <p:cNvPr id="25" name="Text 23"/>
          <p:cNvSpPr/>
          <p:nvPr/>
        </p:nvSpPr>
        <p:spPr>
          <a:xfrm>
            <a:off x="768096" y="4389120"/>
            <a:ext cx="566928" cy="164592"/>
          </a:xfrm>
          <a:prstGeom prst="rect">
            <a:avLst/>
          </a:prstGeom>
          <a:noFill/>
          <a:ln/>
        </p:spPr>
        <p:txBody>
          <a:bodyPr wrap="square" lIns="0" tIns="0" rIns="0" bIns="0" rtlCol="0" anchor="t"/>
          <a:lstStyle/>
          <a:p>
            <a:pPr algn="l" indent="0" marL="0">
              <a:buNone/>
            </a:pPr>
            <a:r>
              <a:rPr lang="en-US" sz="660" b="1" spc="80" kern="0" dirty="0">
                <a:solidFill>
                  <a:srgbClr val="8A5E0F"/>
                </a:solidFill>
                <a:latin typeface="Courier New" pitchFamily="34" charset="0"/>
                <a:ea typeface="Courier New" pitchFamily="34" charset="-122"/>
                <a:cs typeface="Courier New" pitchFamily="34" charset="-120"/>
              </a:rPr>
              <a:t>BRECHA</a:t>
            </a:r>
            <a:endParaRPr lang="en-US" sz="660" dirty="0"/>
          </a:p>
        </p:txBody>
      </p:sp>
      <p:sp>
        <p:nvSpPr>
          <p:cNvPr id="26" name="Text 24"/>
          <p:cNvSpPr/>
          <p:nvPr/>
        </p:nvSpPr>
        <p:spPr>
          <a:xfrm>
            <a:off x="1371600" y="4370832"/>
            <a:ext cx="4343400" cy="457200"/>
          </a:xfrm>
          <a:prstGeom prst="rect">
            <a:avLst/>
          </a:prstGeom>
          <a:noFill/>
          <a:ln/>
        </p:spPr>
        <p:txBody>
          <a:bodyPr wrap="square" lIns="0" tIns="0" rIns="0" bIns="0" rtlCol="0" anchor="t"/>
          <a:lstStyle/>
          <a:p>
            <a:pPr algn="l" indent="0" marL="0">
              <a:lnSpc>
                <a:spcPts val="1200"/>
              </a:lnSpc>
              <a:buNone/>
            </a:pPr>
            <a:r>
              <a:rPr lang="en-US" sz="930" dirty="0">
                <a:solidFill>
                  <a:srgbClr val="5C6D67"/>
                </a:solidFill>
                <a:latin typeface="Calibri" pitchFamily="34" charset="0"/>
                <a:ea typeface="Calibri" pitchFamily="34" charset="-122"/>
                <a:cs typeface="Calibri" pitchFamily="34" charset="-120"/>
              </a:rPr>
              <a:t>Ley 19.628 incumplida en H-01/H-02/H-04.</a:t>
            </a:r>
            <a:endParaRPr lang="en-US" sz="930" dirty="0"/>
          </a:p>
        </p:txBody>
      </p:sp>
      <p:sp>
        <p:nvSpPr>
          <p:cNvPr id="27" name="Text 25"/>
          <p:cNvSpPr/>
          <p:nvPr/>
        </p:nvSpPr>
        <p:spPr>
          <a:xfrm>
            <a:off x="768096" y="4782312"/>
            <a:ext cx="4846320" cy="164592"/>
          </a:xfrm>
          <a:prstGeom prst="rect">
            <a:avLst/>
          </a:prstGeom>
          <a:noFill/>
          <a:ln/>
        </p:spPr>
        <p:txBody>
          <a:bodyPr wrap="square" lIns="0" tIns="0" rIns="0" bIns="0" rtlCol="0" anchor="t"/>
          <a:lstStyle/>
          <a:p>
            <a:pPr algn="l" indent="0" marL="0">
              <a:buNone/>
            </a:pPr>
            <a:r>
              <a:rPr lang="en-US" sz="680" spc="40" kern="0" dirty="0">
                <a:solidFill>
                  <a:srgbClr val="8A9A94"/>
                </a:solidFill>
                <a:latin typeface="Courier New" pitchFamily="34" charset="0"/>
                <a:ea typeface="Courier New" pitchFamily="34" charset="-122"/>
                <a:cs typeface="Courier New" pitchFamily="34" charset="-120"/>
              </a:rPr>
              <a:t>Ley 19.628 · Ley 20.584</a:t>
            </a:r>
            <a:endParaRPr lang="en-US" sz="680" dirty="0"/>
          </a:p>
        </p:txBody>
      </p:sp>
      <p:sp>
        <p:nvSpPr>
          <p:cNvPr id="28" name="Shape 26"/>
          <p:cNvSpPr/>
          <p:nvPr/>
        </p:nvSpPr>
        <p:spPr>
          <a:xfrm>
            <a:off x="6053328" y="3456432"/>
            <a:ext cx="5358384" cy="1591056"/>
          </a:xfrm>
          <a:prstGeom prst="roundRect">
            <a:avLst>
              <a:gd name="adj" fmla="val 1437"/>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29" name="Text 27"/>
          <p:cNvSpPr/>
          <p:nvPr/>
        </p:nvSpPr>
        <p:spPr>
          <a:xfrm>
            <a:off x="6254496" y="3602736"/>
            <a:ext cx="2286000" cy="274320"/>
          </a:xfrm>
          <a:prstGeom prst="rect">
            <a:avLst/>
          </a:prstGeom>
          <a:noFill/>
          <a:ln/>
        </p:spPr>
        <p:txBody>
          <a:bodyPr wrap="square" lIns="0" tIns="0" rIns="0" bIns="0" rtlCol="0" anchor="t"/>
          <a:lstStyle/>
          <a:p>
            <a:pPr algn="l" indent="0" marL="0">
              <a:buNone/>
            </a:pPr>
            <a:r>
              <a:rPr lang="en-US" sz="1500" b="1" dirty="0">
                <a:solidFill>
                  <a:srgbClr val="1A2A25"/>
                </a:solidFill>
                <a:latin typeface="Cambria" pitchFamily="34" charset="0"/>
                <a:ea typeface="Cambria" pitchFamily="34" charset="-122"/>
                <a:cs typeface="Cambria" pitchFamily="34" charset="-120"/>
              </a:rPr>
              <a:t>Ético</a:t>
            </a:r>
            <a:endParaRPr lang="en-US" sz="1500" dirty="0"/>
          </a:p>
        </p:txBody>
      </p:sp>
      <p:sp>
        <p:nvSpPr>
          <p:cNvPr id="30" name="Text 28"/>
          <p:cNvSpPr/>
          <p:nvPr/>
        </p:nvSpPr>
        <p:spPr>
          <a:xfrm>
            <a:off x="6254496" y="3986784"/>
            <a:ext cx="475488" cy="164592"/>
          </a:xfrm>
          <a:prstGeom prst="rect">
            <a:avLst/>
          </a:prstGeom>
          <a:noFill/>
          <a:ln/>
        </p:spPr>
        <p:txBody>
          <a:bodyPr wrap="square" lIns="0" tIns="0" rIns="0" bIns="0" rtlCol="0" anchor="t"/>
          <a:lstStyle/>
          <a:p>
            <a:pPr algn="l" indent="0" marL="0">
              <a:buNone/>
            </a:pPr>
            <a:r>
              <a:rPr lang="en-US" sz="660" b="1" spc="80" kern="0" dirty="0">
                <a:solidFill>
                  <a:srgbClr val="123B33"/>
                </a:solidFill>
                <a:latin typeface="Courier New" pitchFamily="34" charset="0"/>
                <a:ea typeface="Courier New" pitchFamily="34" charset="-122"/>
                <a:cs typeface="Courier New" pitchFamily="34" charset="-120"/>
              </a:rPr>
              <a:t>BIEN</a:t>
            </a:r>
            <a:endParaRPr lang="en-US" sz="660" dirty="0"/>
          </a:p>
        </p:txBody>
      </p:sp>
      <p:sp>
        <p:nvSpPr>
          <p:cNvPr id="31" name="Text 29"/>
          <p:cNvSpPr/>
          <p:nvPr/>
        </p:nvSpPr>
        <p:spPr>
          <a:xfrm>
            <a:off x="6766560" y="3968496"/>
            <a:ext cx="4434840" cy="274320"/>
          </a:xfrm>
          <a:prstGeom prst="rect">
            <a:avLst/>
          </a:prstGeom>
          <a:noFill/>
          <a:ln/>
        </p:spPr>
        <p:txBody>
          <a:bodyPr wrap="square" lIns="0" tIns="0" rIns="0" bIns="0" rtlCol="0" anchor="t"/>
          <a:lstStyle/>
          <a:p>
            <a:pPr algn="l" indent="0" marL="0">
              <a:buNone/>
            </a:pPr>
            <a:r>
              <a:rPr lang="en-US" sz="930" dirty="0">
                <a:solidFill>
                  <a:srgbClr val="1A2A25"/>
                </a:solidFill>
                <a:latin typeface="Calibri" pitchFamily="34" charset="0"/>
                <a:ea typeface="Calibri" pitchFamily="34" charset="-122"/>
                <a:cs typeface="Calibri" pitchFamily="34" charset="-120"/>
              </a:rPr>
              <a:t>El Fail se reporta con evidencia.</a:t>
            </a:r>
            <a:endParaRPr lang="en-US" sz="930" dirty="0"/>
          </a:p>
        </p:txBody>
      </p:sp>
      <p:sp>
        <p:nvSpPr>
          <p:cNvPr id="32" name="Text 30"/>
          <p:cNvSpPr/>
          <p:nvPr/>
        </p:nvSpPr>
        <p:spPr>
          <a:xfrm>
            <a:off x="6254496" y="4389120"/>
            <a:ext cx="566928" cy="164592"/>
          </a:xfrm>
          <a:prstGeom prst="rect">
            <a:avLst/>
          </a:prstGeom>
          <a:noFill/>
          <a:ln/>
        </p:spPr>
        <p:txBody>
          <a:bodyPr wrap="square" lIns="0" tIns="0" rIns="0" bIns="0" rtlCol="0" anchor="t"/>
          <a:lstStyle/>
          <a:p>
            <a:pPr algn="l" indent="0" marL="0">
              <a:buNone/>
            </a:pPr>
            <a:r>
              <a:rPr lang="en-US" sz="660" b="1" spc="80" kern="0" dirty="0">
                <a:solidFill>
                  <a:srgbClr val="8A5E0F"/>
                </a:solidFill>
                <a:latin typeface="Courier New" pitchFamily="34" charset="0"/>
                <a:ea typeface="Courier New" pitchFamily="34" charset="-122"/>
                <a:cs typeface="Courier New" pitchFamily="34" charset="-120"/>
              </a:rPr>
              <a:t>BRECHA</a:t>
            </a:r>
            <a:endParaRPr lang="en-US" sz="660" dirty="0"/>
          </a:p>
        </p:txBody>
      </p:sp>
      <p:sp>
        <p:nvSpPr>
          <p:cNvPr id="33" name="Text 31"/>
          <p:cNvSpPr/>
          <p:nvPr/>
        </p:nvSpPr>
        <p:spPr>
          <a:xfrm>
            <a:off x="6858000" y="4370832"/>
            <a:ext cx="4343400" cy="457200"/>
          </a:xfrm>
          <a:prstGeom prst="rect">
            <a:avLst/>
          </a:prstGeom>
          <a:noFill/>
          <a:ln/>
        </p:spPr>
        <p:txBody>
          <a:bodyPr wrap="square" lIns="0" tIns="0" rIns="0" bIns="0" rtlCol="0" anchor="t"/>
          <a:lstStyle/>
          <a:p>
            <a:pPr algn="l" indent="0" marL="0">
              <a:lnSpc>
                <a:spcPts val="1200"/>
              </a:lnSpc>
              <a:buNone/>
            </a:pPr>
            <a:r>
              <a:rPr lang="en-US" sz="930" dirty="0">
                <a:solidFill>
                  <a:srgbClr val="5C6D67"/>
                </a:solidFill>
                <a:latin typeface="Calibri" pitchFamily="34" charset="0"/>
                <a:ea typeface="Calibri" pitchFamily="34" charset="-122"/>
                <a:cs typeface="Calibri" pitchFamily="34" charset="-120"/>
              </a:rPr>
              <a:t>Falta DAST y carga; se declara, no se omite.</a:t>
            </a:r>
            <a:endParaRPr lang="en-US" sz="930" dirty="0"/>
          </a:p>
        </p:txBody>
      </p:sp>
      <p:sp>
        <p:nvSpPr>
          <p:cNvPr id="34" name="Text 32"/>
          <p:cNvSpPr/>
          <p:nvPr/>
        </p:nvSpPr>
        <p:spPr>
          <a:xfrm>
            <a:off x="6254496" y="4782312"/>
            <a:ext cx="4846320" cy="164592"/>
          </a:xfrm>
          <a:prstGeom prst="rect">
            <a:avLst/>
          </a:prstGeom>
          <a:noFill/>
          <a:ln/>
        </p:spPr>
        <p:txBody>
          <a:bodyPr wrap="square" lIns="0" tIns="0" rIns="0" bIns="0" rtlCol="0" anchor="t"/>
          <a:lstStyle/>
          <a:p>
            <a:pPr algn="l" indent="0" marL="0">
              <a:buNone/>
            </a:pPr>
            <a:r>
              <a:rPr lang="en-US" sz="680" spc="40" kern="0" dirty="0">
                <a:solidFill>
                  <a:srgbClr val="8A9A94"/>
                </a:solidFill>
                <a:latin typeface="Courier New" pitchFamily="34" charset="0"/>
                <a:ea typeface="Courier New" pitchFamily="34" charset="-122"/>
                <a:cs typeface="Courier New" pitchFamily="34" charset="-120"/>
              </a:rPr>
              <a:t>Bitácora + 28 evidencias</a:t>
            </a:r>
            <a:endParaRPr lang="en-US" sz="680" dirty="0"/>
          </a:p>
        </p:txBody>
      </p:sp>
      <p:sp>
        <p:nvSpPr>
          <p:cNvPr id="35" name="Shape 33"/>
          <p:cNvSpPr/>
          <p:nvPr/>
        </p:nvSpPr>
        <p:spPr>
          <a:xfrm>
            <a:off x="566928" y="5321808"/>
            <a:ext cx="11055096" cy="749808"/>
          </a:xfrm>
          <a:prstGeom prst="roundRect">
            <a:avLst>
              <a:gd name="adj" fmla="val 3049"/>
            </a:avLst>
          </a:prstGeom>
          <a:solidFill>
            <a:srgbClr val="123B33"/>
          </a:solidFill>
          <a:ln w="7620">
            <a:solidFill>
              <a:srgbClr val="123B33"/>
            </a:solidFill>
            <a:prstDash val="solid"/>
          </a:ln>
          <a:effectLst>
            <a:outerShdw sx="100000" sy="100000" kx="0" ky="0" algn="bl" rotWithShape="0" blurRad="88900" dist="25400" dir="5400000">
              <a:srgbClr val="000000">
                <a:alpha val="5000"/>
              </a:srgbClr>
            </a:outerShdw>
          </a:effectLst>
        </p:spPr>
      </p:sp>
      <p:sp>
        <p:nvSpPr>
          <p:cNvPr id="36" name="Text 34"/>
          <p:cNvSpPr/>
          <p:nvPr/>
        </p:nvSpPr>
        <p:spPr>
          <a:xfrm>
            <a:off x="822960" y="5513832"/>
            <a:ext cx="10515600" cy="365760"/>
          </a:xfrm>
          <a:prstGeom prst="rect">
            <a:avLst/>
          </a:prstGeom>
          <a:noFill/>
          <a:ln/>
        </p:spPr>
        <p:txBody>
          <a:bodyPr wrap="square" lIns="0" tIns="0" rIns="0" bIns="0" rtlCol="0" anchor="t"/>
          <a:lstStyle/>
          <a:p>
            <a:pPr algn="l" indent="0" marL="0">
              <a:buNone/>
            </a:pPr>
            <a:r>
              <a:rPr lang="en-US" sz="1500" i="1" dirty="0">
                <a:solidFill>
                  <a:srgbClr val="FFFFFF"/>
                </a:solidFill>
                <a:latin typeface="Cambria" pitchFamily="34" charset="0"/>
                <a:ea typeface="Cambria" pitchFamily="34" charset="-122"/>
                <a:cs typeface="Cambria" pitchFamily="34" charset="-120"/>
              </a:rPr>
              <a:t>La utilidad de una auditoría se mide por lo que revela, no por lo que confirma.</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566928" y="411480"/>
            <a:ext cx="77724" cy="77724"/>
          </a:xfrm>
          <a:prstGeom prst="rect">
            <a:avLst/>
          </a:prstGeom>
          <a:solidFill>
            <a:srgbClr val="C98A1E"/>
          </a:solidFill>
          <a:ln w="12700">
            <a:solidFill>
              <a:srgbClr val="C98A1E"/>
            </a:solidFill>
            <a:prstDash val="solid"/>
          </a:ln>
        </p:spPr>
      </p:sp>
      <p:sp>
        <p:nvSpPr>
          <p:cNvPr id="3" name="Text 1"/>
          <p:cNvSpPr/>
          <p:nvPr/>
        </p:nvSpPr>
        <p:spPr>
          <a:xfrm>
            <a:off x="731520" y="338328"/>
            <a:ext cx="9601200" cy="201168"/>
          </a:xfrm>
          <a:prstGeom prst="rect">
            <a:avLst/>
          </a:prstGeom>
          <a:noFill/>
          <a:ln/>
        </p:spPr>
        <p:txBody>
          <a:bodyPr wrap="square" lIns="0" tIns="0" rIns="0" bIns="0" rtlCol="0" anchor="t"/>
          <a:lstStyle/>
          <a:p>
            <a:pPr algn="l" indent="0" marL="0">
              <a:buNone/>
            </a:pPr>
            <a:r>
              <a:rPr lang="en-US" sz="800" b="1" spc="130" kern="0" dirty="0">
                <a:solidFill>
                  <a:srgbClr val="5C6D67"/>
                </a:solidFill>
                <a:latin typeface="Courier New" pitchFamily="34" charset="0"/>
                <a:ea typeface="Courier New" pitchFamily="34" charset="-122"/>
                <a:cs typeface="Courier New" pitchFamily="34" charset="-120"/>
              </a:rPr>
              <a:t>11 · VEREDICTO</a:t>
            </a:r>
            <a:endParaRPr lang="en-US" sz="800" dirty="0"/>
          </a:p>
        </p:txBody>
      </p:sp>
      <p:sp>
        <p:nvSpPr>
          <p:cNvPr id="4" name="Text 2"/>
          <p:cNvSpPr/>
          <p:nvPr/>
        </p:nvSpPr>
        <p:spPr>
          <a:xfrm>
            <a:off x="566928" y="640080"/>
            <a:ext cx="11057839" cy="941832"/>
          </a:xfrm>
          <a:prstGeom prst="rect">
            <a:avLst/>
          </a:prstGeom>
          <a:noFill/>
          <a:ln/>
        </p:spPr>
        <p:txBody>
          <a:bodyPr wrap="square" lIns="0" tIns="0" rIns="0" bIns="0" rtlCol="0" anchor="t"/>
          <a:lstStyle/>
          <a:p>
            <a:pPr algn="l" indent="0" marL="0">
              <a:lnSpc>
                <a:spcPts val="3100"/>
              </a:lnSpc>
              <a:buNone/>
            </a:pPr>
            <a:r>
              <a:rPr lang="en-US" sz="2600" b="1" dirty="0">
                <a:solidFill>
                  <a:srgbClr val="1A2A25"/>
                </a:solidFill>
                <a:latin typeface="Cambria" pitchFamily="34" charset="0"/>
                <a:ea typeface="Cambria" pitchFamily="34" charset="-122"/>
                <a:cs typeface="Cambria" pitchFamily="34" charset="-120"/>
              </a:rPr>
              <a:t>GO CONDICIONADO: cuatro correcciones antes de producción</a:t>
            </a:r>
            <a:endParaRPr lang="en-US" sz="2600" dirty="0"/>
          </a:p>
        </p:txBody>
      </p:sp>
      <p:sp>
        <p:nvSpPr>
          <p:cNvPr id="5" name="Text 3"/>
          <p:cNvSpPr/>
          <p:nvPr/>
        </p:nvSpPr>
        <p:spPr>
          <a:xfrm>
            <a:off x="566928" y="6547104"/>
            <a:ext cx="5943600" cy="182880"/>
          </a:xfrm>
          <a:prstGeom prst="rect">
            <a:avLst/>
          </a:prstGeom>
          <a:noFill/>
          <a:ln/>
        </p:spPr>
        <p:txBody>
          <a:bodyPr wrap="square" lIns="0" tIns="0" rIns="0" bIns="0" rtlCol="0" anchor="t"/>
          <a:lstStyle/>
          <a:p>
            <a:pPr algn="l" indent="0" marL="0">
              <a:buNone/>
            </a:pPr>
            <a:r>
              <a:rPr lang="en-US" sz="730" spc="60" kern="0" dirty="0">
                <a:solidFill>
                  <a:srgbClr val="8A9A94"/>
                </a:solidFill>
                <a:latin typeface="Courier New" pitchFamily="34" charset="0"/>
                <a:ea typeface="Courier New" pitchFamily="34" charset="-122"/>
                <a:cs typeface="Courier New" pitchFamily="34" charset="-120"/>
              </a:rPr>
              <a:t>Cuidarte+ · Auditoría de calidad y seguridad</a:t>
            </a:r>
            <a:endParaRPr lang="en-US" sz="730" dirty="0"/>
          </a:p>
        </p:txBody>
      </p:sp>
      <p:sp>
        <p:nvSpPr>
          <p:cNvPr id="6" name="Text 4"/>
          <p:cNvSpPr/>
          <p:nvPr/>
        </p:nvSpPr>
        <p:spPr>
          <a:xfrm>
            <a:off x="10561320" y="6547104"/>
            <a:ext cx="1060704" cy="182880"/>
          </a:xfrm>
          <a:prstGeom prst="rect">
            <a:avLst/>
          </a:prstGeom>
          <a:noFill/>
          <a:ln/>
        </p:spPr>
        <p:txBody>
          <a:bodyPr wrap="square" lIns="0" tIns="0" rIns="0" bIns="0" rtlCol="0" anchor="t"/>
          <a:lstStyle/>
          <a:p>
            <a:pPr algn="r" indent="0" marL="0">
              <a:buNone/>
            </a:pPr>
            <a:r>
              <a:rPr lang="en-US" sz="730" spc="60" kern="0" dirty="0">
                <a:solidFill>
                  <a:srgbClr val="8A9A94"/>
                </a:solidFill>
                <a:latin typeface="Courier New" pitchFamily="34" charset="0"/>
                <a:ea typeface="Courier New" pitchFamily="34" charset="-122"/>
                <a:cs typeface="Courier New" pitchFamily="34" charset="-120"/>
              </a:rPr>
              <a:t>12 / 17</a:t>
            </a:r>
            <a:endParaRPr lang="en-US" sz="730" dirty="0"/>
          </a:p>
        </p:txBody>
      </p:sp>
      <p:sp>
        <p:nvSpPr>
          <p:cNvPr id="7" name="Shape 5"/>
          <p:cNvSpPr/>
          <p:nvPr/>
        </p:nvSpPr>
        <p:spPr>
          <a:xfrm>
            <a:off x="566928" y="1700784"/>
            <a:ext cx="4462272" cy="4315968"/>
          </a:xfrm>
          <a:prstGeom prst="roundRect">
            <a:avLst>
              <a:gd name="adj" fmla="val 530"/>
            </a:avLst>
          </a:prstGeom>
          <a:solidFill>
            <a:srgbClr val="123B33"/>
          </a:solidFill>
          <a:ln w="7620">
            <a:solidFill>
              <a:srgbClr val="123B33"/>
            </a:solidFill>
            <a:prstDash val="solid"/>
          </a:ln>
          <a:effectLst>
            <a:outerShdw sx="100000" sy="100000" kx="0" ky="0" algn="bl" rotWithShape="0" blurRad="88900" dist="25400" dir="5400000">
              <a:srgbClr val="000000">
                <a:alpha val="5000"/>
              </a:srgbClr>
            </a:outerShdw>
          </a:effectLst>
        </p:spPr>
      </p:sp>
      <p:sp>
        <p:nvSpPr>
          <p:cNvPr id="8" name="Text 6"/>
          <p:cNvSpPr/>
          <p:nvPr/>
        </p:nvSpPr>
        <p:spPr>
          <a:xfrm>
            <a:off x="841248" y="1920240"/>
            <a:ext cx="3657600" cy="201168"/>
          </a:xfrm>
          <a:prstGeom prst="rect">
            <a:avLst/>
          </a:prstGeom>
          <a:noFill/>
          <a:ln/>
        </p:spPr>
        <p:txBody>
          <a:bodyPr wrap="square" lIns="0" tIns="0" rIns="0" bIns="0" rtlCol="0" anchor="t"/>
          <a:lstStyle/>
          <a:p>
            <a:pPr algn="l" indent="0" marL="0">
              <a:buNone/>
            </a:pPr>
            <a:r>
              <a:rPr lang="en-US" sz="760" b="1" spc="150" kern="0" dirty="0">
                <a:solidFill>
                  <a:srgbClr val="9FD3C7"/>
                </a:solidFill>
                <a:latin typeface="Courier New" pitchFamily="34" charset="0"/>
                <a:ea typeface="Courier New" pitchFamily="34" charset="-122"/>
                <a:cs typeface="Courier New" pitchFamily="34" charset="-120"/>
              </a:rPr>
              <a:t>VEREDICTO</a:t>
            </a:r>
            <a:endParaRPr lang="en-US" sz="760" dirty="0"/>
          </a:p>
        </p:txBody>
      </p:sp>
      <p:sp>
        <p:nvSpPr>
          <p:cNvPr id="9" name="Text 7"/>
          <p:cNvSpPr/>
          <p:nvPr/>
        </p:nvSpPr>
        <p:spPr>
          <a:xfrm>
            <a:off x="841248" y="2212848"/>
            <a:ext cx="3886200" cy="868680"/>
          </a:xfrm>
          <a:prstGeom prst="rect">
            <a:avLst/>
          </a:prstGeom>
          <a:noFill/>
          <a:ln/>
        </p:spPr>
        <p:txBody>
          <a:bodyPr wrap="square" lIns="0" tIns="0" rIns="0" bIns="0" rtlCol="0" anchor="t"/>
          <a:lstStyle/>
          <a:p>
            <a:pPr algn="l" indent="0" marL="0">
              <a:lnSpc>
                <a:spcPts val="3300"/>
              </a:lnSpc>
              <a:buNone/>
            </a:pPr>
            <a:r>
              <a:rPr lang="en-US" sz="2800" b="1" dirty="0">
                <a:solidFill>
                  <a:srgbClr val="FFFFFF"/>
                </a:solidFill>
                <a:latin typeface="Cambria" pitchFamily="34" charset="0"/>
                <a:ea typeface="Cambria" pitchFamily="34" charset="-122"/>
                <a:cs typeface="Cambria" pitchFamily="34" charset="-120"/>
              </a:rPr>
              <a:t>GO</a:t>
            </a:r>
            <a:endParaRPr lang="en-US" sz="2800" dirty="0"/>
          </a:p>
          <a:p>
            <a:pPr algn="l" indent="0" marL="0">
              <a:lnSpc>
                <a:spcPts val="3300"/>
              </a:lnSpc>
              <a:buNone/>
            </a:pPr>
            <a:r>
              <a:rPr lang="en-US" sz="2800" b="1" dirty="0">
                <a:solidFill>
                  <a:srgbClr val="FFFFFF"/>
                </a:solidFill>
                <a:latin typeface="Cambria" pitchFamily="34" charset="0"/>
                <a:ea typeface="Cambria" pitchFamily="34" charset="-122"/>
                <a:cs typeface="Cambria" pitchFamily="34" charset="-120"/>
              </a:rPr>
              <a:t>CONDICIONADO</a:t>
            </a:r>
            <a:endParaRPr lang="en-US" sz="2800" dirty="0"/>
          </a:p>
        </p:txBody>
      </p:sp>
      <p:sp>
        <p:nvSpPr>
          <p:cNvPr id="10" name="Text 8"/>
          <p:cNvSpPr/>
          <p:nvPr/>
        </p:nvSpPr>
        <p:spPr>
          <a:xfrm>
            <a:off x="841248" y="3246120"/>
            <a:ext cx="3794760" cy="502920"/>
          </a:xfrm>
          <a:prstGeom prst="rect">
            <a:avLst/>
          </a:prstGeom>
          <a:noFill/>
          <a:ln/>
        </p:spPr>
        <p:txBody>
          <a:bodyPr wrap="square" lIns="0" tIns="0" rIns="0" bIns="0" rtlCol="0" anchor="t"/>
          <a:lstStyle/>
          <a:p>
            <a:pPr algn="l" indent="0" marL="0">
              <a:lnSpc>
                <a:spcPts val="1500"/>
              </a:lnSpc>
              <a:buNone/>
            </a:pPr>
            <a:r>
              <a:rPr lang="en-US" sz="1100" dirty="0">
                <a:solidFill>
                  <a:srgbClr val="DCEBE5"/>
                </a:solidFill>
                <a:latin typeface="Calibri" pitchFamily="34" charset="0"/>
                <a:ea typeface="Calibri" pitchFamily="34" charset="-122"/>
                <a:cs typeface="Calibri" pitchFamily="34" charset="-120"/>
              </a:rPr>
              <a:t>Si H-01 a H-04 no se corrigen, el veredicto es NO-GO.</a:t>
            </a:r>
            <a:endParaRPr lang="en-US" sz="1100" dirty="0"/>
          </a:p>
        </p:txBody>
      </p:sp>
      <p:sp>
        <p:nvSpPr>
          <p:cNvPr id="11" name="Text 9"/>
          <p:cNvSpPr/>
          <p:nvPr/>
        </p:nvSpPr>
        <p:spPr>
          <a:xfrm>
            <a:off x="841248" y="3886200"/>
            <a:ext cx="3840480" cy="411480"/>
          </a:xfrm>
          <a:prstGeom prst="rect">
            <a:avLst/>
          </a:prstGeom>
          <a:noFill/>
          <a:ln/>
        </p:spPr>
        <p:txBody>
          <a:bodyPr wrap="square" lIns="0" tIns="0" rIns="0" bIns="0" rtlCol="0" anchor="t"/>
          <a:lstStyle/>
          <a:p>
            <a:pPr algn="l" indent="0" marL="0">
              <a:lnSpc>
                <a:spcPts val="1200"/>
              </a:lnSpc>
              <a:buNone/>
            </a:pPr>
            <a:r>
              <a:rPr lang="en-US" sz="860" dirty="0">
                <a:solidFill>
                  <a:srgbClr val="9FD3C7"/>
                </a:solidFill>
                <a:latin typeface="Calibri" pitchFamily="34" charset="0"/>
                <a:ea typeface="Calibri" pitchFamily="34" charset="-122"/>
                <a:cs typeface="Calibri" pitchFamily="34" charset="-120"/>
              </a:rPr>
              <a:t>Alcance: módulo de pacientes y controles asociados.</a:t>
            </a:r>
            <a:endParaRPr lang="en-US" sz="860" dirty="0"/>
          </a:p>
        </p:txBody>
      </p:sp>
      <p:sp>
        <p:nvSpPr>
          <p:cNvPr id="12" name="Text 10"/>
          <p:cNvSpPr/>
          <p:nvPr/>
        </p:nvSpPr>
        <p:spPr>
          <a:xfrm>
            <a:off x="841248" y="5074920"/>
            <a:ext cx="3840480" cy="502920"/>
          </a:xfrm>
          <a:prstGeom prst="rect">
            <a:avLst/>
          </a:prstGeom>
          <a:noFill/>
          <a:ln/>
        </p:spPr>
        <p:txBody>
          <a:bodyPr wrap="square" lIns="0" tIns="0" rIns="0" bIns="0" rtlCol="0" anchor="t"/>
          <a:lstStyle/>
          <a:p>
            <a:pPr algn="l" indent="0" marL="0">
              <a:lnSpc>
                <a:spcPts val="1600"/>
              </a:lnSpc>
              <a:buNone/>
            </a:pPr>
            <a:r>
              <a:rPr lang="en-US" sz="1200" i="1" dirty="0">
                <a:solidFill>
                  <a:srgbClr val="FFFFFF"/>
                </a:solidFill>
                <a:latin typeface="Cambria" pitchFamily="34" charset="0"/>
                <a:ea typeface="Cambria" pitchFamily="34" charset="-122"/>
                <a:cs typeface="Cambria" pitchFamily="34" charset="-120"/>
              </a:rPr>
              <a:t>Antes de producción, no después de un incidente.</a:t>
            </a:r>
            <a:endParaRPr lang="en-US" sz="1200" dirty="0"/>
          </a:p>
        </p:txBody>
      </p:sp>
      <p:sp>
        <p:nvSpPr>
          <p:cNvPr id="13" name="Shape 11"/>
          <p:cNvSpPr/>
          <p:nvPr/>
        </p:nvSpPr>
        <p:spPr>
          <a:xfrm>
            <a:off x="5358384" y="1700784"/>
            <a:ext cx="6263640" cy="941832"/>
          </a:xfrm>
          <a:prstGeom prst="roundRect">
            <a:avLst>
              <a:gd name="adj" fmla="val 2427"/>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14" name="Text 12"/>
          <p:cNvSpPr/>
          <p:nvPr/>
        </p:nvSpPr>
        <p:spPr>
          <a:xfrm>
            <a:off x="5504688" y="1810512"/>
            <a:ext cx="365760" cy="201168"/>
          </a:xfrm>
          <a:prstGeom prst="rect">
            <a:avLst/>
          </a:prstGeom>
          <a:noFill/>
          <a:ln/>
        </p:spPr>
        <p:txBody>
          <a:bodyPr wrap="square" lIns="0" tIns="0" rIns="0" bIns="0" rtlCol="0" anchor="t"/>
          <a:lstStyle/>
          <a:p>
            <a:pPr algn="l" indent="0" marL="0">
              <a:buNone/>
            </a:pPr>
            <a:r>
              <a:rPr lang="en-US" sz="800" b="1" dirty="0">
                <a:solidFill>
                  <a:srgbClr val="C98A1E"/>
                </a:solidFill>
                <a:latin typeface="Courier New" pitchFamily="34" charset="0"/>
                <a:ea typeface="Courier New" pitchFamily="34" charset="-122"/>
                <a:cs typeface="Courier New" pitchFamily="34" charset="-120"/>
              </a:rPr>
              <a:t>01</a:t>
            </a:r>
            <a:endParaRPr lang="en-US" sz="800" dirty="0"/>
          </a:p>
        </p:txBody>
      </p:sp>
      <p:sp>
        <p:nvSpPr>
          <p:cNvPr id="15" name="Shape 13"/>
          <p:cNvSpPr/>
          <p:nvPr/>
        </p:nvSpPr>
        <p:spPr>
          <a:xfrm>
            <a:off x="5925312" y="1810512"/>
            <a:ext cx="566928" cy="201168"/>
          </a:xfrm>
          <a:prstGeom prst="roundRect">
            <a:avLst>
              <a:gd name="adj" fmla="val 18182"/>
            </a:avLst>
          </a:prstGeom>
          <a:solidFill>
            <a:srgbClr val="EDF4F0"/>
          </a:solidFill>
          <a:ln w="12700">
            <a:solidFill>
              <a:srgbClr val="EDF4F0"/>
            </a:solidFill>
            <a:prstDash val="solid"/>
          </a:ln>
        </p:spPr>
      </p:sp>
      <p:sp>
        <p:nvSpPr>
          <p:cNvPr id="16" name="Text 14"/>
          <p:cNvSpPr/>
          <p:nvPr/>
        </p:nvSpPr>
        <p:spPr>
          <a:xfrm>
            <a:off x="5998464" y="1847088"/>
            <a:ext cx="420624" cy="155448"/>
          </a:xfrm>
          <a:prstGeom prst="rect">
            <a:avLst/>
          </a:prstGeom>
          <a:noFill/>
          <a:ln/>
        </p:spPr>
        <p:txBody>
          <a:bodyPr wrap="square" lIns="0" tIns="0" rIns="0" bIns="0" rtlCol="0" anchor="t"/>
          <a:lstStyle/>
          <a:p>
            <a:pPr algn="l" indent="0" marL="0">
              <a:buNone/>
            </a:pPr>
            <a:r>
              <a:rPr lang="en-US" sz="660" b="1" spc="80" kern="0" dirty="0">
                <a:solidFill>
                  <a:srgbClr val="123B33"/>
                </a:solidFill>
                <a:latin typeface="Courier New" pitchFamily="34" charset="0"/>
                <a:ea typeface="Courier New" pitchFamily="34" charset="-122"/>
                <a:cs typeface="Courier New" pitchFamily="34" charset="-120"/>
              </a:rPr>
              <a:t>H-01</a:t>
            </a:r>
            <a:endParaRPr lang="en-US" sz="660" dirty="0"/>
          </a:p>
        </p:txBody>
      </p:sp>
      <p:sp>
        <p:nvSpPr>
          <p:cNvPr id="17" name="Text 15"/>
          <p:cNvSpPr/>
          <p:nvPr/>
        </p:nvSpPr>
        <p:spPr>
          <a:xfrm>
            <a:off x="6620256" y="1792224"/>
            <a:ext cx="4800600" cy="237744"/>
          </a:xfrm>
          <a:prstGeom prst="rect">
            <a:avLst/>
          </a:prstGeom>
          <a:noFill/>
          <a:ln/>
        </p:spPr>
        <p:txBody>
          <a:bodyPr wrap="square" lIns="0" tIns="0" rIns="0" bIns="0" rtlCol="0" anchor="t"/>
          <a:lstStyle/>
          <a:p>
            <a:pPr algn="l" indent="0" marL="0">
              <a:buNone/>
            </a:pPr>
            <a:r>
              <a:rPr lang="en-US" sz="1150" b="1" dirty="0">
                <a:solidFill>
                  <a:srgbClr val="1A2A25"/>
                </a:solidFill>
                <a:latin typeface="Calibri" pitchFamily="34" charset="0"/>
                <a:ea typeface="Calibri" pitchFamily="34" charset="-122"/>
                <a:cs typeface="Calibri" pitchFamily="34" charset="-120"/>
              </a:rPr>
              <a:t>Hash de contraseñas con bcrypt o argon2</a:t>
            </a:r>
            <a:endParaRPr lang="en-US" sz="1150" dirty="0"/>
          </a:p>
        </p:txBody>
      </p:sp>
      <p:sp>
        <p:nvSpPr>
          <p:cNvPr id="18" name="Text 16"/>
          <p:cNvSpPr/>
          <p:nvPr/>
        </p:nvSpPr>
        <p:spPr>
          <a:xfrm>
            <a:off x="6620256" y="2130552"/>
            <a:ext cx="4800600" cy="365760"/>
          </a:xfrm>
          <a:prstGeom prst="rect">
            <a:avLst/>
          </a:prstGeom>
          <a:noFill/>
          <a:ln/>
        </p:spPr>
        <p:txBody>
          <a:bodyPr wrap="square" lIns="0" tIns="0" rIns="0" bIns="0" rtlCol="0" anchor="t"/>
          <a:lstStyle/>
          <a:p>
            <a:pPr algn="l" indent="0" marL="0">
              <a:lnSpc>
                <a:spcPts val="1100"/>
              </a:lnSpc>
              <a:buNone/>
            </a:pPr>
            <a:r>
              <a:rPr lang="en-US" sz="870" dirty="0">
                <a:solidFill>
                  <a:srgbClr val="5C6D67"/>
                </a:solidFill>
                <a:latin typeface="Calibri" pitchFamily="34" charset="0"/>
                <a:ea typeface="Calibri" pitchFamily="34" charset="-122"/>
                <a:cs typeface="Calibri" pitchFamily="34" charset="-120"/>
              </a:rPr>
              <a:t>Ninguna contraseña legible en la base de datos.</a:t>
            </a:r>
            <a:endParaRPr lang="en-US" sz="870" dirty="0"/>
          </a:p>
        </p:txBody>
      </p:sp>
      <p:sp>
        <p:nvSpPr>
          <p:cNvPr id="19" name="Shape 17"/>
          <p:cNvSpPr/>
          <p:nvPr/>
        </p:nvSpPr>
        <p:spPr>
          <a:xfrm>
            <a:off x="5358384" y="2752344"/>
            <a:ext cx="6263640" cy="941832"/>
          </a:xfrm>
          <a:prstGeom prst="roundRect">
            <a:avLst>
              <a:gd name="adj" fmla="val 2427"/>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20" name="Text 18"/>
          <p:cNvSpPr/>
          <p:nvPr/>
        </p:nvSpPr>
        <p:spPr>
          <a:xfrm>
            <a:off x="5504688" y="2862072"/>
            <a:ext cx="365760" cy="201168"/>
          </a:xfrm>
          <a:prstGeom prst="rect">
            <a:avLst/>
          </a:prstGeom>
          <a:noFill/>
          <a:ln/>
        </p:spPr>
        <p:txBody>
          <a:bodyPr wrap="square" lIns="0" tIns="0" rIns="0" bIns="0" rtlCol="0" anchor="t"/>
          <a:lstStyle/>
          <a:p>
            <a:pPr algn="l" indent="0" marL="0">
              <a:buNone/>
            </a:pPr>
            <a:r>
              <a:rPr lang="en-US" sz="800" b="1" dirty="0">
                <a:solidFill>
                  <a:srgbClr val="C98A1E"/>
                </a:solidFill>
                <a:latin typeface="Courier New" pitchFamily="34" charset="0"/>
                <a:ea typeface="Courier New" pitchFamily="34" charset="-122"/>
                <a:cs typeface="Courier New" pitchFamily="34" charset="-120"/>
              </a:rPr>
              <a:t>02</a:t>
            </a:r>
            <a:endParaRPr lang="en-US" sz="800" dirty="0"/>
          </a:p>
        </p:txBody>
      </p:sp>
      <p:sp>
        <p:nvSpPr>
          <p:cNvPr id="21" name="Shape 19"/>
          <p:cNvSpPr/>
          <p:nvPr/>
        </p:nvSpPr>
        <p:spPr>
          <a:xfrm>
            <a:off x="5925312" y="2862072"/>
            <a:ext cx="566928" cy="201168"/>
          </a:xfrm>
          <a:prstGeom prst="roundRect">
            <a:avLst>
              <a:gd name="adj" fmla="val 18182"/>
            </a:avLst>
          </a:prstGeom>
          <a:solidFill>
            <a:srgbClr val="EDF4F0"/>
          </a:solidFill>
          <a:ln w="12700">
            <a:solidFill>
              <a:srgbClr val="EDF4F0"/>
            </a:solidFill>
            <a:prstDash val="solid"/>
          </a:ln>
        </p:spPr>
      </p:sp>
      <p:sp>
        <p:nvSpPr>
          <p:cNvPr id="22" name="Text 20"/>
          <p:cNvSpPr/>
          <p:nvPr/>
        </p:nvSpPr>
        <p:spPr>
          <a:xfrm>
            <a:off x="5998464" y="2898648"/>
            <a:ext cx="420624" cy="155448"/>
          </a:xfrm>
          <a:prstGeom prst="rect">
            <a:avLst/>
          </a:prstGeom>
          <a:noFill/>
          <a:ln/>
        </p:spPr>
        <p:txBody>
          <a:bodyPr wrap="square" lIns="0" tIns="0" rIns="0" bIns="0" rtlCol="0" anchor="t"/>
          <a:lstStyle/>
          <a:p>
            <a:pPr algn="l" indent="0" marL="0">
              <a:buNone/>
            </a:pPr>
            <a:r>
              <a:rPr lang="en-US" sz="660" b="1" spc="80" kern="0" dirty="0">
                <a:solidFill>
                  <a:srgbClr val="123B33"/>
                </a:solidFill>
                <a:latin typeface="Courier New" pitchFamily="34" charset="0"/>
                <a:ea typeface="Courier New" pitchFamily="34" charset="-122"/>
                <a:cs typeface="Courier New" pitchFamily="34" charset="-120"/>
              </a:rPr>
              <a:t>H-02</a:t>
            </a:r>
            <a:endParaRPr lang="en-US" sz="660" dirty="0"/>
          </a:p>
        </p:txBody>
      </p:sp>
      <p:sp>
        <p:nvSpPr>
          <p:cNvPr id="23" name="Text 21"/>
          <p:cNvSpPr/>
          <p:nvPr/>
        </p:nvSpPr>
        <p:spPr>
          <a:xfrm>
            <a:off x="6620256" y="2843784"/>
            <a:ext cx="4800600" cy="237744"/>
          </a:xfrm>
          <a:prstGeom prst="rect">
            <a:avLst/>
          </a:prstGeom>
          <a:noFill/>
          <a:ln/>
        </p:spPr>
        <p:txBody>
          <a:bodyPr wrap="square" lIns="0" tIns="0" rIns="0" bIns="0" rtlCol="0" anchor="t"/>
          <a:lstStyle/>
          <a:p>
            <a:pPr algn="l" indent="0" marL="0">
              <a:buNone/>
            </a:pPr>
            <a:r>
              <a:rPr lang="en-US" sz="1150" b="1" dirty="0">
                <a:solidFill>
                  <a:srgbClr val="1A2A25"/>
                </a:solidFill>
                <a:latin typeface="Calibri" pitchFamily="34" charset="0"/>
                <a:ea typeface="Calibri" pitchFamily="34" charset="-122"/>
                <a:cs typeface="Calibri" pitchFamily="34" charset="-120"/>
              </a:rPr>
              <a:t>Revocación de JWT y secreto por entorno</a:t>
            </a:r>
            <a:endParaRPr lang="en-US" sz="1150" dirty="0"/>
          </a:p>
        </p:txBody>
      </p:sp>
      <p:sp>
        <p:nvSpPr>
          <p:cNvPr id="24" name="Text 22"/>
          <p:cNvSpPr/>
          <p:nvPr/>
        </p:nvSpPr>
        <p:spPr>
          <a:xfrm>
            <a:off x="6620256" y="3182112"/>
            <a:ext cx="4800600" cy="365760"/>
          </a:xfrm>
          <a:prstGeom prst="rect">
            <a:avLst/>
          </a:prstGeom>
          <a:noFill/>
          <a:ln/>
        </p:spPr>
        <p:txBody>
          <a:bodyPr wrap="square" lIns="0" tIns="0" rIns="0" bIns="0" rtlCol="0" anchor="t"/>
          <a:lstStyle/>
          <a:p>
            <a:pPr algn="l" indent="0" marL="0">
              <a:lnSpc>
                <a:spcPts val="1100"/>
              </a:lnSpc>
              <a:buNone/>
            </a:pPr>
            <a:r>
              <a:rPr lang="en-US" sz="870" dirty="0">
                <a:solidFill>
                  <a:srgbClr val="5C6D67"/>
                </a:solidFill>
                <a:latin typeface="Calibri" pitchFamily="34" charset="0"/>
                <a:ea typeface="Calibri" pitchFamily="34" charset="-122"/>
                <a:cs typeface="Calibri" pitchFamily="34" charset="-120"/>
              </a:rPr>
              <a:t>Token inválido tras logout; sin secreto por defecto.</a:t>
            </a:r>
            <a:endParaRPr lang="en-US" sz="870" dirty="0"/>
          </a:p>
        </p:txBody>
      </p:sp>
      <p:sp>
        <p:nvSpPr>
          <p:cNvPr id="25" name="Shape 23"/>
          <p:cNvSpPr/>
          <p:nvPr/>
        </p:nvSpPr>
        <p:spPr>
          <a:xfrm>
            <a:off x="5358384" y="3803904"/>
            <a:ext cx="6263640" cy="941832"/>
          </a:xfrm>
          <a:prstGeom prst="roundRect">
            <a:avLst>
              <a:gd name="adj" fmla="val 2427"/>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26" name="Text 24"/>
          <p:cNvSpPr/>
          <p:nvPr/>
        </p:nvSpPr>
        <p:spPr>
          <a:xfrm>
            <a:off x="5504688" y="3913632"/>
            <a:ext cx="365760" cy="201168"/>
          </a:xfrm>
          <a:prstGeom prst="rect">
            <a:avLst/>
          </a:prstGeom>
          <a:noFill/>
          <a:ln/>
        </p:spPr>
        <p:txBody>
          <a:bodyPr wrap="square" lIns="0" tIns="0" rIns="0" bIns="0" rtlCol="0" anchor="t"/>
          <a:lstStyle/>
          <a:p>
            <a:pPr algn="l" indent="0" marL="0">
              <a:buNone/>
            </a:pPr>
            <a:r>
              <a:rPr lang="en-US" sz="800" b="1" dirty="0">
                <a:solidFill>
                  <a:srgbClr val="C98A1E"/>
                </a:solidFill>
                <a:latin typeface="Courier New" pitchFamily="34" charset="0"/>
                <a:ea typeface="Courier New" pitchFamily="34" charset="-122"/>
                <a:cs typeface="Courier New" pitchFamily="34" charset="-120"/>
              </a:rPr>
              <a:t>03</a:t>
            </a:r>
            <a:endParaRPr lang="en-US" sz="800" dirty="0"/>
          </a:p>
        </p:txBody>
      </p:sp>
      <p:sp>
        <p:nvSpPr>
          <p:cNvPr id="27" name="Shape 25"/>
          <p:cNvSpPr/>
          <p:nvPr/>
        </p:nvSpPr>
        <p:spPr>
          <a:xfrm>
            <a:off x="5925312" y="3913632"/>
            <a:ext cx="566928" cy="201168"/>
          </a:xfrm>
          <a:prstGeom prst="roundRect">
            <a:avLst>
              <a:gd name="adj" fmla="val 18182"/>
            </a:avLst>
          </a:prstGeom>
          <a:solidFill>
            <a:srgbClr val="EDF4F0"/>
          </a:solidFill>
          <a:ln w="12700">
            <a:solidFill>
              <a:srgbClr val="EDF4F0"/>
            </a:solidFill>
            <a:prstDash val="solid"/>
          </a:ln>
        </p:spPr>
      </p:sp>
      <p:sp>
        <p:nvSpPr>
          <p:cNvPr id="28" name="Text 26"/>
          <p:cNvSpPr/>
          <p:nvPr/>
        </p:nvSpPr>
        <p:spPr>
          <a:xfrm>
            <a:off x="5998464" y="3950208"/>
            <a:ext cx="420624" cy="155448"/>
          </a:xfrm>
          <a:prstGeom prst="rect">
            <a:avLst/>
          </a:prstGeom>
          <a:noFill/>
          <a:ln/>
        </p:spPr>
        <p:txBody>
          <a:bodyPr wrap="square" lIns="0" tIns="0" rIns="0" bIns="0" rtlCol="0" anchor="t"/>
          <a:lstStyle/>
          <a:p>
            <a:pPr algn="l" indent="0" marL="0">
              <a:buNone/>
            </a:pPr>
            <a:r>
              <a:rPr lang="en-US" sz="660" b="1" spc="80" kern="0" dirty="0">
                <a:solidFill>
                  <a:srgbClr val="123B33"/>
                </a:solidFill>
                <a:latin typeface="Courier New" pitchFamily="34" charset="0"/>
                <a:ea typeface="Courier New" pitchFamily="34" charset="-122"/>
                <a:cs typeface="Courier New" pitchFamily="34" charset="-120"/>
              </a:rPr>
              <a:t>H-03</a:t>
            </a:r>
            <a:endParaRPr lang="en-US" sz="660" dirty="0"/>
          </a:p>
        </p:txBody>
      </p:sp>
      <p:sp>
        <p:nvSpPr>
          <p:cNvPr id="29" name="Text 27"/>
          <p:cNvSpPr/>
          <p:nvPr/>
        </p:nvSpPr>
        <p:spPr>
          <a:xfrm>
            <a:off x="6620256" y="3895344"/>
            <a:ext cx="4800600" cy="237744"/>
          </a:xfrm>
          <a:prstGeom prst="rect">
            <a:avLst/>
          </a:prstGeom>
          <a:noFill/>
          <a:ln/>
        </p:spPr>
        <p:txBody>
          <a:bodyPr wrap="square" lIns="0" tIns="0" rIns="0" bIns="0" rtlCol="0" anchor="t"/>
          <a:lstStyle/>
          <a:p>
            <a:pPr algn="l" indent="0" marL="0">
              <a:buNone/>
            </a:pPr>
            <a:r>
              <a:rPr lang="en-US" sz="1150" b="1" dirty="0">
                <a:solidFill>
                  <a:srgbClr val="1A2A25"/>
                </a:solidFill>
                <a:latin typeface="Calibri" pitchFamily="34" charset="0"/>
                <a:ea typeface="Calibri" pitchFamily="34" charset="-122"/>
                <a:cs typeface="Calibri" pitchFamily="34" charset="-120"/>
              </a:rPr>
              <a:t>Dígito verificador de RUT (módulo 11)</a:t>
            </a:r>
            <a:endParaRPr lang="en-US" sz="1150" dirty="0"/>
          </a:p>
        </p:txBody>
      </p:sp>
      <p:sp>
        <p:nvSpPr>
          <p:cNvPr id="30" name="Text 28"/>
          <p:cNvSpPr/>
          <p:nvPr/>
        </p:nvSpPr>
        <p:spPr>
          <a:xfrm>
            <a:off x="6620256" y="4233672"/>
            <a:ext cx="4800600" cy="365760"/>
          </a:xfrm>
          <a:prstGeom prst="rect">
            <a:avLst/>
          </a:prstGeom>
          <a:noFill/>
          <a:ln/>
        </p:spPr>
        <p:txBody>
          <a:bodyPr wrap="square" lIns="0" tIns="0" rIns="0" bIns="0" rtlCol="0" anchor="t"/>
          <a:lstStyle/>
          <a:p>
            <a:pPr algn="l" indent="0" marL="0">
              <a:lnSpc>
                <a:spcPts val="1100"/>
              </a:lnSpc>
              <a:buNone/>
            </a:pPr>
            <a:r>
              <a:rPr lang="en-US" sz="870" dirty="0">
                <a:solidFill>
                  <a:srgbClr val="5C6D67"/>
                </a:solidFill>
                <a:latin typeface="Calibri" pitchFamily="34" charset="0"/>
                <a:ea typeface="Calibri" pitchFamily="34" charset="-122"/>
                <a:cs typeface="Calibri" pitchFamily="34" charset="-120"/>
              </a:rPr>
              <a:t>21.437.351-4 rechazado; 21.437.351-3 aceptado.</a:t>
            </a:r>
            <a:endParaRPr lang="en-US" sz="870" dirty="0"/>
          </a:p>
        </p:txBody>
      </p:sp>
      <p:sp>
        <p:nvSpPr>
          <p:cNvPr id="31" name="Shape 29"/>
          <p:cNvSpPr/>
          <p:nvPr/>
        </p:nvSpPr>
        <p:spPr>
          <a:xfrm>
            <a:off x="5358384" y="4855464"/>
            <a:ext cx="6263640" cy="941832"/>
          </a:xfrm>
          <a:prstGeom prst="roundRect">
            <a:avLst>
              <a:gd name="adj" fmla="val 2427"/>
            </a:avLst>
          </a:prstGeom>
          <a:solidFill>
            <a:srgbClr val="FFFFFF"/>
          </a:solidFill>
          <a:ln w="7620">
            <a:solidFill>
              <a:srgbClr val="D7E0DB"/>
            </a:solidFill>
            <a:prstDash val="solid"/>
          </a:ln>
          <a:effectLst>
            <a:outerShdw sx="100000" sy="100000" kx="0" ky="0" algn="bl" rotWithShape="0" blurRad="88900" dist="25400" dir="5400000">
              <a:srgbClr val="000000">
                <a:alpha val="5000"/>
              </a:srgbClr>
            </a:outerShdw>
          </a:effectLst>
        </p:spPr>
      </p:sp>
      <p:sp>
        <p:nvSpPr>
          <p:cNvPr id="32" name="Text 30"/>
          <p:cNvSpPr/>
          <p:nvPr/>
        </p:nvSpPr>
        <p:spPr>
          <a:xfrm>
            <a:off x="5504688" y="4965192"/>
            <a:ext cx="365760" cy="201168"/>
          </a:xfrm>
          <a:prstGeom prst="rect">
            <a:avLst/>
          </a:prstGeom>
          <a:noFill/>
          <a:ln/>
        </p:spPr>
        <p:txBody>
          <a:bodyPr wrap="square" lIns="0" tIns="0" rIns="0" bIns="0" rtlCol="0" anchor="t"/>
          <a:lstStyle/>
          <a:p>
            <a:pPr algn="l" indent="0" marL="0">
              <a:buNone/>
            </a:pPr>
            <a:r>
              <a:rPr lang="en-US" sz="800" b="1" dirty="0">
                <a:solidFill>
                  <a:srgbClr val="C98A1E"/>
                </a:solidFill>
                <a:latin typeface="Courier New" pitchFamily="34" charset="0"/>
                <a:ea typeface="Courier New" pitchFamily="34" charset="-122"/>
                <a:cs typeface="Courier New" pitchFamily="34" charset="-120"/>
              </a:rPr>
              <a:t>04</a:t>
            </a:r>
            <a:endParaRPr lang="en-US" sz="800" dirty="0"/>
          </a:p>
        </p:txBody>
      </p:sp>
      <p:sp>
        <p:nvSpPr>
          <p:cNvPr id="33" name="Shape 31"/>
          <p:cNvSpPr/>
          <p:nvPr/>
        </p:nvSpPr>
        <p:spPr>
          <a:xfrm>
            <a:off x="5925312" y="4965192"/>
            <a:ext cx="566928" cy="201168"/>
          </a:xfrm>
          <a:prstGeom prst="roundRect">
            <a:avLst>
              <a:gd name="adj" fmla="val 18182"/>
            </a:avLst>
          </a:prstGeom>
          <a:solidFill>
            <a:srgbClr val="EDF4F0"/>
          </a:solidFill>
          <a:ln w="12700">
            <a:solidFill>
              <a:srgbClr val="EDF4F0"/>
            </a:solidFill>
            <a:prstDash val="solid"/>
          </a:ln>
        </p:spPr>
      </p:sp>
      <p:sp>
        <p:nvSpPr>
          <p:cNvPr id="34" name="Text 32"/>
          <p:cNvSpPr/>
          <p:nvPr/>
        </p:nvSpPr>
        <p:spPr>
          <a:xfrm>
            <a:off x="5998464" y="5001768"/>
            <a:ext cx="420624" cy="155448"/>
          </a:xfrm>
          <a:prstGeom prst="rect">
            <a:avLst/>
          </a:prstGeom>
          <a:noFill/>
          <a:ln/>
        </p:spPr>
        <p:txBody>
          <a:bodyPr wrap="square" lIns="0" tIns="0" rIns="0" bIns="0" rtlCol="0" anchor="t"/>
          <a:lstStyle/>
          <a:p>
            <a:pPr algn="l" indent="0" marL="0">
              <a:buNone/>
            </a:pPr>
            <a:r>
              <a:rPr lang="en-US" sz="660" b="1" spc="80" kern="0" dirty="0">
                <a:solidFill>
                  <a:srgbClr val="123B33"/>
                </a:solidFill>
                <a:latin typeface="Courier New" pitchFamily="34" charset="0"/>
                <a:ea typeface="Courier New" pitchFamily="34" charset="-122"/>
                <a:cs typeface="Courier New" pitchFamily="34" charset="-120"/>
              </a:rPr>
              <a:t>H-04</a:t>
            </a:r>
            <a:endParaRPr lang="en-US" sz="660" dirty="0"/>
          </a:p>
        </p:txBody>
      </p:sp>
      <p:sp>
        <p:nvSpPr>
          <p:cNvPr id="35" name="Text 33"/>
          <p:cNvSpPr/>
          <p:nvPr/>
        </p:nvSpPr>
        <p:spPr>
          <a:xfrm>
            <a:off x="6620256" y="4946904"/>
            <a:ext cx="4800600" cy="237744"/>
          </a:xfrm>
          <a:prstGeom prst="rect">
            <a:avLst/>
          </a:prstGeom>
          <a:noFill/>
          <a:ln/>
        </p:spPr>
        <p:txBody>
          <a:bodyPr wrap="square" lIns="0" tIns="0" rIns="0" bIns="0" rtlCol="0" anchor="t"/>
          <a:lstStyle/>
          <a:p>
            <a:pPr algn="l" indent="0" marL="0">
              <a:buNone/>
            </a:pPr>
            <a:r>
              <a:rPr lang="en-US" sz="1150" b="1" dirty="0">
                <a:solidFill>
                  <a:srgbClr val="1A2A25"/>
                </a:solidFill>
                <a:latin typeface="Calibri" pitchFamily="34" charset="0"/>
                <a:ea typeface="Calibri" pitchFamily="34" charset="-122"/>
                <a:cs typeface="Calibri" pitchFamily="34" charset="-120"/>
              </a:rPr>
              <a:t>Autenticación en /files/documentos</a:t>
            </a:r>
            <a:endParaRPr lang="en-US" sz="1150" dirty="0"/>
          </a:p>
        </p:txBody>
      </p:sp>
      <p:sp>
        <p:nvSpPr>
          <p:cNvPr id="36" name="Text 34"/>
          <p:cNvSpPr/>
          <p:nvPr/>
        </p:nvSpPr>
        <p:spPr>
          <a:xfrm>
            <a:off x="6620256" y="5285232"/>
            <a:ext cx="4800600" cy="365760"/>
          </a:xfrm>
          <a:prstGeom prst="rect">
            <a:avLst/>
          </a:prstGeom>
          <a:noFill/>
          <a:ln/>
        </p:spPr>
        <p:txBody>
          <a:bodyPr wrap="square" lIns="0" tIns="0" rIns="0" bIns="0" rtlCol="0" anchor="t"/>
          <a:lstStyle/>
          <a:p>
            <a:pPr algn="l" indent="0" marL="0">
              <a:lnSpc>
                <a:spcPts val="1100"/>
              </a:lnSpc>
              <a:buNone/>
            </a:pPr>
            <a:r>
              <a:rPr lang="en-US" sz="870" dirty="0">
                <a:solidFill>
                  <a:srgbClr val="5C6D67"/>
                </a:solidFill>
                <a:latin typeface="Calibri" pitchFamily="34" charset="0"/>
                <a:ea typeface="Calibri" pitchFamily="34" charset="-122"/>
                <a:cs typeface="Calibri" pitchFamily="34" charset="-120"/>
              </a:rPr>
              <a:t>Documento sin sesión → 401.</a:t>
            </a:r>
            <a:endParaRPr lang="en-US" sz="870" dirty="0"/>
          </a:p>
        </p:txBody>
      </p:sp>
      <p:sp>
        <p:nvSpPr>
          <p:cNvPr id="37" name="Text 35"/>
          <p:cNvSpPr/>
          <p:nvPr/>
        </p:nvSpPr>
        <p:spPr>
          <a:xfrm>
            <a:off x="5358384" y="5989320"/>
            <a:ext cx="6263640" cy="320040"/>
          </a:xfrm>
          <a:prstGeom prst="rect">
            <a:avLst/>
          </a:prstGeom>
          <a:noFill/>
          <a:ln/>
        </p:spPr>
        <p:txBody>
          <a:bodyPr wrap="square" lIns="0" tIns="0" rIns="0" bIns="0" rtlCol="0" anchor="t"/>
          <a:lstStyle/>
          <a:p>
            <a:pPr algn="l" indent="0" marL="0">
              <a:buNone/>
            </a:pPr>
            <a:r>
              <a:rPr lang="en-US" sz="1050" i="1" dirty="0">
                <a:solidFill>
                  <a:srgbClr val="5C6D67"/>
                </a:solidFill>
                <a:latin typeface="Calibri" pitchFamily="34" charset="0"/>
                <a:ea typeface="Calibri" pitchFamily="34" charset="-122"/>
                <a:cs typeface="Calibri" pitchFamily="34" charset="-120"/>
              </a:rPr>
              <a:t>Ley 19.628 y 20.584: con datos clínicos, la seguridad es un deber de cuidado, no un ítem de checklist.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23B33"/>
        </a:solidFill>
      </p:bgPr>
    </p:bg>
    <p:spTree>
      <p:nvGrpSpPr>
        <p:cNvPr id="1" name=""/>
        <p:cNvGrpSpPr/>
        <p:nvPr/>
      </p:nvGrpSpPr>
      <p:grpSpPr>
        <a:xfrm>
          <a:off x="0" y="0"/>
          <a:ext cx="0" cy="0"/>
          <a:chOff x="0" y="0"/>
          <a:chExt cx="0" cy="0"/>
        </a:xfrm>
      </p:grpSpPr>
      <p:sp>
        <p:nvSpPr>
          <p:cNvPr id="2" name="Shape 0"/>
          <p:cNvSpPr/>
          <p:nvPr/>
        </p:nvSpPr>
        <p:spPr>
          <a:xfrm>
            <a:off x="566928" y="475488"/>
            <a:ext cx="82296" cy="82296"/>
          </a:xfrm>
          <a:prstGeom prst="rect">
            <a:avLst/>
          </a:prstGeom>
          <a:solidFill>
            <a:srgbClr val="C98A1E"/>
          </a:solidFill>
          <a:ln w="12700">
            <a:solidFill>
              <a:srgbClr val="C98A1E"/>
            </a:solidFill>
            <a:prstDash val="solid"/>
          </a:ln>
        </p:spPr>
      </p:sp>
      <p:sp>
        <p:nvSpPr>
          <p:cNvPr id="3" name="Text 1"/>
          <p:cNvSpPr/>
          <p:nvPr/>
        </p:nvSpPr>
        <p:spPr>
          <a:xfrm>
            <a:off x="749808" y="393192"/>
            <a:ext cx="3657600" cy="219456"/>
          </a:xfrm>
          <a:prstGeom prst="rect">
            <a:avLst/>
          </a:prstGeom>
          <a:noFill/>
          <a:ln/>
        </p:spPr>
        <p:txBody>
          <a:bodyPr wrap="square" lIns="0" tIns="0" rIns="0" bIns="0" rtlCol="0" anchor="t"/>
          <a:lstStyle/>
          <a:p>
            <a:pPr algn="l" indent="0" marL="0">
              <a:buNone/>
            </a:pPr>
            <a:r>
              <a:rPr lang="en-US" sz="850" b="1" spc="160" kern="0" dirty="0">
                <a:solidFill>
                  <a:srgbClr val="9FD3C7"/>
                </a:solidFill>
                <a:latin typeface="Courier New" pitchFamily="34" charset="0"/>
                <a:ea typeface="Courier New" pitchFamily="34" charset="-122"/>
                <a:cs typeface="Courier New" pitchFamily="34" charset="-120"/>
              </a:rPr>
              <a:t>CIERRE</a:t>
            </a:r>
            <a:endParaRPr lang="en-US" sz="850" dirty="0"/>
          </a:p>
        </p:txBody>
      </p:sp>
      <p:sp>
        <p:nvSpPr>
          <p:cNvPr id="4" name="Text 2"/>
          <p:cNvSpPr/>
          <p:nvPr/>
        </p:nvSpPr>
        <p:spPr>
          <a:xfrm>
            <a:off x="566928" y="1417320"/>
            <a:ext cx="10881360" cy="1828800"/>
          </a:xfrm>
          <a:prstGeom prst="rect">
            <a:avLst/>
          </a:prstGeom>
          <a:noFill/>
          <a:ln/>
        </p:spPr>
        <p:txBody>
          <a:bodyPr wrap="square" lIns="0" tIns="0" rIns="0" bIns="0" rtlCol="0" anchor="t"/>
          <a:lstStyle/>
          <a:p>
            <a:pPr indent="0" marL="0">
              <a:lnSpc>
                <a:spcPts val="4200"/>
              </a:lnSpc>
              <a:buNone/>
            </a:pPr>
            <a:r>
              <a:rPr lang="en-US" sz="3200" b="1" dirty="0">
                <a:solidFill>
                  <a:srgbClr val="FFFFFF"/>
                </a:solidFill>
                <a:latin typeface="Cambria" pitchFamily="34" charset="0"/>
                <a:ea typeface="Cambria" pitchFamily="34" charset="-122"/>
                <a:cs typeface="Cambria" pitchFamily="34" charset="-120"/>
              </a:rPr>
              <a:t>La calidad no termina en un gate verde.</a:t>
            </a:r>
            <a:endParaRPr lang="en-US" sz="3200" dirty="0"/>
          </a:p>
          <a:p>
            <a:pPr indent="0" marL="0">
              <a:lnSpc>
                <a:spcPts val="4200"/>
              </a:lnSpc>
              <a:buNone/>
            </a:pPr>
            <a:r>
              <a:rPr lang="en-US" sz="3200" b="1" dirty="0">
                <a:solidFill>
                  <a:srgbClr val="9FD3C7"/>
                </a:solidFill>
                <a:latin typeface="Cambria" pitchFamily="34" charset="0"/>
                <a:ea typeface="Cambria" pitchFamily="34" charset="-122"/>
                <a:cs typeface="Cambria" pitchFamily="34" charset="-120"/>
              </a:rPr>
              <a:t>Termina cuando el sistema protege a quien confía en él.</a:t>
            </a:r>
            <a:endParaRPr lang="en-US" sz="3200" dirty="0"/>
          </a:p>
        </p:txBody>
      </p:sp>
      <p:pic>
        <p:nvPicPr>
          <p:cNvPr id="5" name="Image 0" descr="C:\Users\ibane\AppData\Local\Temp\opencode\ecg.png">    </p:cNvPr>
          <p:cNvPicPr>
            <a:picLocks noChangeAspect="1"/>
          </p:cNvPicPr>
          <p:nvPr/>
        </p:nvPicPr>
        <p:blipFill>
          <a:blip r:embed="rId1"/>
          <a:stretch>
            <a:fillRect/>
          </a:stretch>
        </p:blipFill>
        <p:spPr>
          <a:xfrm>
            <a:off x="566928" y="3858768"/>
            <a:ext cx="11055096" cy="841248"/>
          </a:xfrm>
          <a:prstGeom prst="rect">
            <a:avLst/>
          </a:prstGeom>
        </p:spPr>
      </p:pic>
      <p:sp>
        <p:nvSpPr>
          <p:cNvPr id="6" name="Text 3"/>
          <p:cNvSpPr/>
          <p:nvPr/>
        </p:nvSpPr>
        <p:spPr>
          <a:xfrm>
            <a:off x="566928" y="5074920"/>
            <a:ext cx="4572000" cy="320040"/>
          </a:xfrm>
          <a:prstGeom prst="rect">
            <a:avLst/>
          </a:prstGeom>
          <a:noFill/>
          <a:ln/>
        </p:spPr>
        <p:txBody>
          <a:bodyPr wrap="square" lIns="0" tIns="0" rIns="0" bIns="0" rtlCol="0" anchor="t"/>
          <a:lstStyle/>
          <a:p>
            <a:pPr algn="l" indent="0" marL="0">
              <a:buNone/>
            </a:pPr>
            <a:r>
              <a:rPr lang="en-US" sz="1800" b="1" dirty="0">
                <a:solidFill>
                  <a:srgbClr val="FFFFFF"/>
                </a:solidFill>
                <a:latin typeface="Cambria" pitchFamily="34" charset="0"/>
                <a:ea typeface="Cambria" pitchFamily="34" charset="-122"/>
                <a:cs typeface="Cambria" pitchFamily="34" charset="-120"/>
              </a:rPr>
              <a:t>Gracias. Preguntas.</a:t>
            </a:r>
            <a:endParaRPr lang="en-US" sz="1800" dirty="0"/>
          </a:p>
        </p:txBody>
      </p:sp>
      <p:sp>
        <p:nvSpPr>
          <p:cNvPr id="7" name="Text 4"/>
          <p:cNvSpPr/>
          <p:nvPr/>
        </p:nvSpPr>
        <p:spPr>
          <a:xfrm>
            <a:off x="566928" y="5468112"/>
            <a:ext cx="5486400" cy="228600"/>
          </a:xfrm>
          <a:prstGeom prst="rect">
            <a:avLst/>
          </a:prstGeom>
          <a:noFill/>
          <a:ln/>
        </p:spPr>
        <p:txBody>
          <a:bodyPr wrap="square" lIns="0" tIns="0" rIns="0" bIns="0" rtlCol="0" anchor="t"/>
          <a:lstStyle/>
          <a:p>
            <a:pPr algn="l" indent="0" marL="0">
              <a:buNone/>
            </a:pPr>
            <a:r>
              <a:rPr lang="en-US" sz="1000" dirty="0">
                <a:solidFill>
                  <a:srgbClr val="DCEBE5"/>
                </a:solidFill>
                <a:latin typeface="Calibri" pitchFamily="34" charset="0"/>
                <a:ea typeface="Calibri" pitchFamily="34" charset="-122"/>
                <a:cs typeface="Calibri" pitchFamily="34" charset="-120"/>
              </a:rPr>
              <a:t>Benjamín Ibáñez · Gerardo Vera</a:t>
            </a:r>
            <a:endParaRPr lang="en-US" sz="1000" dirty="0"/>
          </a:p>
        </p:txBody>
      </p:sp>
      <p:sp>
        <p:nvSpPr>
          <p:cNvPr id="8" name="Text 5"/>
          <p:cNvSpPr/>
          <p:nvPr/>
        </p:nvSpPr>
        <p:spPr>
          <a:xfrm>
            <a:off x="566928" y="5760720"/>
            <a:ext cx="8229600" cy="228600"/>
          </a:xfrm>
          <a:prstGeom prst="rect">
            <a:avLst/>
          </a:prstGeom>
          <a:noFill/>
          <a:ln/>
        </p:spPr>
        <p:txBody>
          <a:bodyPr wrap="square" lIns="0" tIns="0" rIns="0" bIns="0" rtlCol="0" anchor="t"/>
          <a:lstStyle/>
          <a:p>
            <a:pPr algn="l" indent="0" marL="0">
              <a:buNone/>
            </a:pPr>
            <a:r>
              <a:rPr lang="en-US" sz="860" dirty="0">
                <a:solidFill>
                  <a:srgbClr val="9FD3C7"/>
                </a:solidFill>
                <a:latin typeface="Calibri" pitchFamily="34" charset="0"/>
                <a:ea typeface="Calibri" pitchFamily="34" charset="-122"/>
                <a:cs typeface="Calibri" pitchFamily="34" charset="-120"/>
              </a:rPr>
              <a:t>Anexos A–D disponibles para trazabilidad, métricas, normativa y evidencias.</a:t>
            </a:r>
            <a:endParaRPr lang="en-US" sz="860" dirty="0"/>
          </a:p>
        </p:txBody>
      </p:sp>
      <p:sp>
        <p:nvSpPr>
          <p:cNvPr id="9" name="Text 6"/>
          <p:cNvSpPr/>
          <p:nvPr/>
        </p:nvSpPr>
        <p:spPr>
          <a:xfrm>
            <a:off x="566928" y="6547104"/>
            <a:ext cx="5943600" cy="182880"/>
          </a:xfrm>
          <a:prstGeom prst="rect">
            <a:avLst/>
          </a:prstGeom>
          <a:noFill/>
          <a:ln/>
        </p:spPr>
        <p:txBody>
          <a:bodyPr wrap="square" lIns="0" tIns="0" rIns="0" bIns="0" rtlCol="0" anchor="t"/>
          <a:lstStyle/>
          <a:p>
            <a:pPr algn="l" indent="0" marL="0">
              <a:buNone/>
            </a:pPr>
            <a:r>
              <a:rPr lang="en-US" sz="730" spc="60" kern="0" dirty="0">
                <a:solidFill>
                  <a:srgbClr val="9FD3C7"/>
                </a:solidFill>
                <a:latin typeface="Courier New" pitchFamily="34" charset="0"/>
                <a:ea typeface="Courier New" pitchFamily="34" charset="-122"/>
                <a:cs typeface="Courier New" pitchFamily="34" charset="-120"/>
              </a:rPr>
              <a:t>Cuidarte+ · Auditoría de calidad y seguridad</a:t>
            </a:r>
            <a:endParaRPr lang="en-US" sz="730" dirty="0"/>
          </a:p>
        </p:txBody>
      </p:sp>
      <p:sp>
        <p:nvSpPr>
          <p:cNvPr id="10" name="Text 7"/>
          <p:cNvSpPr/>
          <p:nvPr/>
        </p:nvSpPr>
        <p:spPr>
          <a:xfrm>
            <a:off x="10561320" y="6547104"/>
            <a:ext cx="1060704" cy="182880"/>
          </a:xfrm>
          <a:prstGeom prst="rect">
            <a:avLst/>
          </a:prstGeom>
          <a:noFill/>
          <a:ln/>
        </p:spPr>
        <p:txBody>
          <a:bodyPr wrap="square" lIns="0" tIns="0" rIns="0" bIns="0" rtlCol="0" anchor="t"/>
          <a:lstStyle/>
          <a:p>
            <a:pPr algn="r" indent="0" marL="0">
              <a:buNone/>
            </a:pPr>
            <a:r>
              <a:rPr lang="en-US" sz="730" spc="60" kern="0" dirty="0">
                <a:solidFill>
                  <a:srgbClr val="9FD3C7"/>
                </a:solidFill>
                <a:latin typeface="Courier New" pitchFamily="34" charset="0"/>
                <a:ea typeface="Courier New" pitchFamily="34" charset="-122"/>
                <a:cs typeface="Courier New" pitchFamily="34" charset="-120"/>
              </a:rPr>
              <a:t>13 / 17</a:t>
            </a:r>
            <a:endParaRPr lang="en-US" sz="73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566928" y="411480"/>
            <a:ext cx="77724" cy="77724"/>
          </a:xfrm>
          <a:prstGeom prst="rect">
            <a:avLst/>
          </a:prstGeom>
          <a:solidFill>
            <a:srgbClr val="C98A1E"/>
          </a:solidFill>
          <a:ln w="12700">
            <a:solidFill>
              <a:srgbClr val="C98A1E"/>
            </a:solidFill>
            <a:prstDash val="solid"/>
          </a:ln>
        </p:spPr>
      </p:sp>
      <p:sp>
        <p:nvSpPr>
          <p:cNvPr id="3" name="Text 1"/>
          <p:cNvSpPr/>
          <p:nvPr/>
        </p:nvSpPr>
        <p:spPr>
          <a:xfrm>
            <a:off x="731520" y="338328"/>
            <a:ext cx="9601200" cy="201168"/>
          </a:xfrm>
          <a:prstGeom prst="rect">
            <a:avLst/>
          </a:prstGeom>
          <a:noFill/>
          <a:ln/>
        </p:spPr>
        <p:txBody>
          <a:bodyPr wrap="square" lIns="0" tIns="0" rIns="0" bIns="0" rtlCol="0" anchor="t"/>
          <a:lstStyle/>
          <a:p>
            <a:pPr algn="l" indent="0" marL="0">
              <a:buNone/>
            </a:pPr>
            <a:r>
              <a:rPr lang="en-US" sz="800" b="1" spc="130" kern="0" dirty="0">
                <a:solidFill>
                  <a:srgbClr val="5C6D67"/>
                </a:solidFill>
                <a:latin typeface="Courier New" pitchFamily="34" charset="0"/>
                <a:ea typeface="Courier New" pitchFamily="34" charset="-122"/>
                <a:cs typeface="Courier New" pitchFamily="34" charset="-120"/>
              </a:rPr>
              <a:t>ANEXO A · CASOS</a:t>
            </a:r>
            <a:endParaRPr lang="en-US" sz="800" dirty="0"/>
          </a:p>
        </p:txBody>
      </p:sp>
      <p:sp>
        <p:nvSpPr>
          <p:cNvPr id="4" name="Text 2"/>
          <p:cNvSpPr/>
          <p:nvPr/>
        </p:nvSpPr>
        <p:spPr>
          <a:xfrm>
            <a:off x="566928" y="640080"/>
            <a:ext cx="11057839" cy="941832"/>
          </a:xfrm>
          <a:prstGeom prst="rect">
            <a:avLst/>
          </a:prstGeom>
          <a:noFill/>
          <a:ln/>
        </p:spPr>
        <p:txBody>
          <a:bodyPr wrap="square" lIns="0" tIns="0" rIns="0" bIns="0" rtlCol="0" anchor="t"/>
          <a:lstStyle/>
          <a:p>
            <a:pPr algn="l" indent="0" marL="0">
              <a:lnSpc>
                <a:spcPts val="3100"/>
              </a:lnSpc>
              <a:buNone/>
            </a:pPr>
            <a:r>
              <a:rPr lang="en-US" sz="2600" b="1" dirty="0">
                <a:solidFill>
                  <a:srgbClr val="1A2A25"/>
                </a:solidFill>
                <a:latin typeface="Cambria" pitchFamily="34" charset="0"/>
                <a:ea typeface="Cambria" pitchFamily="34" charset="-122"/>
                <a:cs typeface="Cambria" pitchFamily="34" charset="-120"/>
              </a:rPr>
              <a:t>Ocho casos, un resultado por caso</a:t>
            </a:r>
            <a:endParaRPr lang="en-US" sz="2600" dirty="0"/>
          </a:p>
        </p:txBody>
      </p:sp>
      <p:sp>
        <p:nvSpPr>
          <p:cNvPr id="5" name="Text 3"/>
          <p:cNvSpPr/>
          <p:nvPr/>
        </p:nvSpPr>
        <p:spPr>
          <a:xfrm>
            <a:off x="566928" y="6547104"/>
            <a:ext cx="5943600" cy="182880"/>
          </a:xfrm>
          <a:prstGeom prst="rect">
            <a:avLst/>
          </a:prstGeom>
          <a:noFill/>
          <a:ln/>
        </p:spPr>
        <p:txBody>
          <a:bodyPr wrap="square" lIns="0" tIns="0" rIns="0" bIns="0" rtlCol="0" anchor="t"/>
          <a:lstStyle/>
          <a:p>
            <a:pPr algn="l" indent="0" marL="0">
              <a:buNone/>
            </a:pPr>
            <a:r>
              <a:rPr lang="en-US" sz="730" spc="60" kern="0" dirty="0">
                <a:solidFill>
                  <a:srgbClr val="8A9A94"/>
                </a:solidFill>
                <a:latin typeface="Courier New" pitchFamily="34" charset="0"/>
                <a:ea typeface="Courier New" pitchFamily="34" charset="-122"/>
                <a:cs typeface="Courier New" pitchFamily="34" charset="-120"/>
              </a:rPr>
              <a:t>Cuidarte+ · Auditoría de calidad y seguridad</a:t>
            </a:r>
            <a:endParaRPr lang="en-US" sz="730" dirty="0"/>
          </a:p>
        </p:txBody>
      </p:sp>
      <p:sp>
        <p:nvSpPr>
          <p:cNvPr id="6" name="Text 4"/>
          <p:cNvSpPr/>
          <p:nvPr/>
        </p:nvSpPr>
        <p:spPr>
          <a:xfrm>
            <a:off x="10561320" y="6547104"/>
            <a:ext cx="1060704" cy="182880"/>
          </a:xfrm>
          <a:prstGeom prst="rect">
            <a:avLst/>
          </a:prstGeom>
          <a:noFill/>
          <a:ln/>
        </p:spPr>
        <p:txBody>
          <a:bodyPr wrap="square" lIns="0" tIns="0" rIns="0" bIns="0" rtlCol="0" anchor="t"/>
          <a:lstStyle/>
          <a:p>
            <a:pPr algn="r" indent="0" marL="0">
              <a:buNone/>
            </a:pPr>
            <a:r>
              <a:rPr lang="en-US" sz="730" spc="60" kern="0" dirty="0">
                <a:solidFill>
                  <a:srgbClr val="8A9A94"/>
                </a:solidFill>
                <a:latin typeface="Courier New" pitchFamily="34" charset="0"/>
                <a:ea typeface="Courier New" pitchFamily="34" charset="-122"/>
                <a:cs typeface="Courier New" pitchFamily="34" charset="-120"/>
              </a:rPr>
              <a:t>14 / 17</a:t>
            </a:r>
            <a:endParaRPr lang="en-US" sz="73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700784"/>
          <a:ext cx="11055096" cy="914400"/>
        </p:xfrm>
        <a:graphic>
          <a:graphicData uri="http://schemas.openxmlformats.org/drawingml/2006/table">
            <a:tbl>
              <a:tblPr/>
              <a:tblGrid>
                <a:gridCol w="822960"/>
                <a:gridCol w="868680"/>
                <a:gridCol w="1828800"/>
                <a:gridCol w="1234440"/>
                <a:gridCol w="6300216"/>
              </a:tblGrid>
              <a:tr h="466344">
                <a:tc>
                  <a:txBody>
                    <a:bodyPr/>
                    <a:lstStyle/>
                    <a:p>
                      <a:pPr indent="0" marL="0">
                        <a:buNone/>
                      </a:pPr>
                      <a:r>
                        <a:rPr lang="en-US" sz="820" b="1" dirty="0">
                          <a:solidFill>
                            <a:srgbClr val="FFFFFF"/>
                          </a:solidFill>
                          <a:latin typeface="Courier New" pitchFamily="34" charset="0"/>
                          <a:ea typeface="Courier New" pitchFamily="34" charset="-122"/>
                          <a:cs typeface="Courier New" pitchFamily="34" charset="-120"/>
                        </a:rPr>
                        <a:t>Caso</a:t>
                      </a:r>
                      <a:endParaRPr lang="en-US" sz="82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c>
                  <a:txBody>
                    <a:bodyPr/>
                    <a:lstStyle/>
                    <a:p>
                      <a:pPr indent="0" marL="0">
                        <a:buNone/>
                      </a:pPr>
                      <a:r>
                        <a:rPr lang="en-US" sz="820" b="1" dirty="0">
                          <a:solidFill>
                            <a:srgbClr val="FFFFFF"/>
                          </a:solidFill>
                          <a:latin typeface="Calibri" pitchFamily="34" charset="0"/>
                          <a:ea typeface="Calibri" pitchFamily="34" charset="-122"/>
                          <a:cs typeface="Calibri" pitchFamily="34" charset="-120"/>
                        </a:rPr>
                        <a:t>RQ</a:t>
                      </a:r>
                      <a:endParaRPr lang="en-US" sz="82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c>
                  <a:txBody>
                    <a:bodyPr/>
                    <a:lstStyle/>
                    <a:p>
                      <a:pPr indent="0" marL="0">
                        <a:buNone/>
                      </a:pPr>
                      <a:r>
                        <a:rPr lang="en-US" sz="820" b="1" dirty="0">
                          <a:solidFill>
                            <a:srgbClr val="FFFFFF"/>
                          </a:solidFill>
                          <a:latin typeface="Calibri" pitchFamily="34" charset="0"/>
                          <a:ea typeface="Calibri" pitchFamily="34" charset="-122"/>
                          <a:cs typeface="Calibri" pitchFamily="34" charset="-120"/>
                        </a:rPr>
                        <a:t>Tipo</a:t>
                      </a:r>
                      <a:endParaRPr lang="en-US" sz="82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c>
                  <a:txBody>
                    <a:bodyPr/>
                    <a:lstStyle/>
                    <a:p>
                      <a:pPr indent="0" marL="0">
                        <a:buNone/>
                      </a:pPr>
                      <a:r>
                        <a:rPr lang="en-US" sz="820" b="1" dirty="0">
                          <a:solidFill>
                            <a:srgbClr val="FFFFFF"/>
                          </a:solidFill>
                          <a:latin typeface="Calibri" pitchFamily="34" charset="0"/>
                          <a:ea typeface="Calibri" pitchFamily="34" charset="-122"/>
                          <a:cs typeface="Calibri" pitchFamily="34" charset="-120"/>
                        </a:rPr>
                        <a:t>Resultado</a:t>
                      </a:r>
                      <a:endParaRPr lang="en-US" sz="82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c>
                  <a:txBody>
                    <a:bodyPr/>
                    <a:lstStyle/>
                    <a:p>
                      <a:pPr indent="0" marL="0">
                        <a:buNone/>
                      </a:pPr>
                      <a:r>
                        <a:rPr lang="en-US" sz="820" b="1" dirty="0">
                          <a:solidFill>
                            <a:srgbClr val="FFFFFF"/>
                          </a:solidFill>
                          <a:latin typeface="Courier New" pitchFamily="34" charset="0"/>
                          <a:ea typeface="Courier New" pitchFamily="34" charset="-122"/>
                          <a:cs typeface="Courier New" pitchFamily="34" charset="-120"/>
                        </a:rPr>
                        <a:t>Evidencia</a:t>
                      </a:r>
                      <a:endParaRPr lang="en-US" sz="82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r>
              <a:tr h="466344">
                <a:tc>
                  <a:txBody>
                    <a:bodyPr/>
                    <a:lstStyle/>
                    <a:p>
                      <a:pPr indent="0" marL="0">
                        <a:buNone/>
                      </a:pPr>
                      <a:r>
                        <a:rPr lang="en-US" sz="860" dirty="0">
                          <a:solidFill>
                            <a:srgbClr val="1A2A25"/>
                          </a:solidFill>
                          <a:latin typeface="Courier New" pitchFamily="34" charset="0"/>
                          <a:ea typeface="Courier New" pitchFamily="34" charset="-122"/>
                          <a:cs typeface="Courier New" pitchFamily="34" charset="-120"/>
                        </a:rPr>
                        <a:t>CP001</a:t>
                      </a:r>
                      <a:endParaRPr lang="en-US" sz="86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RQ-07</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Funcional positivo</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PASS</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740" b="1" dirty="0">
                          <a:solidFill>
                            <a:srgbClr val="1A2A25"/>
                          </a:solidFill>
                          <a:latin typeface="Courier New" pitchFamily="34" charset="0"/>
                          <a:ea typeface="Courier New" pitchFamily="34" charset="-122"/>
                          <a:cs typeface="Courier New" pitchFamily="34" charset="-120"/>
                        </a:rPr>
                        <a:t>Grupo1_CP001_Front_201_Pass.png</a:t>
                      </a:r>
                      <a:endParaRPr lang="en-US" sz="7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466344">
                <a:tc>
                  <a:txBody>
                    <a:bodyPr/>
                    <a:lstStyle/>
                    <a:p>
                      <a:pPr indent="0" marL="0">
                        <a:buNone/>
                      </a:pPr>
                      <a:r>
                        <a:rPr lang="en-US" sz="860" dirty="0">
                          <a:solidFill>
                            <a:srgbClr val="1A2A25"/>
                          </a:solidFill>
                          <a:latin typeface="Courier New" pitchFamily="34" charset="0"/>
                          <a:ea typeface="Courier New" pitchFamily="34" charset="-122"/>
                          <a:cs typeface="Courier New" pitchFamily="34" charset="-120"/>
                        </a:rPr>
                        <a:t>CP002</a:t>
                      </a:r>
                      <a:endParaRPr lang="en-US" sz="86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RQ-07</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Funcional negativo</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PASS</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740" b="1" dirty="0">
                          <a:solidFill>
                            <a:srgbClr val="1A2A25"/>
                          </a:solidFill>
                          <a:latin typeface="Courier New" pitchFamily="34" charset="0"/>
                          <a:ea typeface="Courier New" pitchFamily="34" charset="-122"/>
                          <a:cs typeface="Courier New" pitchFamily="34" charset="-120"/>
                        </a:rPr>
                        <a:t>Grupo1_CP002_Backend_400_Pass.png</a:t>
                      </a:r>
                      <a:endParaRPr lang="en-US" sz="7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466344">
                <a:tc>
                  <a:txBody>
                    <a:bodyPr/>
                    <a:lstStyle/>
                    <a:p>
                      <a:pPr indent="0" marL="0">
                        <a:buNone/>
                      </a:pPr>
                      <a:r>
                        <a:rPr lang="en-US" sz="860" dirty="0">
                          <a:solidFill>
                            <a:srgbClr val="1A2A25"/>
                          </a:solidFill>
                          <a:latin typeface="Courier New" pitchFamily="34" charset="0"/>
                          <a:ea typeface="Courier New" pitchFamily="34" charset="-122"/>
                          <a:cs typeface="Courier New" pitchFamily="34" charset="-120"/>
                        </a:rPr>
                        <a:t>CP003</a:t>
                      </a:r>
                      <a:endParaRPr lang="en-US" sz="86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RQ-07</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Duplicado</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PASS</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740" b="1" dirty="0">
                          <a:solidFill>
                            <a:srgbClr val="1A2A25"/>
                          </a:solidFill>
                          <a:latin typeface="Courier New" pitchFamily="34" charset="0"/>
                          <a:ea typeface="Courier New" pitchFamily="34" charset="-122"/>
                          <a:cs typeface="Courier New" pitchFamily="34" charset="-120"/>
                        </a:rPr>
                        <a:t>Grupo1_CP003_Duplicado_400_Pass.png</a:t>
                      </a:r>
                      <a:endParaRPr lang="en-US" sz="7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466344">
                <a:tc>
                  <a:txBody>
                    <a:bodyPr/>
                    <a:lstStyle/>
                    <a:p>
                      <a:pPr indent="0" marL="0">
                        <a:buNone/>
                      </a:pPr>
                      <a:r>
                        <a:rPr lang="en-US" sz="860" dirty="0">
                          <a:solidFill>
                            <a:srgbClr val="1A2A25"/>
                          </a:solidFill>
                          <a:latin typeface="Courier New" pitchFamily="34" charset="0"/>
                          <a:ea typeface="Courier New" pitchFamily="34" charset="-122"/>
                          <a:cs typeface="Courier New" pitchFamily="34" charset="-120"/>
                        </a:rPr>
                        <a:t>CP004</a:t>
                      </a:r>
                      <a:endParaRPr lang="en-US" sz="86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RQ-07</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Valor límite</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PASS</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740" b="1" dirty="0">
                          <a:solidFill>
                            <a:srgbClr val="1A2A25"/>
                          </a:solidFill>
                          <a:latin typeface="Courier New" pitchFamily="34" charset="0"/>
                          <a:ea typeface="Courier New" pitchFamily="34" charset="-122"/>
                          <a:cs typeface="Courier New" pitchFamily="34" charset="-120"/>
                        </a:rPr>
                        <a:t>Grupo1_CP004_Backend_400_Pass.png</a:t>
                      </a:r>
                      <a:endParaRPr lang="en-US" sz="7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466344">
                <a:tc>
                  <a:txBody>
                    <a:bodyPr/>
                    <a:lstStyle/>
                    <a:p>
                      <a:pPr indent="0" marL="0">
                        <a:buNone/>
                      </a:pPr>
                      <a:r>
                        <a:rPr lang="en-US" sz="860" dirty="0">
                          <a:solidFill>
                            <a:srgbClr val="1A2A25"/>
                          </a:solidFill>
                          <a:latin typeface="Courier New" pitchFamily="34" charset="0"/>
                          <a:ea typeface="Courier New" pitchFamily="34" charset="-122"/>
                          <a:cs typeface="Courier New" pitchFamily="34" charset="-120"/>
                        </a:rPr>
                        <a:t>CP005</a:t>
                      </a:r>
                      <a:endParaRPr lang="en-US" sz="86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RQ-01</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Seguridad · login</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PASS</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740" b="1" dirty="0">
                          <a:solidFill>
                            <a:srgbClr val="1A2A25"/>
                          </a:solidFill>
                          <a:latin typeface="Courier New" pitchFamily="34" charset="0"/>
                          <a:ea typeface="Courier New" pitchFamily="34" charset="-122"/>
                          <a:cs typeface="Courier New" pitchFamily="34" charset="-120"/>
                        </a:rPr>
                        <a:t>Grupo1_CP005_Login_200.json</a:t>
                      </a:r>
                      <a:endParaRPr lang="en-US" sz="7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466344">
                <a:tc>
                  <a:txBody>
                    <a:bodyPr/>
                    <a:lstStyle/>
                    <a:p>
                      <a:pPr indent="0" marL="0">
                        <a:buNone/>
                      </a:pPr>
                      <a:r>
                        <a:rPr lang="en-US" sz="860" dirty="0">
                          <a:solidFill>
                            <a:srgbClr val="1A2A25"/>
                          </a:solidFill>
                          <a:latin typeface="Courier New" pitchFamily="34" charset="0"/>
                          <a:ea typeface="Courier New" pitchFamily="34" charset="-122"/>
                          <a:cs typeface="Courier New" pitchFamily="34" charset="-120"/>
                        </a:rPr>
                        <a:t>CP006</a:t>
                      </a:r>
                      <a:endParaRPr lang="en-US" sz="86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RQ-01</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Seguridad · logout</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B23A2F"/>
                          </a:solidFill>
                          <a:latin typeface="Calibri" pitchFamily="34" charset="0"/>
                          <a:ea typeface="Calibri" pitchFamily="34" charset="-122"/>
                          <a:cs typeface="Calibri" pitchFamily="34" charset="-120"/>
                        </a:rPr>
                        <a:t>FAIL</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5DDD9"/>
                    </a:solidFill>
                  </a:tcPr>
                </a:tc>
                <a:tc>
                  <a:txBody>
                    <a:bodyPr/>
                    <a:lstStyle/>
                    <a:p>
                      <a:pPr indent="0" marL="0">
                        <a:buNone/>
                      </a:pPr>
                      <a:r>
                        <a:rPr lang="en-US" sz="740" b="1" dirty="0">
                          <a:solidFill>
                            <a:srgbClr val="1A2A25"/>
                          </a:solidFill>
                          <a:latin typeface="Courier New" pitchFamily="34" charset="0"/>
                          <a:ea typeface="Courier New" pitchFamily="34" charset="-122"/>
                          <a:cs typeface="Courier New" pitchFamily="34" charset="-120"/>
                        </a:rPr>
                        <a:t>Grupo1_CP006_Reuso_token_tras_logout_200.json</a:t>
                      </a:r>
                      <a:endParaRPr lang="en-US" sz="7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466344">
                <a:tc>
                  <a:txBody>
                    <a:bodyPr/>
                    <a:lstStyle/>
                    <a:p>
                      <a:pPr indent="0" marL="0">
                        <a:buNone/>
                      </a:pPr>
                      <a:r>
                        <a:rPr lang="en-US" sz="860" dirty="0">
                          <a:solidFill>
                            <a:srgbClr val="1A2A25"/>
                          </a:solidFill>
                          <a:latin typeface="Courier New" pitchFamily="34" charset="0"/>
                          <a:ea typeface="Courier New" pitchFamily="34" charset="-122"/>
                          <a:cs typeface="Courier New" pitchFamily="34" charset="-120"/>
                        </a:rPr>
                        <a:t>CP007</a:t>
                      </a:r>
                      <a:endParaRPr lang="en-US" sz="86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RQ-02</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Seguridad · RBAC</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PASS</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740" b="1" dirty="0">
                          <a:solidFill>
                            <a:srgbClr val="1A2A25"/>
                          </a:solidFill>
                          <a:latin typeface="Courier New" pitchFamily="34" charset="0"/>
                          <a:ea typeface="Courier New" pitchFamily="34" charset="-122"/>
                          <a:cs typeface="Courier New" pitchFamily="34" charset="-120"/>
                        </a:rPr>
                        <a:t>Grupo1_CP007_PUT_403.json</a:t>
                      </a:r>
                      <a:endParaRPr lang="en-US" sz="7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466344">
                <a:tc>
                  <a:txBody>
                    <a:bodyPr/>
                    <a:lstStyle/>
                    <a:p>
                      <a:pPr indent="0" marL="0">
                        <a:buNone/>
                      </a:pPr>
                      <a:r>
                        <a:rPr lang="en-US" sz="860" dirty="0">
                          <a:solidFill>
                            <a:srgbClr val="1A2A25"/>
                          </a:solidFill>
                          <a:latin typeface="Courier New" pitchFamily="34" charset="0"/>
                          <a:ea typeface="Courier New" pitchFamily="34" charset="-122"/>
                          <a:cs typeface="Courier New" pitchFamily="34" charset="-120"/>
                        </a:rPr>
                        <a:t>CP008</a:t>
                      </a:r>
                      <a:endParaRPr lang="en-US" sz="86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RQ-03</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Integridad</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PASS</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740" b="1" dirty="0">
                          <a:solidFill>
                            <a:srgbClr val="1A2A25"/>
                          </a:solidFill>
                          <a:latin typeface="Courier New" pitchFamily="34" charset="0"/>
                          <a:ea typeface="Courier New" pitchFamily="34" charset="-122"/>
                          <a:cs typeface="Courier New" pitchFamily="34" charset="-120"/>
                        </a:rPr>
                        <a:t>Grupo1_CP008_Integridad_y_tiempo.txt</a:t>
                      </a:r>
                      <a:endParaRPr lang="en-US" sz="7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bl>
          </a:graphicData>
        </a:graphic>
      </p:graphicFrame>
      <p:sp>
        <p:nvSpPr>
          <p:cNvPr id="8" name="Text 5"/>
          <p:cNvSpPr/>
          <p:nvPr/>
        </p:nvSpPr>
        <p:spPr>
          <a:xfrm>
            <a:off x="566928" y="5943600"/>
            <a:ext cx="10881360" cy="228600"/>
          </a:xfrm>
          <a:prstGeom prst="rect">
            <a:avLst/>
          </a:prstGeom>
          <a:noFill/>
          <a:ln/>
        </p:spPr>
        <p:txBody>
          <a:bodyPr wrap="square" lIns="0" tIns="0" rIns="0" bIns="0" rtlCol="0" anchor="t"/>
          <a:lstStyle/>
          <a:p>
            <a:pPr algn="l" indent="0" marL="0">
              <a:buNone/>
            </a:pPr>
            <a:r>
              <a:rPr lang="en-US" sz="860" i="1" dirty="0">
                <a:solidFill>
                  <a:srgbClr val="5C6D67"/>
                </a:solidFill>
                <a:latin typeface="Calibri" pitchFamily="34" charset="0"/>
                <a:ea typeface="Calibri" pitchFamily="34" charset="-122"/>
                <a:cs typeface="Calibri" pitchFamily="34" charset="-120"/>
              </a:rPr>
              <a:t>Todos los archivos están en Mis_Entregables/U2.3_Ejecucion/Evidencias/.</a:t>
            </a:r>
            <a:endParaRPr lang="en-US" sz="86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566928" y="411480"/>
            <a:ext cx="77724" cy="77724"/>
          </a:xfrm>
          <a:prstGeom prst="rect">
            <a:avLst/>
          </a:prstGeom>
          <a:solidFill>
            <a:srgbClr val="C98A1E"/>
          </a:solidFill>
          <a:ln w="12700">
            <a:solidFill>
              <a:srgbClr val="C98A1E"/>
            </a:solidFill>
            <a:prstDash val="solid"/>
          </a:ln>
        </p:spPr>
      </p:sp>
      <p:sp>
        <p:nvSpPr>
          <p:cNvPr id="3" name="Text 1"/>
          <p:cNvSpPr/>
          <p:nvPr/>
        </p:nvSpPr>
        <p:spPr>
          <a:xfrm>
            <a:off x="731520" y="338328"/>
            <a:ext cx="9601200" cy="201168"/>
          </a:xfrm>
          <a:prstGeom prst="rect">
            <a:avLst/>
          </a:prstGeom>
          <a:noFill/>
          <a:ln/>
        </p:spPr>
        <p:txBody>
          <a:bodyPr wrap="square" lIns="0" tIns="0" rIns="0" bIns="0" rtlCol="0" anchor="t"/>
          <a:lstStyle/>
          <a:p>
            <a:pPr algn="l" indent="0" marL="0">
              <a:buNone/>
            </a:pPr>
            <a:r>
              <a:rPr lang="en-US" sz="800" b="1" spc="130" kern="0" dirty="0">
                <a:solidFill>
                  <a:srgbClr val="5C6D67"/>
                </a:solidFill>
                <a:latin typeface="Courier New" pitchFamily="34" charset="0"/>
                <a:ea typeface="Courier New" pitchFamily="34" charset="-122"/>
                <a:cs typeface="Courier New" pitchFamily="34" charset="-120"/>
              </a:rPr>
              <a:t>ANEXO B · SONARQUBE</a:t>
            </a:r>
            <a:endParaRPr lang="en-US" sz="800" dirty="0"/>
          </a:p>
        </p:txBody>
      </p:sp>
      <p:sp>
        <p:nvSpPr>
          <p:cNvPr id="4" name="Text 2"/>
          <p:cNvSpPr/>
          <p:nvPr/>
        </p:nvSpPr>
        <p:spPr>
          <a:xfrm>
            <a:off x="566928" y="640080"/>
            <a:ext cx="11057839" cy="941832"/>
          </a:xfrm>
          <a:prstGeom prst="rect">
            <a:avLst/>
          </a:prstGeom>
          <a:noFill/>
          <a:ln/>
        </p:spPr>
        <p:txBody>
          <a:bodyPr wrap="square" lIns="0" tIns="0" rIns="0" bIns="0" rtlCol="0" anchor="t"/>
          <a:lstStyle/>
          <a:p>
            <a:pPr algn="l" indent="0" marL="0">
              <a:lnSpc>
                <a:spcPts val="3100"/>
              </a:lnSpc>
              <a:buNone/>
            </a:pPr>
            <a:r>
              <a:rPr lang="en-US" sz="2600" b="1" dirty="0">
                <a:solidFill>
                  <a:srgbClr val="1A2A25"/>
                </a:solidFill>
                <a:latin typeface="Cambria" pitchFamily="34" charset="0"/>
                <a:ea typeface="Cambria" pitchFamily="34" charset="-122"/>
                <a:cs typeface="Cambria" pitchFamily="34" charset="-120"/>
              </a:rPr>
              <a:t>El detalle detrás del Quality Gate</a:t>
            </a:r>
            <a:endParaRPr lang="en-US" sz="2600" dirty="0"/>
          </a:p>
        </p:txBody>
      </p:sp>
      <p:sp>
        <p:nvSpPr>
          <p:cNvPr id="5" name="Text 3"/>
          <p:cNvSpPr/>
          <p:nvPr/>
        </p:nvSpPr>
        <p:spPr>
          <a:xfrm>
            <a:off x="566928" y="6547104"/>
            <a:ext cx="5943600" cy="182880"/>
          </a:xfrm>
          <a:prstGeom prst="rect">
            <a:avLst/>
          </a:prstGeom>
          <a:noFill/>
          <a:ln/>
        </p:spPr>
        <p:txBody>
          <a:bodyPr wrap="square" lIns="0" tIns="0" rIns="0" bIns="0" rtlCol="0" anchor="t"/>
          <a:lstStyle/>
          <a:p>
            <a:pPr algn="l" indent="0" marL="0">
              <a:buNone/>
            </a:pPr>
            <a:r>
              <a:rPr lang="en-US" sz="730" spc="60" kern="0" dirty="0">
                <a:solidFill>
                  <a:srgbClr val="8A9A94"/>
                </a:solidFill>
                <a:latin typeface="Courier New" pitchFamily="34" charset="0"/>
                <a:ea typeface="Courier New" pitchFamily="34" charset="-122"/>
                <a:cs typeface="Courier New" pitchFamily="34" charset="-120"/>
              </a:rPr>
              <a:t>Cuidarte+ · Auditoría de calidad y seguridad</a:t>
            </a:r>
            <a:endParaRPr lang="en-US" sz="730" dirty="0"/>
          </a:p>
        </p:txBody>
      </p:sp>
      <p:sp>
        <p:nvSpPr>
          <p:cNvPr id="6" name="Text 4"/>
          <p:cNvSpPr/>
          <p:nvPr/>
        </p:nvSpPr>
        <p:spPr>
          <a:xfrm>
            <a:off x="10561320" y="6547104"/>
            <a:ext cx="1060704" cy="182880"/>
          </a:xfrm>
          <a:prstGeom prst="rect">
            <a:avLst/>
          </a:prstGeom>
          <a:noFill/>
          <a:ln/>
        </p:spPr>
        <p:txBody>
          <a:bodyPr wrap="square" lIns="0" tIns="0" rIns="0" bIns="0" rtlCol="0" anchor="t"/>
          <a:lstStyle/>
          <a:p>
            <a:pPr algn="r" indent="0" marL="0">
              <a:buNone/>
            </a:pPr>
            <a:r>
              <a:rPr lang="en-US" sz="730" spc="60" kern="0" dirty="0">
                <a:solidFill>
                  <a:srgbClr val="8A9A94"/>
                </a:solidFill>
                <a:latin typeface="Courier New" pitchFamily="34" charset="0"/>
                <a:ea typeface="Courier New" pitchFamily="34" charset="-122"/>
                <a:cs typeface="Courier New" pitchFamily="34" charset="-120"/>
              </a:rPr>
              <a:t>15 / 17</a:t>
            </a:r>
            <a:endParaRPr lang="en-US" sz="73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700784"/>
          <a:ext cx="4663440" cy="914400"/>
        </p:xfrm>
        <a:graphic>
          <a:graphicData uri="http://schemas.openxmlformats.org/drawingml/2006/table">
            <a:tbl>
              <a:tblPr/>
              <a:tblGrid>
                <a:gridCol w="2926080"/>
                <a:gridCol w="1737360"/>
              </a:tblGrid>
              <a:tr h="402336">
                <a:tc>
                  <a:txBody>
                    <a:bodyPr/>
                    <a:lstStyle/>
                    <a:p>
                      <a:pPr algn="l" indent="0" marL="0">
                        <a:buNone/>
                      </a:pPr>
                      <a:r>
                        <a:rPr lang="en-US" sz="880" b="1" dirty="0">
                          <a:solidFill>
                            <a:srgbClr val="FFFFFF"/>
                          </a:solidFill>
                          <a:latin typeface="Calibri" pitchFamily="34" charset="0"/>
                          <a:ea typeface="Calibri" pitchFamily="34" charset="-122"/>
                          <a:cs typeface="Calibri" pitchFamily="34" charset="-120"/>
                        </a:rPr>
                        <a:t>Métrica</a:t>
                      </a:r>
                      <a:endParaRPr lang="en-US" sz="88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c>
                  <a:txBody>
                    <a:bodyPr/>
                    <a:lstStyle/>
                    <a:p>
                      <a:pPr algn="r" indent="0" marL="0">
                        <a:buNone/>
                      </a:pPr>
                      <a:r>
                        <a:rPr lang="en-US" sz="880" b="1" dirty="0">
                          <a:solidFill>
                            <a:srgbClr val="FFFFFF"/>
                          </a:solidFill>
                          <a:latin typeface="Courier New" pitchFamily="34" charset="0"/>
                          <a:ea typeface="Courier New" pitchFamily="34" charset="-122"/>
                          <a:cs typeface="Courier New" pitchFamily="34" charset="-120"/>
                        </a:rPr>
                        <a:t>Valor</a:t>
                      </a:r>
                      <a:endParaRPr lang="en-US" sz="88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r>
              <a:tr h="402336">
                <a:tc>
                  <a:txBody>
                    <a:bodyPr/>
                    <a:lstStyle/>
                    <a:p>
                      <a:pPr algn="l" indent="0" marL="0">
                        <a:buNone/>
                      </a:pPr>
                      <a:r>
                        <a:rPr lang="en-US" sz="880" dirty="0">
                          <a:solidFill>
                            <a:srgbClr val="1A2A25"/>
                          </a:solidFill>
                          <a:latin typeface="Calibri" pitchFamily="34" charset="0"/>
                          <a:ea typeface="Calibri" pitchFamily="34" charset="-122"/>
                          <a:cs typeface="Calibri" pitchFamily="34" charset="-120"/>
                        </a:rPr>
                        <a:t>Líneas de código</a:t>
                      </a:r>
                      <a:endParaRPr lang="en-US" sz="88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r" indent="0" marL="0">
                        <a:buNone/>
                      </a:pPr>
                      <a:r>
                        <a:rPr lang="en-US" sz="880" dirty="0">
                          <a:solidFill>
                            <a:srgbClr val="1A2A25"/>
                          </a:solidFill>
                          <a:latin typeface="Courier New" pitchFamily="34" charset="0"/>
                          <a:ea typeface="Courier New" pitchFamily="34" charset="-122"/>
                          <a:cs typeface="Courier New" pitchFamily="34" charset="-120"/>
                        </a:rPr>
                        <a:t>10.133</a:t>
                      </a:r>
                      <a:endParaRPr lang="en-US" sz="88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402336">
                <a:tc>
                  <a:txBody>
                    <a:bodyPr/>
                    <a:lstStyle/>
                    <a:p>
                      <a:pPr algn="l" indent="0" marL="0">
                        <a:buNone/>
                      </a:pPr>
                      <a:r>
                        <a:rPr lang="en-US" sz="880" dirty="0">
                          <a:solidFill>
                            <a:srgbClr val="1A2A25"/>
                          </a:solidFill>
                          <a:latin typeface="Calibri" pitchFamily="34" charset="0"/>
                          <a:ea typeface="Calibri" pitchFamily="34" charset="-122"/>
                          <a:cs typeface="Calibri" pitchFamily="34" charset="-120"/>
                        </a:rPr>
                        <a:t>Issues</a:t>
                      </a:r>
                      <a:endParaRPr lang="en-US" sz="88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r" indent="0" marL="0">
                        <a:buNone/>
                      </a:pPr>
                      <a:r>
                        <a:rPr lang="en-US" sz="880" dirty="0">
                          <a:solidFill>
                            <a:srgbClr val="1A2A25"/>
                          </a:solidFill>
                          <a:latin typeface="Courier New" pitchFamily="34" charset="0"/>
                          <a:ea typeface="Courier New" pitchFamily="34" charset="-122"/>
                          <a:cs typeface="Courier New" pitchFamily="34" charset="-120"/>
                        </a:rPr>
                        <a:t>73</a:t>
                      </a:r>
                      <a:endParaRPr lang="en-US" sz="88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402336">
                <a:tc>
                  <a:txBody>
                    <a:bodyPr/>
                    <a:lstStyle/>
                    <a:p>
                      <a:pPr algn="l" indent="0" marL="0">
                        <a:buNone/>
                      </a:pPr>
                      <a:r>
                        <a:rPr lang="en-US" sz="880" dirty="0">
                          <a:solidFill>
                            <a:srgbClr val="1A2A25"/>
                          </a:solidFill>
                          <a:latin typeface="Calibri" pitchFamily="34" charset="0"/>
                          <a:ea typeface="Calibri" pitchFamily="34" charset="-122"/>
                          <a:cs typeface="Calibri" pitchFamily="34" charset="-120"/>
                        </a:rPr>
                        <a:t>Críticos</a:t>
                      </a:r>
                      <a:endParaRPr lang="en-US" sz="88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r" indent="0" marL="0">
                        <a:buNone/>
                      </a:pPr>
                      <a:r>
                        <a:rPr lang="en-US" sz="880" dirty="0">
                          <a:solidFill>
                            <a:srgbClr val="1A2A25"/>
                          </a:solidFill>
                          <a:latin typeface="Courier New" pitchFamily="34" charset="0"/>
                          <a:ea typeface="Courier New" pitchFamily="34" charset="-122"/>
                          <a:cs typeface="Courier New" pitchFamily="34" charset="-120"/>
                        </a:rPr>
                        <a:t>8</a:t>
                      </a:r>
                      <a:endParaRPr lang="en-US" sz="88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402336">
                <a:tc>
                  <a:txBody>
                    <a:bodyPr/>
                    <a:lstStyle/>
                    <a:p>
                      <a:pPr algn="l" indent="0" marL="0">
                        <a:buNone/>
                      </a:pPr>
                      <a:r>
                        <a:rPr lang="en-US" sz="880" dirty="0">
                          <a:solidFill>
                            <a:srgbClr val="1A2A25"/>
                          </a:solidFill>
                          <a:latin typeface="Calibri" pitchFamily="34" charset="0"/>
                          <a:ea typeface="Calibri" pitchFamily="34" charset="-122"/>
                          <a:cs typeface="Calibri" pitchFamily="34" charset="-120"/>
                        </a:rPr>
                        <a:t>Vulnerabilidades</a:t>
                      </a:r>
                      <a:endParaRPr lang="en-US" sz="88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r" indent="0" marL="0">
                        <a:buNone/>
                      </a:pPr>
                      <a:r>
                        <a:rPr lang="en-US" sz="880" dirty="0">
                          <a:solidFill>
                            <a:srgbClr val="1A2A25"/>
                          </a:solidFill>
                          <a:latin typeface="Courier New" pitchFamily="34" charset="0"/>
                          <a:ea typeface="Courier New" pitchFamily="34" charset="-122"/>
                          <a:cs typeface="Courier New" pitchFamily="34" charset="-120"/>
                        </a:rPr>
                        <a:t>0</a:t>
                      </a:r>
                      <a:endParaRPr lang="en-US" sz="88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402336">
                <a:tc>
                  <a:txBody>
                    <a:bodyPr/>
                    <a:lstStyle/>
                    <a:p>
                      <a:pPr algn="l" indent="0" marL="0">
                        <a:buNone/>
                      </a:pPr>
                      <a:r>
                        <a:rPr lang="en-US" sz="880" dirty="0">
                          <a:solidFill>
                            <a:srgbClr val="1A2A25"/>
                          </a:solidFill>
                          <a:latin typeface="Calibri" pitchFamily="34" charset="0"/>
                          <a:ea typeface="Calibri" pitchFamily="34" charset="-122"/>
                          <a:cs typeface="Calibri" pitchFamily="34" charset="-120"/>
                        </a:rPr>
                        <a:t>Cobertura</a:t>
                      </a:r>
                      <a:endParaRPr lang="en-US" sz="88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r" indent="0" marL="0">
                        <a:buNone/>
                      </a:pPr>
                      <a:r>
                        <a:rPr lang="en-US" sz="880" dirty="0">
                          <a:solidFill>
                            <a:srgbClr val="1A2A25"/>
                          </a:solidFill>
                          <a:latin typeface="Courier New" pitchFamily="34" charset="0"/>
                          <a:ea typeface="Courier New" pitchFamily="34" charset="-122"/>
                          <a:cs typeface="Courier New" pitchFamily="34" charset="-120"/>
                        </a:rPr>
                        <a:t>0,0%</a:t>
                      </a:r>
                      <a:endParaRPr lang="en-US" sz="88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402336">
                <a:tc>
                  <a:txBody>
                    <a:bodyPr/>
                    <a:lstStyle/>
                    <a:p>
                      <a:pPr algn="l" indent="0" marL="0">
                        <a:buNone/>
                      </a:pPr>
                      <a:r>
                        <a:rPr lang="en-US" sz="880" dirty="0">
                          <a:solidFill>
                            <a:srgbClr val="1A2A25"/>
                          </a:solidFill>
                          <a:latin typeface="Calibri" pitchFamily="34" charset="0"/>
                          <a:ea typeface="Calibri" pitchFamily="34" charset="-122"/>
                          <a:cs typeface="Calibri" pitchFamily="34" charset="-120"/>
                        </a:rPr>
                        <a:t>Duplicación</a:t>
                      </a:r>
                      <a:endParaRPr lang="en-US" sz="88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r" indent="0" marL="0">
                        <a:buNone/>
                      </a:pPr>
                      <a:r>
                        <a:rPr lang="en-US" sz="880" dirty="0">
                          <a:solidFill>
                            <a:srgbClr val="1A2A25"/>
                          </a:solidFill>
                          <a:latin typeface="Courier New" pitchFamily="34" charset="0"/>
                          <a:ea typeface="Courier New" pitchFamily="34" charset="-122"/>
                          <a:cs typeface="Courier New" pitchFamily="34" charset="-120"/>
                        </a:rPr>
                        <a:t>14,5%</a:t>
                      </a:r>
                      <a:endParaRPr lang="en-US" sz="88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402336">
                <a:tc>
                  <a:txBody>
                    <a:bodyPr/>
                    <a:lstStyle/>
                    <a:p>
                      <a:pPr algn="l" indent="0" marL="0">
                        <a:buNone/>
                      </a:pPr>
                      <a:r>
                        <a:rPr lang="en-US" sz="880" dirty="0">
                          <a:solidFill>
                            <a:srgbClr val="1A2A25"/>
                          </a:solidFill>
                          <a:latin typeface="Calibri" pitchFamily="34" charset="0"/>
                          <a:ea typeface="Calibri" pitchFamily="34" charset="-122"/>
                          <a:cs typeface="Calibri" pitchFamily="34" charset="-120"/>
                        </a:rPr>
                        <a:t>Deuda técnica</a:t>
                      </a:r>
                      <a:endParaRPr lang="en-US" sz="88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r" indent="0" marL="0">
                        <a:buNone/>
                      </a:pPr>
                      <a:r>
                        <a:rPr lang="en-US" sz="880" dirty="0">
                          <a:solidFill>
                            <a:srgbClr val="1A2A25"/>
                          </a:solidFill>
                          <a:latin typeface="Courier New" pitchFamily="34" charset="0"/>
                          <a:ea typeface="Courier New" pitchFamily="34" charset="-122"/>
                          <a:cs typeface="Courier New" pitchFamily="34" charset="-120"/>
                        </a:rPr>
                        <a:t>465 min</a:t>
                      </a:r>
                      <a:endParaRPr lang="en-US" sz="88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bl>
          </a:graphicData>
        </a:graphic>
      </p:graphicFrame>
      <p:sp>
        <p:nvSpPr>
          <p:cNvPr id="8" name="Text 5"/>
          <p:cNvSpPr/>
          <p:nvPr/>
        </p:nvSpPr>
        <p:spPr>
          <a:xfrm>
            <a:off x="566928" y="5029200"/>
            <a:ext cx="1828800" cy="182880"/>
          </a:xfrm>
          <a:prstGeom prst="rect">
            <a:avLst/>
          </a:prstGeom>
          <a:noFill/>
          <a:ln/>
        </p:spPr>
        <p:txBody>
          <a:bodyPr wrap="square" lIns="0" tIns="0" rIns="0" bIns="0" rtlCol="0" anchor="t"/>
          <a:lstStyle/>
          <a:p>
            <a:pPr algn="l" indent="0" marL="0">
              <a:buNone/>
            </a:pPr>
            <a:r>
              <a:rPr lang="en-US" sz="710" b="1" spc="110" kern="0" dirty="0">
                <a:solidFill>
                  <a:srgbClr val="5C6D67"/>
                </a:solidFill>
                <a:latin typeface="Courier New" pitchFamily="34" charset="0"/>
                <a:ea typeface="Courier New" pitchFamily="34" charset="-122"/>
                <a:cs typeface="Courier New" pitchFamily="34" charset="-120"/>
              </a:rPr>
              <a:t>RATINGS</a:t>
            </a:r>
            <a:endParaRPr lang="en-US" sz="710" dirty="0"/>
          </a:p>
        </p:txBody>
      </p:sp>
      <p:sp>
        <p:nvSpPr>
          <p:cNvPr id="9" name="Text 6"/>
          <p:cNvSpPr/>
          <p:nvPr/>
        </p:nvSpPr>
        <p:spPr>
          <a:xfrm>
            <a:off x="566928" y="5230368"/>
            <a:ext cx="4480560" cy="228600"/>
          </a:xfrm>
          <a:prstGeom prst="rect">
            <a:avLst/>
          </a:prstGeom>
          <a:noFill/>
          <a:ln/>
        </p:spPr>
        <p:txBody>
          <a:bodyPr wrap="square" lIns="0" tIns="0" rIns="0" bIns="0" rtlCol="0" anchor="t"/>
          <a:lstStyle/>
          <a:p>
            <a:pPr algn="l" indent="0" marL="0">
              <a:buNone/>
            </a:pPr>
            <a:r>
              <a:rPr lang="en-US" sz="920" dirty="0">
                <a:solidFill>
                  <a:srgbClr val="1A2A25"/>
                </a:solidFill>
                <a:latin typeface="Calibri" pitchFamily="34" charset="0"/>
                <a:ea typeface="Calibri" pitchFamily="34" charset="-122"/>
                <a:cs typeface="Calibri" pitchFamily="34" charset="-120"/>
              </a:rPr>
              <a:t>Mantenibilidad A · Seguridad A · Confiabilidad C</a:t>
            </a:r>
            <a:endParaRPr lang="en-US" sz="920" dirty="0"/>
          </a:p>
        </p:txBody>
      </p:sp>
      <p:graphicFrame>
        <p:nvGraphicFramePr>
          <p:cNvPr id="31" name="Table 1"/>
          <p:cNvGraphicFramePr>
            <a:graphicFrameLocks noGrp="1"/>
          </p:cNvGraphicFramePr>
          <p:nvPr>
            <p:extLst>
              <p:ext uri="{D42A27DB-BD31-4B8C-83A1-F6EECF244321}">
                <p14:modId xmlns:p14="http://schemas.microsoft.com/office/powerpoint/2010/main" val="1579011935"/>
              </p:ext>
            </p:extLst>
          </p:nvPr>
        </p:nvGraphicFramePr>
        <p:xfrm>
          <a:off x="5623560" y="1700784"/>
          <a:ext cx="5998464" cy="914400"/>
        </p:xfrm>
        <a:graphic>
          <a:graphicData uri="http://schemas.openxmlformats.org/drawingml/2006/table">
            <a:tbl>
              <a:tblPr/>
              <a:tblGrid>
                <a:gridCol w="4443984"/>
                <a:gridCol w="1554480"/>
              </a:tblGrid>
              <a:tr h="384048">
                <a:tc>
                  <a:txBody>
                    <a:bodyPr/>
                    <a:lstStyle/>
                    <a:p>
                      <a:pPr algn="l" indent="0" marL="0">
                        <a:buNone/>
                      </a:pPr>
                      <a:r>
                        <a:rPr lang="en-US" sz="800" b="1" dirty="0">
                          <a:solidFill>
                            <a:srgbClr val="FFFFFF"/>
                          </a:solidFill>
                          <a:latin typeface="Courier New" pitchFamily="34" charset="0"/>
                          <a:ea typeface="Courier New" pitchFamily="34" charset="-122"/>
                          <a:cs typeface="Courier New" pitchFamily="34" charset="-120"/>
                        </a:rPr>
                        <a:t>Archivo:línea</a:t>
                      </a:r>
                      <a:endParaRPr lang="en-US" sz="80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c>
                  <a:txBody>
                    <a:bodyPr/>
                    <a:lstStyle/>
                    <a:p>
                      <a:pPr algn="r" indent="0" marL="0">
                        <a:buNone/>
                      </a:pPr>
                      <a:r>
                        <a:rPr lang="en-US" sz="800" b="1" dirty="0">
                          <a:solidFill>
                            <a:srgbClr val="FFFFFF"/>
                          </a:solidFill>
                          <a:latin typeface="Courier New" pitchFamily="34" charset="0"/>
                          <a:ea typeface="Courier New" pitchFamily="34" charset="-122"/>
                          <a:cs typeface="Courier New" pitchFamily="34" charset="-120"/>
                        </a:rPr>
                        <a:t>Complejidad</a:t>
                      </a:r>
                      <a:endParaRPr lang="en-US" sz="80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r>
              <a:tr h="384048">
                <a:tc>
                  <a:txBody>
                    <a:bodyPr/>
                    <a:lstStyle/>
                    <a:p>
                      <a:pPr algn="l" indent="0" marL="0">
                        <a:buNone/>
                      </a:pPr>
                      <a:r>
                        <a:rPr lang="en-US" sz="840" dirty="0">
                          <a:solidFill>
                            <a:srgbClr val="1A2A25"/>
                          </a:solidFill>
                          <a:latin typeface="Courier New" pitchFamily="34" charset="0"/>
                          <a:ea typeface="Courier New" pitchFamily="34" charset="-122"/>
                          <a:cs typeface="Courier New" pitchFamily="34" charset="-120"/>
                        </a:rPr>
                        <a:t>UsuarioForm.jsx:173</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r" indent="0" marL="0">
                        <a:buNone/>
                      </a:pPr>
                      <a:r>
                        <a:rPr lang="en-US" sz="840" dirty="0">
                          <a:solidFill>
                            <a:srgbClr val="1A2A25"/>
                          </a:solidFill>
                          <a:latin typeface="Courier New" pitchFamily="34" charset="0"/>
                          <a:ea typeface="Courier New" pitchFamily="34" charset="-122"/>
                          <a:cs typeface="Courier New" pitchFamily="34" charset="-120"/>
                        </a:rPr>
                        <a:t>39</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384048">
                <a:tc>
                  <a:txBody>
                    <a:bodyPr/>
                    <a:lstStyle/>
                    <a:p>
                      <a:pPr algn="l" indent="0" marL="0">
                        <a:buNone/>
                      </a:pPr>
                      <a:r>
                        <a:rPr lang="en-US" sz="840" dirty="0">
                          <a:solidFill>
                            <a:srgbClr val="1A2A25"/>
                          </a:solidFill>
                          <a:latin typeface="Courier New" pitchFamily="34" charset="0"/>
                          <a:ea typeface="Courier New" pitchFamily="34" charset="-122"/>
                          <a:cs typeface="Courier New" pitchFamily="34" charset="-120"/>
                        </a:rPr>
                        <a:t>ExamenForm.jsx:47</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r" indent="0" marL="0">
                        <a:buNone/>
                      </a:pPr>
                      <a:r>
                        <a:rPr lang="en-US" sz="840" dirty="0">
                          <a:solidFill>
                            <a:srgbClr val="1A2A25"/>
                          </a:solidFill>
                          <a:latin typeface="Courier New" pitchFamily="34" charset="0"/>
                          <a:ea typeface="Courier New" pitchFamily="34" charset="-122"/>
                          <a:cs typeface="Courier New" pitchFamily="34" charset="-120"/>
                        </a:rPr>
                        <a:t>33</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384048">
                <a:tc>
                  <a:txBody>
                    <a:bodyPr/>
                    <a:lstStyle/>
                    <a:p>
                      <a:pPr algn="l" indent="0" marL="0">
                        <a:buNone/>
                      </a:pPr>
                      <a:r>
                        <a:rPr lang="en-US" sz="840" dirty="0">
                          <a:solidFill>
                            <a:srgbClr val="1A2A25"/>
                          </a:solidFill>
                          <a:latin typeface="Courier New" pitchFamily="34" charset="0"/>
                          <a:ea typeface="Courier New" pitchFamily="34" charset="-122"/>
                          <a:cs typeface="Courier New" pitchFamily="34" charset="-120"/>
                        </a:rPr>
                        <a:t>users.js:283</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r" indent="0" marL="0">
                        <a:buNone/>
                      </a:pPr>
                      <a:r>
                        <a:rPr lang="en-US" sz="840" dirty="0">
                          <a:solidFill>
                            <a:srgbClr val="1A2A25"/>
                          </a:solidFill>
                          <a:latin typeface="Courier New" pitchFamily="34" charset="0"/>
                          <a:ea typeface="Courier New" pitchFamily="34" charset="-122"/>
                          <a:cs typeface="Courier New" pitchFamily="34" charset="-120"/>
                        </a:rPr>
                        <a:t>27</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384048">
                <a:tc>
                  <a:txBody>
                    <a:bodyPr/>
                    <a:lstStyle/>
                    <a:p>
                      <a:pPr algn="l" indent="0" marL="0">
                        <a:buNone/>
                      </a:pPr>
                      <a:r>
                        <a:rPr lang="en-US" sz="840" dirty="0">
                          <a:solidFill>
                            <a:srgbClr val="1A2A25"/>
                          </a:solidFill>
                          <a:latin typeface="Courier New" pitchFamily="34" charset="0"/>
                          <a:ea typeface="Courier New" pitchFamily="34" charset="-122"/>
                          <a:cs typeface="Courier New" pitchFamily="34" charset="-120"/>
                        </a:rPr>
                        <a:t>users.js:437</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r" indent="0" marL="0">
                        <a:buNone/>
                      </a:pPr>
                      <a:r>
                        <a:rPr lang="en-US" sz="840" dirty="0">
                          <a:solidFill>
                            <a:srgbClr val="1A2A25"/>
                          </a:solidFill>
                          <a:latin typeface="Courier New" pitchFamily="34" charset="0"/>
                          <a:ea typeface="Courier New" pitchFamily="34" charset="-122"/>
                          <a:cs typeface="Courier New" pitchFamily="34" charset="-120"/>
                        </a:rPr>
                        <a:t>24</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384048">
                <a:tc>
                  <a:txBody>
                    <a:bodyPr/>
                    <a:lstStyle/>
                    <a:p>
                      <a:pPr algn="l" indent="0" marL="0">
                        <a:buNone/>
                      </a:pPr>
                      <a:r>
                        <a:rPr lang="en-US" sz="840" dirty="0">
                          <a:solidFill>
                            <a:srgbClr val="1A2A25"/>
                          </a:solidFill>
                          <a:latin typeface="Courier New" pitchFamily="34" charset="0"/>
                          <a:ea typeface="Courier New" pitchFamily="34" charset="-122"/>
                          <a:cs typeface="Courier New" pitchFamily="34" charset="-120"/>
                        </a:rPr>
                        <a:t>PacienteForm.jsx:21</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r" indent="0" marL="0">
                        <a:buNone/>
                      </a:pPr>
                      <a:r>
                        <a:rPr lang="en-US" sz="840" dirty="0">
                          <a:solidFill>
                            <a:srgbClr val="1A2A25"/>
                          </a:solidFill>
                          <a:latin typeface="Courier New" pitchFamily="34" charset="0"/>
                          <a:ea typeface="Courier New" pitchFamily="34" charset="-122"/>
                          <a:cs typeface="Courier New" pitchFamily="34" charset="-120"/>
                        </a:rPr>
                        <a:t>22</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384048">
                <a:tc>
                  <a:txBody>
                    <a:bodyPr/>
                    <a:lstStyle/>
                    <a:p>
                      <a:pPr algn="l" indent="0" marL="0">
                        <a:buNone/>
                      </a:pPr>
                      <a:r>
                        <a:rPr lang="en-US" sz="840" dirty="0">
                          <a:solidFill>
                            <a:srgbClr val="1A2A25"/>
                          </a:solidFill>
                          <a:latin typeface="Courier New" pitchFamily="34" charset="0"/>
                          <a:ea typeface="Courier New" pitchFamily="34" charset="-122"/>
                          <a:cs typeface="Courier New" pitchFamily="34" charset="-120"/>
                        </a:rPr>
                        <a:t>pacientes.js:48</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r" indent="0" marL="0">
                        <a:buNone/>
                      </a:pPr>
                      <a:r>
                        <a:rPr lang="en-US" sz="840" dirty="0">
                          <a:solidFill>
                            <a:srgbClr val="1A2A25"/>
                          </a:solidFill>
                          <a:latin typeface="Courier New" pitchFamily="34" charset="0"/>
                          <a:ea typeface="Courier New" pitchFamily="34" charset="-122"/>
                          <a:cs typeface="Courier New" pitchFamily="34" charset="-120"/>
                        </a:rPr>
                        <a:t>22</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384048">
                <a:tc>
                  <a:txBody>
                    <a:bodyPr/>
                    <a:lstStyle/>
                    <a:p>
                      <a:pPr algn="l" indent="0" marL="0">
                        <a:buNone/>
                      </a:pPr>
                      <a:r>
                        <a:rPr lang="en-US" sz="840" dirty="0">
                          <a:solidFill>
                            <a:srgbClr val="1A2A25"/>
                          </a:solidFill>
                          <a:latin typeface="Courier New" pitchFamily="34" charset="0"/>
                          <a:ea typeface="Courier New" pitchFamily="34" charset="-122"/>
                          <a:cs typeface="Courier New" pitchFamily="34" charset="-120"/>
                        </a:rPr>
                        <a:t>pacientes.js:276</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r" indent="0" marL="0">
                        <a:buNone/>
                      </a:pPr>
                      <a:r>
                        <a:rPr lang="en-US" sz="840" dirty="0">
                          <a:solidFill>
                            <a:srgbClr val="1A2A25"/>
                          </a:solidFill>
                          <a:latin typeface="Courier New" pitchFamily="34" charset="0"/>
                          <a:ea typeface="Courier New" pitchFamily="34" charset="-122"/>
                          <a:cs typeface="Courier New" pitchFamily="34" charset="-120"/>
                        </a:rPr>
                        <a:t>21</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384048">
                <a:tc>
                  <a:txBody>
                    <a:bodyPr/>
                    <a:lstStyle/>
                    <a:p>
                      <a:pPr algn="l" indent="0" marL="0">
                        <a:buNone/>
                      </a:pPr>
                      <a:r>
                        <a:rPr lang="en-US" sz="840" dirty="0">
                          <a:solidFill>
                            <a:srgbClr val="1A2A25"/>
                          </a:solidFill>
                          <a:latin typeface="Courier New" pitchFamily="34" charset="0"/>
                          <a:ea typeface="Courier New" pitchFamily="34" charset="-122"/>
                          <a:cs typeface="Courier New" pitchFamily="34" charset="-120"/>
                        </a:rPr>
                        <a:t>auth.js:71</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lgn="r" indent="0" marL="0">
                        <a:buNone/>
                      </a:pPr>
                      <a:r>
                        <a:rPr lang="en-US" sz="840" dirty="0">
                          <a:solidFill>
                            <a:srgbClr val="1A2A25"/>
                          </a:solidFill>
                          <a:latin typeface="Courier New" pitchFamily="34" charset="0"/>
                          <a:ea typeface="Courier New" pitchFamily="34" charset="-122"/>
                          <a:cs typeface="Courier New" pitchFamily="34" charset="-120"/>
                        </a:rPr>
                        <a:t>17</a:t>
                      </a:r>
                      <a:endParaRPr lang="en-US" sz="84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bl>
          </a:graphicData>
        </a:graphic>
      </p:graphicFrame>
      <p:sp>
        <p:nvSpPr>
          <p:cNvPr id="11" name="Text 7"/>
          <p:cNvSpPr/>
          <p:nvPr/>
        </p:nvSpPr>
        <p:spPr>
          <a:xfrm>
            <a:off x="5623560" y="5257800"/>
            <a:ext cx="5943600" cy="228600"/>
          </a:xfrm>
          <a:prstGeom prst="rect">
            <a:avLst/>
          </a:prstGeom>
          <a:noFill/>
          <a:ln/>
        </p:spPr>
        <p:txBody>
          <a:bodyPr wrap="square" lIns="0" tIns="0" rIns="0" bIns="0" rtlCol="0" anchor="t"/>
          <a:lstStyle/>
          <a:p>
            <a:pPr algn="l" indent="0" marL="0">
              <a:buNone/>
            </a:pPr>
            <a:r>
              <a:rPr lang="en-US" sz="900" dirty="0">
                <a:solidFill>
                  <a:srgbClr val="5C6D67"/>
                </a:solidFill>
                <a:latin typeface="Calibri" pitchFamily="34" charset="0"/>
                <a:ea typeface="Calibri" pitchFamily="34" charset="-122"/>
                <a:cs typeface="Calibri" pitchFamily="34" charset="-120"/>
              </a:rPr>
              <a:t>Los ocho issues críticos son S3776: complejidad cognitiva alta.</a:t>
            </a:r>
            <a:endParaRPr lang="en-US" sz="900" dirty="0"/>
          </a:p>
        </p:txBody>
      </p:sp>
      <p:sp>
        <p:nvSpPr>
          <p:cNvPr id="12" name="Text 8"/>
          <p:cNvSpPr/>
          <p:nvPr/>
        </p:nvSpPr>
        <p:spPr>
          <a:xfrm>
            <a:off x="5623560" y="5532120"/>
            <a:ext cx="5943600" cy="365760"/>
          </a:xfrm>
          <a:prstGeom prst="rect">
            <a:avLst/>
          </a:prstGeom>
          <a:noFill/>
          <a:ln/>
        </p:spPr>
        <p:txBody>
          <a:bodyPr wrap="square" lIns="0" tIns="0" rIns="0" bIns="0" rtlCol="0" anchor="t"/>
          <a:lstStyle/>
          <a:p>
            <a:pPr algn="l" indent="0" marL="0">
              <a:lnSpc>
                <a:spcPts val="1200"/>
              </a:lnSpc>
              <a:buNone/>
            </a:pPr>
            <a:r>
              <a:rPr lang="en-US" sz="900" i="1" dirty="0">
                <a:solidFill>
                  <a:srgbClr val="8A5E0F"/>
                </a:solidFill>
                <a:latin typeface="Calibri" pitchFamily="34" charset="0"/>
                <a:ea typeface="Calibri" pitchFamily="34" charset="-122"/>
                <a:cs typeface="Calibri" pitchFamily="34" charset="-120"/>
              </a:rPr>
              <a:t>El Quality Gate evalúa las condiciones configuradas; no equivale a una auditoría de seguridad.</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566928" y="411480"/>
            <a:ext cx="77724" cy="77724"/>
          </a:xfrm>
          <a:prstGeom prst="rect">
            <a:avLst/>
          </a:prstGeom>
          <a:solidFill>
            <a:srgbClr val="C98A1E"/>
          </a:solidFill>
          <a:ln w="12700">
            <a:solidFill>
              <a:srgbClr val="C98A1E"/>
            </a:solidFill>
            <a:prstDash val="solid"/>
          </a:ln>
        </p:spPr>
      </p:sp>
      <p:sp>
        <p:nvSpPr>
          <p:cNvPr id="3" name="Text 1"/>
          <p:cNvSpPr/>
          <p:nvPr/>
        </p:nvSpPr>
        <p:spPr>
          <a:xfrm>
            <a:off x="731520" y="338328"/>
            <a:ext cx="9601200" cy="201168"/>
          </a:xfrm>
          <a:prstGeom prst="rect">
            <a:avLst/>
          </a:prstGeom>
          <a:noFill/>
          <a:ln/>
        </p:spPr>
        <p:txBody>
          <a:bodyPr wrap="square" lIns="0" tIns="0" rIns="0" bIns="0" rtlCol="0" anchor="t"/>
          <a:lstStyle/>
          <a:p>
            <a:pPr algn="l" indent="0" marL="0">
              <a:buNone/>
            </a:pPr>
            <a:r>
              <a:rPr lang="en-US" sz="800" b="1" spc="130" kern="0" dirty="0">
                <a:solidFill>
                  <a:srgbClr val="5C6D67"/>
                </a:solidFill>
                <a:latin typeface="Courier New" pitchFamily="34" charset="0"/>
                <a:ea typeface="Courier New" pitchFamily="34" charset="-122"/>
                <a:cs typeface="Courier New" pitchFamily="34" charset="-120"/>
              </a:rPr>
              <a:t>ANEXO C · MARCO NORMATIVO</a:t>
            </a:r>
            <a:endParaRPr lang="en-US" sz="800" dirty="0"/>
          </a:p>
        </p:txBody>
      </p:sp>
      <p:sp>
        <p:nvSpPr>
          <p:cNvPr id="4" name="Text 2"/>
          <p:cNvSpPr/>
          <p:nvPr/>
        </p:nvSpPr>
        <p:spPr>
          <a:xfrm>
            <a:off x="566928" y="640080"/>
            <a:ext cx="11057839" cy="941832"/>
          </a:xfrm>
          <a:prstGeom prst="rect">
            <a:avLst/>
          </a:prstGeom>
          <a:noFill/>
          <a:ln/>
        </p:spPr>
        <p:txBody>
          <a:bodyPr wrap="square" lIns="0" tIns="0" rIns="0" bIns="0" rtlCol="0" anchor="t"/>
          <a:lstStyle/>
          <a:p>
            <a:pPr algn="l" indent="0" marL="0">
              <a:lnSpc>
                <a:spcPts val="3100"/>
              </a:lnSpc>
              <a:buNone/>
            </a:pPr>
            <a:r>
              <a:rPr lang="en-US" sz="2600" b="1" dirty="0">
                <a:solidFill>
                  <a:srgbClr val="1A2A25"/>
                </a:solidFill>
                <a:latin typeface="Cambria" pitchFamily="34" charset="0"/>
                <a:ea typeface="Cambria" pitchFamily="34" charset="-122"/>
                <a:cs typeface="Cambria" pitchFamily="34" charset="-120"/>
              </a:rPr>
              <a:t>Qué exige la norma y dónde falla Cuidarte+</a:t>
            </a:r>
            <a:endParaRPr lang="en-US" sz="2600" dirty="0"/>
          </a:p>
        </p:txBody>
      </p:sp>
      <p:sp>
        <p:nvSpPr>
          <p:cNvPr id="5" name="Text 3"/>
          <p:cNvSpPr/>
          <p:nvPr/>
        </p:nvSpPr>
        <p:spPr>
          <a:xfrm>
            <a:off x="566928" y="6547104"/>
            <a:ext cx="5943600" cy="182880"/>
          </a:xfrm>
          <a:prstGeom prst="rect">
            <a:avLst/>
          </a:prstGeom>
          <a:noFill/>
          <a:ln/>
        </p:spPr>
        <p:txBody>
          <a:bodyPr wrap="square" lIns="0" tIns="0" rIns="0" bIns="0" rtlCol="0" anchor="t"/>
          <a:lstStyle/>
          <a:p>
            <a:pPr algn="l" indent="0" marL="0">
              <a:buNone/>
            </a:pPr>
            <a:r>
              <a:rPr lang="en-US" sz="730" spc="60" kern="0" dirty="0">
                <a:solidFill>
                  <a:srgbClr val="8A9A94"/>
                </a:solidFill>
                <a:latin typeface="Courier New" pitchFamily="34" charset="0"/>
                <a:ea typeface="Courier New" pitchFamily="34" charset="-122"/>
                <a:cs typeface="Courier New" pitchFamily="34" charset="-120"/>
              </a:rPr>
              <a:t>Cuidarte+ · Auditoría de calidad y seguridad</a:t>
            </a:r>
            <a:endParaRPr lang="en-US" sz="730" dirty="0"/>
          </a:p>
        </p:txBody>
      </p:sp>
      <p:sp>
        <p:nvSpPr>
          <p:cNvPr id="6" name="Text 4"/>
          <p:cNvSpPr/>
          <p:nvPr/>
        </p:nvSpPr>
        <p:spPr>
          <a:xfrm>
            <a:off x="10561320" y="6547104"/>
            <a:ext cx="1060704" cy="182880"/>
          </a:xfrm>
          <a:prstGeom prst="rect">
            <a:avLst/>
          </a:prstGeom>
          <a:noFill/>
          <a:ln/>
        </p:spPr>
        <p:txBody>
          <a:bodyPr wrap="square" lIns="0" tIns="0" rIns="0" bIns="0" rtlCol="0" anchor="t"/>
          <a:lstStyle/>
          <a:p>
            <a:pPr algn="r" indent="0" marL="0">
              <a:buNone/>
            </a:pPr>
            <a:r>
              <a:rPr lang="en-US" sz="730" spc="60" kern="0" dirty="0">
                <a:solidFill>
                  <a:srgbClr val="8A9A94"/>
                </a:solidFill>
                <a:latin typeface="Courier New" pitchFamily="34" charset="0"/>
                <a:ea typeface="Courier New" pitchFamily="34" charset="-122"/>
                <a:cs typeface="Courier New" pitchFamily="34" charset="-120"/>
              </a:rPr>
              <a:t>16 / 17</a:t>
            </a:r>
            <a:endParaRPr lang="en-US" sz="73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700784"/>
          <a:ext cx="11055096" cy="914400"/>
        </p:xfrm>
        <a:graphic>
          <a:graphicData uri="http://schemas.openxmlformats.org/drawingml/2006/table">
            <a:tbl>
              <a:tblPr/>
              <a:tblGrid>
                <a:gridCol w="2148840"/>
                <a:gridCol w="4160520"/>
                <a:gridCol w="4745736"/>
              </a:tblGrid>
              <a:tr h="640080">
                <a:tc>
                  <a:txBody>
                    <a:bodyPr/>
                    <a:lstStyle/>
                    <a:p>
                      <a:pPr indent="0" marL="0">
                        <a:buNone/>
                      </a:pPr>
                      <a:r>
                        <a:rPr lang="en-US" sz="820" b="1" dirty="0">
                          <a:solidFill>
                            <a:srgbClr val="FFFFFF"/>
                          </a:solidFill>
                          <a:latin typeface="Courier New" pitchFamily="34" charset="0"/>
                          <a:ea typeface="Courier New" pitchFamily="34" charset="-122"/>
                          <a:cs typeface="Courier New" pitchFamily="34" charset="-120"/>
                        </a:rPr>
                        <a:t>Norma</a:t>
                      </a:r>
                      <a:endParaRPr lang="en-US" sz="82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c>
                  <a:txBody>
                    <a:bodyPr/>
                    <a:lstStyle/>
                    <a:p>
                      <a:pPr indent="0" marL="0">
                        <a:buNone/>
                      </a:pPr>
                      <a:r>
                        <a:rPr lang="en-US" sz="820" b="1" dirty="0">
                          <a:solidFill>
                            <a:srgbClr val="FFFFFF"/>
                          </a:solidFill>
                          <a:latin typeface="Calibri" pitchFamily="34" charset="0"/>
                          <a:ea typeface="Calibri" pitchFamily="34" charset="-122"/>
                          <a:cs typeface="Calibri" pitchFamily="34" charset="-120"/>
                        </a:rPr>
                        <a:t>Qué exige</a:t>
                      </a:r>
                      <a:endParaRPr lang="en-US" sz="82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c>
                  <a:txBody>
                    <a:bodyPr/>
                    <a:lstStyle/>
                    <a:p>
                      <a:pPr indent="0" marL="0">
                        <a:buNone/>
                      </a:pPr>
                      <a:r>
                        <a:rPr lang="en-US" sz="820" b="1" dirty="0">
                          <a:solidFill>
                            <a:srgbClr val="FFFFFF"/>
                          </a:solidFill>
                          <a:latin typeface="Calibri" pitchFamily="34" charset="0"/>
                          <a:ea typeface="Calibri" pitchFamily="34" charset="-122"/>
                          <a:cs typeface="Calibri" pitchFamily="34" charset="-120"/>
                        </a:rPr>
                        <a:t>Dónde se incumple</a:t>
                      </a:r>
                      <a:endParaRPr lang="en-US" sz="82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r>
              <a:tr h="640080">
                <a:tc>
                  <a:txBody>
                    <a:bodyPr/>
                    <a:lstStyle/>
                    <a:p>
                      <a:pPr indent="0" marL="0">
                        <a:buNone/>
                      </a:pPr>
                      <a:r>
                        <a:rPr lang="en-US" sz="860" b="1" dirty="0">
                          <a:solidFill>
                            <a:srgbClr val="1A2A25"/>
                          </a:solidFill>
                          <a:latin typeface="Courier New" pitchFamily="34" charset="0"/>
                          <a:ea typeface="Courier New" pitchFamily="34" charset="-122"/>
                          <a:cs typeface="Courier New" pitchFamily="34" charset="-120"/>
                        </a:rPr>
                        <a:t>Ley 19.628</a:t>
                      </a:r>
                      <a:endParaRPr lang="en-US" sz="86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Proteger datos personales sensibles, confidencialidad y seguridad.</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H-01, H-02 y H-04: credenciales, sesión y documentos.</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640080">
                <a:tc>
                  <a:txBody>
                    <a:bodyPr/>
                    <a:lstStyle/>
                    <a:p>
                      <a:pPr indent="0" marL="0">
                        <a:buNone/>
                      </a:pPr>
                      <a:r>
                        <a:rPr lang="en-US" sz="860" b="1" dirty="0">
                          <a:solidFill>
                            <a:srgbClr val="1A2A25"/>
                          </a:solidFill>
                          <a:latin typeface="Courier New" pitchFamily="34" charset="0"/>
                          <a:ea typeface="Courier New" pitchFamily="34" charset="-122"/>
                          <a:cs typeface="Courier New" pitchFamily="34" charset="-120"/>
                        </a:rPr>
                        <a:t>Ley 20.584</a:t>
                      </a:r>
                      <a:endParaRPr lang="en-US" sz="86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Reserva de la ficha clínica y acceso controlado y trazado.</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H-02 y H-03: sesión no revocada; RUT inválido.</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640080">
                <a:tc>
                  <a:txBody>
                    <a:bodyPr/>
                    <a:lstStyle/>
                    <a:p>
                      <a:pPr indent="0" marL="0">
                        <a:buNone/>
                      </a:pPr>
                      <a:r>
                        <a:rPr lang="en-US" sz="860" b="1" dirty="0">
                          <a:solidFill>
                            <a:srgbClr val="1A2A25"/>
                          </a:solidFill>
                          <a:latin typeface="Courier New" pitchFamily="34" charset="0"/>
                          <a:ea typeface="Courier New" pitchFamily="34" charset="-122"/>
                          <a:cs typeface="Courier New" pitchFamily="34" charset="-120"/>
                        </a:rPr>
                        <a:t>OWASP A01</a:t>
                      </a:r>
                      <a:endParaRPr lang="en-US" sz="86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Controlar el acceso a recursos y funciones.</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a:r>
                        <a:rPr sz="860">
                          <a:solidFill>
                            <a:srgbClr val="1A2A25"/>
                          </a:solidFill>
                          <a:latin typeface="Calibri"/>
                        </a:rPr>
                        <a:t>H-04: /files/documentos sin autenticación.</a:t>
                      </a: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640080">
                <a:tc>
                  <a:txBody>
                    <a:bodyPr/>
                    <a:lstStyle/>
                    <a:p>
                      <a:pPr indent="0" marL="0">
                        <a:buNone/>
                      </a:pPr>
                      <a:r>
                        <a:rPr lang="en-US" sz="860" b="1" dirty="0">
                          <a:solidFill>
                            <a:srgbClr val="1A2A25"/>
                          </a:solidFill>
                          <a:latin typeface="Courier New" pitchFamily="34" charset="0"/>
                          <a:ea typeface="Courier New" pitchFamily="34" charset="-122"/>
                          <a:cs typeface="Courier New" pitchFamily="34" charset="-120"/>
                        </a:rPr>
                        <a:t>OWASP A02/A07</a:t>
                      </a:r>
                      <a:endParaRPr lang="en-US" sz="86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Proteger credenciales y sesiones.</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H-01/H-02: texto plano y JWT sin revocación.</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640080">
                <a:tc>
                  <a:txBody>
                    <a:bodyPr/>
                    <a:lstStyle/>
                    <a:p>
                      <a:pPr indent="0" marL="0">
                        <a:buNone/>
                      </a:pPr>
                      <a:r>
                        <a:rPr lang="en-US" sz="860" b="1" dirty="0">
                          <a:solidFill>
                            <a:srgbClr val="1A2A25"/>
                          </a:solidFill>
                          <a:latin typeface="Courier New" pitchFamily="34" charset="0"/>
                          <a:ea typeface="Courier New" pitchFamily="34" charset="-122"/>
                          <a:cs typeface="Courier New" pitchFamily="34" charset="-120"/>
                        </a:rPr>
                        <a:t>ISO/IEC 25010 · NFR-SEG-8/9</a:t>
                      </a:r>
                      <a:endParaRPr lang="en-US" sz="860" dirty="0">
                        <a:latin typeface="Courier New" charset="0"/>
                        <a:ea typeface="Courier New" charset="0"/>
                        <a:cs typeface="Courier New"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Calidad verificable y cumplimiento normativo.</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60" dirty="0">
                          <a:solidFill>
                            <a:srgbClr val="1A2A25"/>
                          </a:solidFill>
                          <a:latin typeface="Calibri" pitchFamily="34" charset="0"/>
                          <a:ea typeface="Calibri" pitchFamily="34" charset="-122"/>
                          <a:cs typeface="Calibri" pitchFamily="34" charset="-120"/>
                        </a:rPr>
                        <a:t>0,0% cobertura y controles de sesión incompletos.</a:t>
                      </a:r>
                      <a:endParaRPr lang="en-US" sz="860" dirty="0">
                        <a:latin typeface="Calibri" charset="0"/>
                        <a:ea typeface="Calibri" charset="0"/>
                        <a:cs typeface="Calibri" charset="0"/>
                      </a:endParaRPr>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bl>
          </a:graphicData>
        </a:graphic>
      </p:graphicFrame>
      <p:sp>
        <p:nvSpPr>
          <p:cNvPr id="8" name="Text 5"/>
          <p:cNvSpPr/>
          <p:nvPr/>
        </p:nvSpPr>
        <p:spPr>
          <a:xfrm>
            <a:off x="566928" y="5806440"/>
            <a:ext cx="10881360" cy="274320"/>
          </a:xfrm>
          <a:prstGeom prst="rect">
            <a:avLst/>
          </a:prstGeom>
          <a:noFill/>
          <a:ln/>
        </p:spPr>
        <p:txBody>
          <a:bodyPr wrap="square" lIns="0" tIns="0" rIns="0" bIns="0" rtlCol="0" anchor="t"/>
          <a:lstStyle/>
          <a:p>
            <a:pPr algn="l" indent="0" marL="0">
              <a:buNone/>
            </a:pPr>
            <a:r>
              <a:rPr lang="en-US" sz="900" i="1" dirty="0">
                <a:solidFill>
                  <a:srgbClr val="5C6D67"/>
                </a:solidFill>
                <a:latin typeface="Calibri" pitchFamily="34" charset="0"/>
                <a:ea typeface="Calibri" pitchFamily="34" charset="-122"/>
                <a:cs typeface="Calibri" pitchFamily="34" charset="-120"/>
              </a:rPr>
              <a:t>El análisis no constituye asesoría legal: es una lectura técnica del ERS y de la normativa chilena aplicable.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566928" y="411480"/>
            <a:ext cx="77724" cy="77724"/>
          </a:xfrm>
          <a:prstGeom prst="rect">
            <a:avLst/>
          </a:prstGeom>
          <a:solidFill>
            <a:srgbClr val="C98A1E"/>
          </a:solidFill>
          <a:ln w="12700">
            <a:solidFill>
              <a:srgbClr val="C98A1E"/>
            </a:solidFill>
            <a:prstDash val="solid"/>
          </a:ln>
        </p:spPr>
      </p:sp>
      <p:sp>
        <p:nvSpPr>
          <p:cNvPr id="3" name="Text 1"/>
          <p:cNvSpPr/>
          <p:nvPr/>
        </p:nvSpPr>
        <p:spPr>
          <a:xfrm>
            <a:off x="731520" y="338328"/>
            <a:ext cx="9601200" cy="201168"/>
          </a:xfrm>
          <a:prstGeom prst="rect">
            <a:avLst/>
          </a:prstGeom>
          <a:noFill/>
          <a:ln/>
        </p:spPr>
        <p:txBody>
          <a:bodyPr wrap="square" lIns="0" tIns="0" rIns="0" bIns="0" rtlCol="0" anchor="t"/>
          <a:lstStyle/>
          <a:p>
            <a:pPr algn="l" indent="0" marL="0">
              <a:buNone/>
            </a:pPr>
            <a:r>
              <a:rPr lang="en-US" sz="800" b="1" spc="130" kern="0" dirty="0">
                <a:solidFill>
                  <a:srgbClr val="5C6D67"/>
                </a:solidFill>
                <a:latin typeface="Courier New" pitchFamily="34" charset="0"/>
                <a:ea typeface="Courier New" pitchFamily="34" charset="-122"/>
                <a:cs typeface="Courier New" pitchFamily="34" charset="-120"/>
              </a:rPr>
              <a:t>ANEXO D · EVIDENCIAS</a:t>
            </a:r>
            <a:endParaRPr lang="en-US" sz="800" dirty="0"/>
          </a:p>
        </p:txBody>
      </p:sp>
      <p:sp>
        <p:nvSpPr>
          <p:cNvPr id="4" name="Text 2"/>
          <p:cNvSpPr/>
          <p:nvPr/>
        </p:nvSpPr>
        <p:spPr>
          <a:xfrm>
            <a:off x="566928" y="640080"/>
            <a:ext cx="11057839" cy="941832"/>
          </a:xfrm>
          <a:prstGeom prst="rect">
            <a:avLst/>
          </a:prstGeom>
          <a:noFill/>
          <a:ln/>
        </p:spPr>
        <p:txBody>
          <a:bodyPr wrap="square" lIns="0" tIns="0" rIns="0" bIns="0" rtlCol="0" anchor="t"/>
          <a:lstStyle/>
          <a:p>
            <a:pPr algn="l" indent="0" marL="0">
              <a:lnSpc>
                <a:spcPts val="3100"/>
              </a:lnSpc>
              <a:buNone/>
            </a:pPr>
            <a:r>
              <a:rPr lang="en-US" sz="2600" b="1" dirty="0">
                <a:solidFill>
                  <a:srgbClr val="1A2A25"/>
                </a:solidFill>
                <a:latin typeface="Cambria" pitchFamily="34" charset="0"/>
                <a:ea typeface="Cambria" pitchFamily="34" charset="-122"/>
                <a:cs typeface="Cambria" pitchFamily="34" charset="-120"/>
              </a:rPr>
              <a:t>28 archivos, una convención y trazabilidad por caso</a:t>
            </a:r>
            <a:endParaRPr lang="en-US" sz="2600" dirty="0"/>
          </a:p>
        </p:txBody>
      </p:sp>
      <p:sp>
        <p:nvSpPr>
          <p:cNvPr id="5" name="Text 3"/>
          <p:cNvSpPr/>
          <p:nvPr/>
        </p:nvSpPr>
        <p:spPr>
          <a:xfrm>
            <a:off x="566928" y="6547104"/>
            <a:ext cx="5943600" cy="182880"/>
          </a:xfrm>
          <a:prstGeom prst="rect">
            <a:avLst/>
          </a:prstGeom>
          <a:noFill/>
          <a:ln/>
        </p:spPr>
        <p:txBody>
          <a:bodyPr wrap="square" lIns="0" tIns="0" rIns="0" bIns="0" rtlCol="0" anchor="t"/>
          <a:lstStyle/>
          <a:p>
            <a:pPr algn="l" indent="0" marL="0">
              <a:buNone/>
            </a:pPr>
            <a:r>
              <a:rPr lang="en-US" sz="730" spc="60" kern="0" dirty="0">
                <a:solidFill>
                  <a:srgbClr val="8A9A94"/>
                </a:solidFill>
                <a:latin typeface="Courier New" pitchFamily="34" charset="0"/>
                <a:ea typeface="Courier New" pitchFamily="34" charset="-122"/>
                <a:cs typeface="Courier New" pitchFamily="34" charset="-120"/>
              </a:rPr>
              <a:t>Cuidarte+ · Auditoría de calidad y seguridad</a:t>
            </a:r>
            <a:endParaRPr lang="en-US" sz="730" dirty="0"/>
          </a:p>
        </p:txBody>
      </p:sp>
      <p:sp>
        <p:nvSpPr>
          <p:cNvPr id="6" name="Text 4"/>
          <p:cNvSpPr/>
          <p:nvPr/>
        </p:nvSpPr>
        <p:spPr>
          <a:xfrm>
            <a:off x="10561320" y="6547104"/>
            <a:ext cx="1060704" cy="182880"/>
          </a:xfrm>
          <a:prstGeom prst="rect">
            <a:avLst/>
          </a:prstGeom>
          <a:noFill/>
          <a:ln/>
        </p:spPr>
        <p:txBody>
          <a:bodyPr wrap="square" lIns="0" tIns="0" rIns="0" bIns="0" rtlCol="0" anchor="t"/>
          <a:lstStyle/>
          <a:p>
            <a:pPr algn="r" indent="0" marL="0">
              <a:buNone/>
            </a:pPr>
            <a:r>
              <a:rPr lang="en-US" sz="730" spc="60" kern="0" dirty="0">
                <a:solidFill>
                  <a:srgbClr val="8A9A94"/>
                </a:solidFill>
                <a:latin typeface="Courier New" pitchFamily="34" charset="0"/>
                <a:ea typeface="Courier New" pitchFamily="34" charset="-122"/>
                <a:cs typeface="Courier New" pitchFamily="34" charset="-120"/>
              </a:rPr>
              <a:t>17 / 17</a:t>
            </a:r>
            <a:endParaRPr lang="en-US" sz="730" dirty="0"/>
          </a:p>
        </p:txBody>
      </p:sp>
      <p:sp>
        <p:nvSpPr>
          <p:cNvPr id="7" name="Text 5"/>
          <p:cNvSpPr/>
          <p:nvPr/>
        </p:nvSpPr>
        <p:spPr>
          <a:xfrm>
            <a:off x="566928" y="1627632"/>
            <a:ext cx="731520" cy="457200"/>
          </a:xfrm>
          <a:prstGeom prst="rect">
            <a:avLst/>
          </a:prstGeom>
          <a:noFill/>
          <a:ln/>
        </p:spPr>
        <p:txBody>
          <a:bodyPr wrap="square" lIns="0" tIns="0" rIns="0" bIns="0" rtlCol="0" anchor="t"/>
          <a:lstStyle/>
          <a:p>
            <a:pPr algn="l" indent="0" marL="0">
              <a:buNone/>
            </a:pPr>
            <a:r>
              <a:rPr lang="en-US" sz="2800" b="1" dirty="0">
                <a:solidFill>
                  <a:srgbClr val="123B33"/>
                </a:solidFill>
                <a:latin typeface="Cambria" pitchFamily="34" charset="0"/>
                <a:ea typeface="Cambria" pitchFamily="34" charset="-122"/>
                <a:cs typeface="Cambria" pitchFamily="34" charset="-120"/>
              </a:rPr>
              <a:t>28</a:t>
            </a:r>
            <a:endParaRPr lang="en-US" sz="2800" dirty="0"/>
          </a:p>
        </p:txBody>
      </p:sp>
      <p:sp>
        <p:nvSpPr>
          <p:cNvPr id="8" name="Text 6"/>
          <p:cNvSpPr/>
          <p:nvPr/>
        </p:nvSpPr>
        <p:spPr>
          <a:xfrm>
            <a:off x="1207008" y="1783080"/>
            <a:ext cx="1554480" cy="228600"/>
          </a:xfrm>
          <a:prstGeom prst="rect">
            <a:avLst/>
          </a:prstGeom>
          <a:noFill/>
          <a:ln/>
        </p:spPr>
        <p:txBody>
          <a:bodyPr wrap="square" lIns="0" tIns="0" rIns="0" bIns="0" rtlCol="0" anchor="t"/>
          <a:lstStyle/>
          <a:p>
            <a:pPr algn="l" indent="0" marL="0">
              <a:buNone/>
            </a:pPr>
            <a:r>
              <a:rPr lang="en-US" sz="880" dirty="0">
                <a:solidFill>
                  <a:srgbClr val="5C6D67"/>
                </a:solidFill>
                <a:latin typeface="Calibri" pitchFamily="34" charset="0"/>
                <a:ea typeface="Calibri" pitchFamily="34" charset="-122"/>
                <a:cs typeface="Calibri" pitchFamily="34" charset="-120"/>
              </a:rPr>
              <a:t>archivos</a:t>
            </a:r>
            <a:endParaRPr lang="en-US" sz="880" dirty="0"/>
          </a:p>
        </p:txBody>
      </p:sp>
      <p:sp>
        <p:nvSpPr>
          <p:cNvPr id="9" name="Text 7"/>
          <p:cNvSpPr/>
          <p:nvPr/>
        </p:nvSpPr>
        <p:spPr>
          <a:xfrm>
            <a:off x="3328416" y="1627632"/>
            <a:ext cx="731520" cy="457200"/>
          </a:xfrm>
          <a:prstGeom prst="rect">
            <a:avLst/>
          </a:prstGeom>
          <a:noFill/>
          <a:ln/>
        </p:spPr>
        <p:txBody>
          <a:bodyPr wrap="square" lIns="0" tIns="0" rIns="0" bIns="0" rtlCol="0" anchor="t"/>
          <a:lstStyle/>
          <a:p>
            <a:pPr algn="l" indent="0" marL="0">
              <a:buNone/>
            </a:pPr>
            <a:r>
              <a:rPr lang="en-US" sz="2800" b="1" dirty="0">
                <a:solidFill>
                  <a:srgbClr val="123B33"/>
                </a:solidFill>
                <a:latin typeface="Cambria" pitchFamily="34" charset="0"/>
                <a:ea typeface="Cambria" pitchFamily="34" charset="-122"/>
                <a:cs typeface="Cambria" pitchFamily="34" charset="-120"/>
              </a:rPr>
              <a:t>6</a:t>
            </a:r>
            <a:endParaRPr lang="en-US" sz="2800" dirty="0"/>
          </a:p>
        </p:txBody>
      </p:sp>
      <p:sp>
        <p:nvSpPr>
          <p:cNvPr id="10" name="Text 8"/>
          <p:cNvSpPr/>
          <p:nvPr/>
        </p:nvSpPr>
        <p:spPr>
          <a:xfrm>
            <a:off x="3968496" y="1783080"/>
            <a:ext cx="1554480" cy="228600"/>
          </a:xfrm>
          <a:prstGeom prst="rect">
            <a:avLst/>
          </a:prstGeom>
          <a:noFill/>
          <a:ln/>
        </p:spPr>
        <p:txBody>
          <a:bodyPr wrap="square" lIns="0" tIns="0" rIns="0" bIns="0" rtlCol="0" anchor="t"/>
          <a:lstStyle/>
          <a:p>
            <a:pPr algn="l" indent="0" marL="0">
              <a:buNone/>
            </a:pPr>
            <a:r>
              <a:rPr lang="en-US" sz="880" dirty="0">
                <a:solidFill>
                  <a:srgbClr val="5C6D67"/>
                </a:solidFill>
                <a:latin typeface="Calibri" pitchFamily="34" charset="0"/>
                <a:ea typeface="Calibri" pitchFamily="34" charset="-122"/>
                <a:cs typeface="Calibri" pitchFamily="34" charset="-120"/>
              </a:rPr>
              <a:t>PNG</a:t>
            </a:r>
            <a:endParaRPr lang="en-US" sz="880" dirty="0"/>
          </a:p>
        </p:txBody>
      </p:sp>
      <p:sp>
        <p:nvSpPr>
          <p:cNvPr id="11" name="Text 9"/>
          <p:cNvSpPr/>
          <p:nvPr/>
        </p:nvSpPr>
        <p:spPr>
          <a:xfrm>
            <a:off x="6089904" y="1627632"/>
            <a:ext cx="731520" cy="457200"/>
          </a:xfrm>
          <a:prstGeom prst="rect">
            <a:avLst/>
          </a:prstGeom>
          <a:noFill/>
          <a:ln/>
        </p:spPr>
        <p:txBody>
          <a:bodyPr wrap="square" lIns="0" tIns="0" rIns="0" bIns="0" rtlCol="0" anchor="t"/>
          <a:lstStyle/>
          <a:p>
            <a:pPr algn="l" indent="0" marL="0">
              <a:buNone/>
            </a:pPr>
            <a:r>
              <a:rPr lang="en-US" sz="2800" b="1" dirty="0">
                <a:solidFill>
                  <a:srgbClr val="123B33"/>
                </a:solidFill>
                <a:latin typeface="Cambria" pitchFamily="34" charset="0"/>
                <a:ea typeface="Cambria" pitchFamily="34" charset="-122"/>
                <a:cs typeface="Cambria" pitchFamily="34" charset="-120"/>
              </a:rPr>
              <a:t>15</a:t>
            </a:r>
            <a:endParaRPr lang="en-US" sz="2800" dirty="0"/>
          </a:p>
        </p:txBody>
      </p:sp>
      <p:sp>
        <p:nvSpPr>
          <p:cNvPr id="12" name="Text 10"/>
          <p:cNvSpPr/>
          <p:nvPr/>
        </p:nvSpPr>
        <p:spPr>
          <a:xfrm>
            <a:off x="6729984" y="1783080"/>
            <a:ext cx="1554480" cy="228600"/>
          </a:xfrm>
          <a:prstGeom prst="rect">
            <a:avLst/>
          </a:prstGeom>
          <a:noFill/>
          <a:ln/>
        </p:spPr>
        <p:txBody>
          <a:bodyPr wrap="square" lIns="0" tIns="0" rIns="0" bIns="0" rtlCol="0" anchor="t"/>
          <a:lstStyle/>
          <a:p>
            <a:pPr algn="l" indent="0" marL="0">
              <a:buNone/>
            </a:pPr>
            <a:r>
              <a:rPr lang="en-US" sz="880" dirty="0">
                <a:solidFill>
                  <a:srgbClr val="5C6D67"/>
                </a:solidFill>
                <a:latin typeface="Calibri" pitchFamily="34" charset="0"/>
                <a:ea typeface="Calibri" pitchFamily="34" charset="-122"/>
                <a:cs typeface="Calibri" pitchFamily="34" charset="-120"/>
              </a:rPr>
              <a:t>JSON</a:t>
            </a:r>
            <a:endParaRPr lang="en-US" sz="880" dirty="0"/>
          </a:p>
        </p:txBody>
      </p:sp>
      <p:sp>
        <p:nvSpPr>
          <p:cNvPr id="13" name="Text 11"/>
          <p:cNvSpPr/>
          <p:nvPr/>
        </p:nvSpPr>
        <p:spPr>
          <a:xfrm>
            <a:off x="8851392" y="1627632"/>
            <a:ext cx="731520" cy="457200"/>
          </a:xfrm>
          <a:prstGeom prst="rect">
            <a:avLst/>
          </a:prstGeom>
          <a:noFill/>
          <a:ln/>
        </p:spPr>
        <p:txBody>
          <a:bodyPr wrap="square" lIns="0" tIns="0" rIns="0" bIns="0" rtlCol="0" anchor="t"/>
          <a:lstStyle/>
          <a:p>
            <a:pPr algn="l" indent="0" marL="0">
              <a:buNone/>
            </a:pPr>
            <a:r>
              <a:rPr lang="en-US" sz="2800" b="1" dirty="0">
                <a:solidFill>
                  <a:srgbClr val="123B33"/>
                </a:solidFill>
                <a:latin typeface="Cambria" pitchFamily="34" charset="0"/>
                <a:ea typeface="Cambria" pitchFamily="34" charset="-122"/>
                <a:cs typeface="Cambria" pitchFamily="34" charset="-120"/>
              </a:rPr>
              <a:t>7</a:t>
            </a:r>
            <a:endParaRPr lang="en-US" sz="2800" dirty="0"/>
          </a:p>
        </p:txBody>
      </p:sp>
      <p:sp>
        <p:nvSpPr>
          <p:cNvPr id="14" name="Text 12"/>
          <p:cNvSpPr/>
          <p:nvPr/>
        </p:nvSpPr>
        <p:spPr>
          <a:xfrm>
            <a:off x="9491472" y="1783080"/>
            <a:ext cx="1554480" cy="228600"/>
          </a:xfrm>
          <a:prstGeom prst="rect">
            <a:avLst/>
          </a:prstGeom>
          <a:noFill/>
          <a:ln/>
        </p:spPr>
        <p:txBody>
          <a:bodyPr wrap="square" lIns="0" tIns="0" rIns="0" bIns="0" rtlCol="0" anchor="t"/>
          <a:lstStyle/>
          <a:p>
            <a:pPr algn="l" indent="0" marL="0">
              <a:buNone/>
            </a:pPr>
            <a:r>
              <a:rPr lang="en-US" sz="880" dirty="0">
                <a:solidFill>
                  <a:srgbClr val="5C6D67"/>
                </a:solidFill>
                <a:latin typeface="Calibri" pitchFamily="34" charset="0"/>
                <a:ea typeface="Calibri" pitchFamily="34" charset="-122"/>
                <a:cs typeface="Calibri" pitchFamily="34" charset="-120"/>
              </a:rPr>
              <a:t>TXT + PDF</a:t>
            </a:r>
            <a:endParaRPr lang="en-US" sz="880" dirty="0"/>
          </a:p>
        </p:txBody>
      </p:sp>
      <p:sp>
        <p:nvSpPr>
          <p:cNvPr id="15" name="Shape 13"/>
          <p:cNvSpPr/>
          <p:nvPr/>
        </p:nvSpPr>
        <p:spPr>
          <a:xfrm>
            <a:off x="566928" y="2395728"/>
            <a:ext cx="4892040" cy="2651760"/>
          </a:xfrm>
          <a:prstGeom prst="roundRect">
            <a:avLst>
              <a:gd name="adj" fmla="val 862"/>
            </a:avLst>
          </a:prstGeom>
          <a:solidFill>
            <a:srgbClr val="123B33"/>
          </a:solidFill>
          <a:ln w="7620">
            <a:solidFill>
              <a:srgbClr val="123B33"/>
            </a:solidFill>
            <a:prstDash val="solid"/>
          </a:ln>
          <a:effectLst>
            <a:outerShdw sx="100000" sy="100000" kx="0" ky="0" algn="bl" rotWithShape="0" blurRad="88900" dist="25400" dir="5400000">
              <a:srgbClr val="000000">
                <a:alpha val="5000"/>
              </a:srgbClr>
            </a:outerShdw>
          </a:effectLst>
        </p:spPr>
      </p:sp>
      <p:sp>
        <p:nvSpPr>
          <p:cNvPr id="16" name="Text 14"/>
          <p:cNvSpPr/>
          <p:nvPr/>
        </p:nvSpPr>
        <p:spPr>
          <a:xfrm>
            <a:off x="768096" y="2560320"/>
            <a:ext cx="4480560" cy="182880"/>
          </a:xfrm>
          <a:prstGeom prst="rect">
            <a:avLst/>
          </a:prstGeom>
          <a:noFill/>
          <a:ln/>
        </p:spPr>
        <p:txBody>
          <a:bodyPr wrap="square" lIns="0" tIns="0" rIns="0" bIns="0" rtlCol="0" anchor="t"/>
          <a:lstStyle/>
          <a:p>
            <a:pPr algn="l" indent="0" marL="0">
              <a:buNone/>
            </a:pPr>
            <a:r>
              <a:rPr lang="en-US" sz="710" b="1" spc="110" kern="0" dirty="0">
                <a:solidFill>
                  <a:srgbClr val="9FD3C7"/>
                </a:solidFill>
                <a:latin typeface="Courier New" pitchFamily="34" charset="0"/>
                <a:ea typeface="Courier New" pitchFamily="34" charset="-122"/>
                <a:cs typeface="Courier New" pitchFamily="34" charset="-120"/>
              </a:rPr>
              <a:t>CONVENCIÓN DE NOMBRE</a:t>
            </a:r>
            <a:endParaRPr lang="en-US" sz="710" dirty="0"/>
          </a:p>
        </p:txBody>
      </p:sp>
      <p:sp>
        <p:nvSpPr>
          <p:cNvPr id="17" name="Text 15"/>
          <p:cNvSpPr/>
          <p:nvPr/>
        </p:nvSpPr>
        <p:spPr>
          <a:xfrm>
            <a:off x="768096" y="2852928"/>
            <a:ext cx="4480560" cy="256032"/>
          </a:xfrm>
          <a:prstGeom prst="rect">
            <a:avLst/>
          </a:prstGeom>
          <a:noFill/>
          <a:ln/>
        </p:spPr>
        <p:txBody>
          <a:bodyPr wrap="square" lIns="0" tIns="0" rIns="0" bIns="0" rtlCol="0" anchor="t"/>
          <a:lstStyle/>
          <a:p>
            <a:pPr algn="l" indent="0" marL="0">
              <a:buNone/>
            </a:pPr>
            <a:r>
              <a:rPr lang="en-US" sz="960" b="1" dirty="0">
                <a:solidFill>
                  <a:srgbClr val="FFFFFF"/>
                </a:solidFill>
                <a:latin typeface="Courier New" pitchFamily="34" charset="0"/>
                <a:ea typeface="Courier New" pitchFamily="34" charset="-122"/>
                <a:cs typeface="Courier New" pitchFamily="34" charset="-120"/>
              </a:rPr>
              <a:t>Grupo1_&lt;CP&gt;_&lt;vista&gt;_&lt;resultado&gt;.&lt;ext&gt;</a:t>
            </a:r>
            <a:endParaRPr lang="en-US" sz="960" dirty="0"/>
          </a:p>
        </p:txBody>
      </p:sp>
      <p:sp>
        <p:nvSpPr>
          <p:cNvPr id="18" name="Text 16"/>
          <p:cNvSpPr/>
          <p:nvPr/>
        </p:nvSpPr>
        <p:spPr>
          <a:xfrm>
            <a:off x="768096" y="3310128"/>
            <a:ext cx="4480560" cy="1143000"/>
          </a:xfrm>
          <a:prstGeom prst="rect">
            <a:avLst/>
          </a:prstGeom>
          <a:noFill/>
          <a:ln/>
        </p:spPr>
        <p:txBody>
          <a:bodyPr wrap="square" lIns="0" tIns="0" rIns="0" bIns="0" rtlCol="0" anchor="t"/>
          <a:lstStyle/>
          <a:p>
            <a:pPr algn="l" indent="0" marL="0">
              <a:lnSpc>
                <a:spcPts val="1800"/>
              </a:lnSpc>
              <a:buNone/>
            </a:pPr>
            <a:r>
              <a:rPr lang="en-US" sz="780" dirty="0">
                <a:solidFill>
                  <a:srgbClr val="DCEBE5"/>
                </a:solidFill>
                <a:latin typeface="Courier New" pitchFamily="34" charset="0"/>
                <a:ea typeface="Courier New" pitchFamily="34" charset="-122"/>
                <a:cs typeface="Courier New" pitchFamily="34" charset="-120"/>
              </a:rPr>
              <a:t>Grupo1_CP001_Front_201_Pass.png</a:t>
            </a:r>
            <a:endParaRPr lang="en-US" sz="780" dirty="0"/>
          </a:p>
          <a:p>
            <a:pPr algn="l" indent="0" marL="0">
              <a:lnSpc>
                <a:spcPts val="1800"/>
              </a:lnSpc>
              <a:buNone/>
            </a:pPr>
            <a:r>
              <a:rPr lang="en-US" sz="780" dirty="0">
                <a:solidFill>
                  <a:srgbClr val="DCEBE5"/>
                </a:solidFill>
                <a:latin typeface="Courier New" pitchFamily="34" charset="0"/>
                <a:ea typeface="Courier New" pitchFamily="34" charset="-122"/>
                <a:cs typeface="Courier New" pitchFamily="34" charset="-120"/>
              </a:rPr>
              <a:t>Grupo1_CP006_Reuso_token_tras_logout_200.json</a:t>
            </a:r>
            <a:endParaRPr lang="en-US" sz="780" dirty="0"/>
          </a:p>
          <a:p>
            <a:pPr algn="l" indent="0" marL="0">
              <a:lnSpc>
                <a:spcPts val="1800"/>
              </a:lnSpc>
              <a:buNone/>
            </a:pPr>
            <a:r>
              <a:rPr lang="en-US" sz="780" dirty="0">
                <a:solidFill>
                  <a:srgbClr val="DCEBE5"/>
                </a:solidFill>
                <a:latin typeface="Courier New" pitchFamily="34" charset="0"/>
                <a:ea typeface="Courier New" pitchFamily="34" charset="-122"/>
                <a:cs typeface="Courier New" pitchFamily="34" charset="-120"/>
              </a:rPr>
              <a:t>Grupo1_CP008_Integridad_y_tiempo.txt</a:t>
            </a:r>
            <a:endParaRPr lang="en-US" sz="780" dirty="0"/>
          </a:p>
        </p:txBody>
      </p:sp>
      <p:sp>
        <p:nvSpPr>
          <p:cNvPr id="19" name="Text 17"/>
          <p:cNvSpPr/>
          <p:nvPr/>
        </p:nvSpPr>
        <p:spPr>
          <a:xfrm>
            <a:off x="768096" y="4572000"/>
            <a:ext cx="4434840" cy="365760"/>
          </a:xfrm>
          <a:prstGeom prst="rect">
            <a:avLst/>
          </a:prstGeom>
          <a:noFill/>
          <a:ln/>
        </p:spPr>
        <p:txBody>
          <a:bodyPr wrap="square" lIns="0" tIns="0" rIns="0" bIns="0" rtlCol="0" anchor="t"/>
          <a:lstStyle/>
          <a:p>
            <a:pPr algn="l" indent="0" marL="0">
              <a:lnSpc>
                <a:spcPts val="1100"/>
              </a:lnSpc>
              <a:buNone/>
            </a:pPr>
            <a:r>
              <a:rPr lang="en-US" sz="840" dirty="0">
                <a:solidFill>
                  <a:srgbClr val="9FD3C7"/>
                </a:solidFill>
                <a:latin typeface="Calibri" pitchFamily="34" charset="0"/>
                <a:ea typeface="Calibri" pitchFamily="34" charset="-122"/>
                <a:cs typeface="Calibri" pitchFamily="34" charset="-120"/>
              </a:rPr>
              <a:t>Caso, vista, resultado y extensión: la evidencia se puede ubicar sin abrir la bitácora.</a:t>
            </a:r>
            <a:endParaRPr lang="en-US" sz="84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806440" y="2395728"/>
          <a:ext cx="5815584" cy="914400"/>
        </p:xfrm>
        <a:graphic>
          <a:graphicData uri="http://schemas.openxmlformats.org/drawingml/2006/table">
            <a:tbl>
              <a:tblPr/>
              <a:tblGrid>
                <a:gridCol w="1600200"/>
                <a:gridCol w="2011680"/>
                <a:gridCol w="2203704"/>
              </a:tblGrid>
              <a:tr h="530352">
                <a:tc>
                  <a:txBody>
                    <a:bodyPr/>
                    <a:lstStyle/>
                    <a:p>
                      <a:pPr indent="0" marL="0">
                        <a:buNone/>
                      </a:pPr>
                      <a:r>
                        <a:rPr lang="en-US" sz="800" b="1" dirty="0">
                          <a:solidFill>
                            <a:srgbClr val="FFFFFF"/>
                          </a:solidFill>
                        </a:rPr>
                        <a:t>Grupo</a:t>
                      </a:r>
                      <a:endParaRPr lang="en-US" sz="800" dirty="0"/>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c>
                  <a:txBody>
                    <a:bodyPr/>
                    <a:lstStyle/>
                    <a:p>
                      <a:pPr indent="0" marL="0">
                        <a:buNone/>
                      </a:pPr>
                      <a:r>
                        <a:rPr lang="en-US" sz="800" b="1" dirty="0">
                          <a:solidFill>
                            <a:srgbClr val="FFFFFF"/>
                          </a:solidFill>
                        </a:rPr>
                        <a:t>Archivos</a:t>
                      </a:r>
                      <a:endParaRPr lang="en-US" sz="800" dirty="0"/>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c>
                  <a:txBody>
                    <a:bodyPr/>
                    <a:lstStyle/>
                    <a:p>
                      <a:pPr indent="0" marL="0">
                        <a:buNone/>
                      </a:pPr>
                      <a:r>
                        <a:rPr lang="en-US" sz="800" b="1" dirty="0">
                          <a:solidFill>
                            <a:srgbClr val="FFFFFF"/>
                          </a:solidFill>
                        </a:rPr>
                        <a:t>Qué demuestra</a:t>
                      </a:r>
                      <a:endParaRPr lang="en-US" sz="800" dirty="0"/>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123B33"/>
                    </a:solidFill>
                  </a:tcPr>
                </a:tc>
              </a:tr>
              <a:tr h="530352">
                <a:tc>
                  <a:txBody>
                    <a:bodyPr/>
                    <a:lstStyle/>
                    <a:p>
                      <a:pPr indent="0" marL="0">
                        <a:buNone/>
                      </a:pPr>
                      <a:r>
                        <a:rPr lang="en-US" sz="850" dirty="0">
                          <a:solidFill>
                            <a:srgbClr val="1A2A25"/>
                          </a:solidFill>
                        </a:rPr>
                        <a:t>CP001–CP004</a:t>
                      </a:r>
                      <a:endParaRPr lang="en-US" sz="850" dirty="0"/>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50" dirty="0">
                          <a:solidFill>
                            <a:srgbClr val="1A2A25"/>
                          </a:solidFill>
                        </a:rPr>
                        <a:t>6 PNG + request/response</a:t>
                      </a:r>
                      <a:endParaRPr lang="en-US" sz="850" dirty="0"/>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50" dirty="0">
                          <a:solidFill>
                            <a:srgbClr val="1A2A25"/>
                          </a:solidFill>
                        </a:rPr>
                        <a:t>Validación funcional y duplicado.</a:t>
                      </a:r>
                      <a:endParaRPr lang="en-US" sz="850" dirty="0"/>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530352">
                <a:tc>
                  <a:txBody>
                    <a:bodyPr/>
                    <a:lstStyle/>
                    <a:p>
                      <a:pPr indent="0" marL="0">
                        <a:buNone/>
                      </a:pPr>
                      <a:r>
                        <a:rPr lang="en-US" sz="850" dirty="0">
                          <a:solidFill>
                            <a:srgbClr val="1A2A25"/>
                          </a:solidFill>
                        </a:rPr>
                        <a:t>CP005–CP007</a:t>
                      </a:r>
                      <a:endParaRPr lang="en-US" sz="850" dirty="0"/>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50" dirty="0">
                          <a:solidFill>
                            <a:srgbClr val="1A2A25"/>
                          </a:solidFill>
                        </a:rPr>
                        <a:t>JSON + TXT</a:t>
                      </a:r>
                      <a:endParaRPr lang="en-US" sz="850" dirty="0"/>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50" dirty="0">
                          <a:solidFill>
                            <a:srgbClr val="1A2A25"/>
                          </a:solidFill>
                        </a:rPr>
                        <a:t>Login, logout y RBAC.</a:t>
                      </a:r>
                      <a:endParaRPr lang="en-US" sz="850" dirty="0"/>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530352">
                <a:tc>
                  <a:txBody>
                    <a:bodyPr/>
                    <a:lstStyle/>
                    <a:p>
                      <a:pPr indent="0" marL="0">
                        <a:buNone/>
                      </a:pPr>
                      <a:r>
                        <a:rPr lang="en-US" sz="850" dirty="0">
                          <a:solidFill>
                            <a:srgbClr val="1A2A25"/>
                          </a:solidFill>
                        </a:rPr>
                        <a:t>CP008</a:t>
                      </a:r>
                      <a:endParaRPr lang="en-US" sz="850" dirty="0"/>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50" dirty="0">
                          <a:solidFill>
                            <a:srgbClr val="1A2A25"/>
                          </a:solidFill>
                        </a:rPr>
                        <a:t>PDF + TXT</a:t>
                      </a:r>
                      <a:endParaRPr lang="en-US" sz="850" dirty="0"/>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50" dirty="0">
                          <a:solidFill>
                            <a:srgbClr val="1A2A25"/>
                          </a:solidFill>
                        </a:rPr>
                        <a:t>Integridad documental y tiempos.</a:t>
                      </a:r>
                      <a:endParaRPr lang="en-US" sz="850" dirty="0"/>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r h="530352">
                <a:tc>
                  <a:txBody>
                    <a:bodyPr/>
                    <a:lstStyle/>
                    <a:p>
                      <a:pPr indent="0" marL="0">
                        <a:buNone/>
                      </a:pPr>
                      <a:r>
                        <a:rPr lang="en-US" sz="850" dirty="0">
                          <a:solidFill>
                            <a:srgbClr val="1A2A25"/>
                          </a:solidFill>
                        </a:rPr>
                        <a:t>SonarQube</a:t>
                      </a:r>
                      <a:endParaRPr lang="en-US" sz="850" dirty="0"/>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50" dirty="0">
                          <a:solidFill>
                            <a:srgbClr val="1A2A25"/>
                          </a:solidFill>
                        </a:rPr>
                        <a:t>5 JSON/TXT</a:t>
                      </a:r>
                      <a:endParaRPr lang="en-US" sz="850" dirty="0"/>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c>
                  <a:txBody>
                    <a:bodyPr/>
                    <a:lstStyle/>
                    <a:p>
                      <a:pPr indent="0" marL="0">
                        <a:buNone/>
                      </a:pPr>
                      <a:r>
                        <a:rPr lang="en-US" sz="850" dirty="0">
                          <a:solidFill>
                            <a:srgbClr val="1A2A25"/>
                          </a:solidFill>
                        </a:rPr>
                        <a:t>Análisis estático y Quality Gate.</a:t>
                      </a:r>
                      <a:endParaRPr lang="en-US" sz="850" dirty="0"/>
                    </a:p>
                  </a:txBody>
                  <a:tcPr marL="91440" marR="91440" marT="45720" marB="45720">
                    <a:lnL w="6350" cap="flat" cmpd="sng" algn="ctr">
                      <a:solidFill>
                        <a:srgbClr val="D7E0DB"/>
                      </a:solidFill>
                      <a:prstDash val="solid"/>
                      <a:round/>
                      <a:headEnd type="none" w="med" len="med"/>
                      <a:tailEnd type="none" w="med" len="med"/>
                    </a:lnL>
                    <a:lnR w="6350" cap="flat" cmpd="sng" algn="ctr">
                      <a:solidFill>
                        <a:srgbClr val="D7E0DB"/>
                      </a:solidFill>
                      <a:prstDash val="solid"/>
                      <a:round/>
                      <a:headEnd type="none" w="med" len="med"/>
                      <a:tailEnd type="none" w="med" len="med"/>
                    </a:lnR>
                    <a:lnT w="6350" cap="flat" cmpd="sng" algn="ctr">
                      <a:solidFill>
                        <a:srgbClr val="D7E0DB"/>
                      </a:solidFill>
                      <a:prstDash val="solid"/>
                      <a:round/>
                      <a:headEnd type="none" w="med" len="med"/>
                      <a:tailEnd type="none" w="med" len="med"/>
                    </a:lnT>
                    <a:lnB w="6350" cap="flat" cmpd="sng" algn="ctr">
                      <a:solidFill>
                        <a:srgbClr val="D7E0DB"/>
                      </a:solidFill>
                      <a:prstDash val="solid"/>
                      <a:round/>
                      <a:headEnd type="none" w="med" len="med"/>
                      <a:tailEnd type="none" w="med" len="med"/>
                    </a:lnB>
                    <a:solidFill>
                      <a:srgbClr val="FFFFFF"/>
                    </a:solidFill>
                  </a:tcPr>
                </a:tc>
              </a:tr>
            </a:tbl>
          </a:graphicData>
        </a:graphic>
      </p:graphicFrame>
      <p:sp>
        <p:nvSpPr>
          <p:cNvPr id="21" name="Text 18"/>
          <p:cNvSpPr/>
          <p:nvPr/>
        </p:nvSpPr>
        <p:spPr>
          <a:xfrm>
            <a:off x="5806440" y="5394960"/>
            <a:ext cx="5760720" cy="228600"/>
          </a:xfrm>
          <a:prstGeom prst="rect">
            <a:avLst/>
          </a:prstGeom>
          <a:noFill/>
          <a:ln/>
        </p:spPr>
        <p:txBody>
          <a:bodyPr wrap="square" lIns="0" tIns="0" rIns="0" bIns="0" rtlCol="0" anchor="t"/>
          <a:lstStyle/>
          <a:p>
            <a:pPr algn="l" indent="0" marL="0">
              <a:buNone/>
            </a:pPr>
            <a:r>
              <a:rPr lang="en-US" sz="860" i="1" dirty="0">
                <a:solidFill>
                  <a:srgbClr val="5C6D67"/>
                </a:solidFill>
                <a:latin typeface="Calibri" pitchFamily="34" charset="0"/>
                <a:ea typeface="Calibri" pitchFamily="34" charset="-122"/>
                <a:cs typeface="Calibri" pitchFamily="34" charset="-120"/>
              </a:rPr>
              <a:t>La bitácora completa está en U2.3_Ejecucion/Bitacora_Ejecucion_2.3_Cuidarte.docx.</a:t>
            </a:r>
            <a:endParaRPr lang="en-US" sz="860" dirty="0"/>
          </a:p>
        </p:txBody>
      </p:sp>
      <p:sp>
        <p:nvSpPr>
          <p:cNvPr id="22" name="Text 19"/>
          <p:cNvSpPr/>
          <p:nvPr/>
        </p:nvSpPr>
        <p:spPr>
          <a:xfrm>
            <a:off x="5806440" y="5669280"/>
            <a:ext cx="5760720" cy="228600"/>
          </a:xfrm>
          <a:prstGeom prst="rect">
            <a:avLst/>
          </a:prstGeom>
          <a:noFill/>
          <a:ln/>
        </p:spPr>
        <p:txBody>
          <a:bodyPr wrap="square" lIns="0" tIns="0" rIns="0" bIns="0" rtlCol="0" anchor="t"/>
          <a:lstStyle/>
          <a:p>
            <a:pPr algn="l" indent="0" marL="0">
              <a:buNone/>
            </a:pPr>
            <a:r>
              <a:rPr lang="en-US" sz="900" b="1" dirty="0">
                <a:solidFill>
                  <a:srgbClr val="123B33"/>
                </a:solidFill>
                <a:latin typeface="Calibri" pitchFamily="34" charset="0"/>
                <a:ea typeface="Calibri" pitchFamily="34" charset="-122"/>
                <a:cs typeface="Calibri" pitchFamily="34" charset="-120"/>
              </a:rPr>
              <a:t>Cada resultado Pass o Fail tiene al menos un archivo asociado.</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ISY1102 · Seguridad y Calidad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Cuidarte+ · Auditoría de calidad, seguridad y cumplimiento normativo</dc:title>
  <dc:subject>Evaluación Parcial 4 · Presentación</dc:subject>
  <dc:creator>Benjamín Ibáñez · Gerardo Vera</dc:creator>
  <cp:lastModifiedBy>Benjamín Ibáñez · Gerardo Vera</cp:lastModifiedBy>
  <cp:revision>1</cp:revision>
  <dcterms:created xsi:type="dcterms:W3CDTF">2026-10-19T23:28:02Z</dcterms:created>
  <dcterms:modified xsi:type="dcterms:W3CDTF">2026-10-19T23:28:02Z</dcterms:modified>
</cp:coreProperties>
</file>