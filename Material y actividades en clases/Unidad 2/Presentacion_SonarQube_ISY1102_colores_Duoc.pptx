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66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2A9F23D-443F-4E01-B2E9-BA5A3BC0D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6E732C34-3E13-425B-BC48-7FF4F7F8A2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75CA0B0-8055-4F79-8B94-9604E5F4E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EC0E537-9D43-43D4-A065-028518A32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004C963-33EB-4F72-BE48-91CF03DA3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D442280-C769-4D19-A007-7FF695703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71869FF-81DA-45D7-B4CB-AC5FAA49D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9A906CC-2C2A-4AE6-B68B-6F0FE20DC53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B59ED7F-9F3A-4DD3-9C39-1C0D98A70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3D5E786-41D4-4B9B-B560-1876782FB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5CC01865-474E-4E6F-817C-2B25C3A9FDF5}"/>
              </a:ext>
            </a:extLst>
          </p:cNvPr>
          <p:cNvSpPr>
            <a:spLocks noGrp="1"/>
          </p:cNvSpPr>
          <p:nvPr/>
        </p:nvSpPr>
        <p:spPr>
          <a:xfrm>
            <a:off x="0" y="2857500"/>
            <a:ext cx="12192000" cy="400050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077889F-00F9-4F9B-B8D3-FA957ECB152C}"/>
              </a:ext>
            </a:extLst>
          </p:cNvPr>
          <p:cNvSpPr>
            <a:spLocks noGrp="1"/>
          </p:cNvSpPr>
          <p:nvPr/>
        </p:nvSpPr>
        <p:spPr>
          <a:xfrm>
            <a:off x="9791700" y="190500"/>
            <a:ext cx="2076450" cy="666750"/>
          </a:xfrm>
          <a:prstGeom prst="rect">
            <a:avLst/>
          </a:prstGeom>
          <a:solidFill>
            <a:srgbClr val="F6C400"/>
          </a:solidFill>
          <a:ln w="0">
            <a:noFill/>
          </a:ln>
        </p:spPr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B51EDC8-0640-4108-9C14-45A56938A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144125" y="323616"/>
            <a:ext cx="1285875" cy="400518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BC19A40D-E821-4481-B451-A65FD6BBCFC0}"/>
              </a:ext>
            </a:extLst>
          </p:cNvPr>
          <p:cNvSpPr>
            <a:spLocks noGrp="1"/>
          </p:cNvSpPr>
          <p:nvPr/>
        </p:nvSpPr>
        <p:spPr>
          <a:xfrm>
            <a:off x="781050" y="3476625"/>
            <a:ext cx="88582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>
              <a:defRPr sz="352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52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SonarQube para mejorar la aplicación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8381A60-5ABD-4865-9E72-1C2E8C713158}"/>
              </a:ext>
            </a:extLst>
          </p:cNvPr>
          <p:cNvSpPr>
            <a:spLocks noGrp="1"/>
          </p:cNvSpPr>
          <p:nvPr/>
        </p:nvSpPr>
        <p:spPr>
          <a:xfrm>
            <a:off x="819150" y="4362450"/>
            <a:ext cx="83820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>
              <a:defRPr sz="18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Unidad 2.3  Qué información aporta al equipo QA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E6C1B29-D4FB-427D-B3C4-563947A6C638}"/>
              </a:ext>
            </a:extLst>
          </p:cNvPr>
          <p:cNvSpPr>
            <a:spLocks noGrp="1"/>
          </p:cNvSpPr>
          <p:nvPr/>
        </p:nvSpPr>
        <p:spPr>
          <a:xfrm>
            <a:off x="819150" y="5124450"/>
            <a:ext cx="904875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864"/>
          </a:bodyPr>
          <a:lstStyle>
            <a:defPPr>
              <a:defRPr sz="20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SonarQube revisa el código para encontrar riesgos que no siempre se ven cuando solo probamos pantallas.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682D593-8BFA-4298-933C-0D3EC04C46E8}"/>
              </a:ext>
            </a:extLst>
          </p:cNvPr>
          <p:cNvSpPr>
            <a:spLocks noGrp="1"/>
          </p:cNvSpPr>
          <p:nvPr/>
        </p:nvSpPr>
        <p:spPr>
          <a:xfrm>
            <a:off x="819150" y="6067425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>
            <a:defPPr>
              <a:defRPr sz="13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Atlas y Conecta+  |  Calidad, seguridad y mantenibilidad</a:t>
            </a:r>
          </a:p>
        </p:txBody>
      </p:sp>
    </p:spTree>
    <p:extLst>
      <p:ext uri="{BB962C8B-B14F-4D97-AF65-F5344CB8AC3E}">
        <p14:creationId xmlns:p14="http://schemas.microsoft.com/office/powerpoint/2010/main" val="1697036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4B0353D4-24AB-4D0A-841C-302CF348F3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3B5C"/>
          </a:solidFill>
          <a:ln w="0">
            <a:noFill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FFB3ABD-2CEA-41C9-945D-CCA88DAAC318}"/>
              </a:ext>
            </a:extLst>
          </p:cNvPr>
          <p:cNvSpPr>
            <a:spLocks noGrp="1"/>
          </p:cNvSpPr>
          <p:nvPr/>
        </p:nvSpPr>
        <p:spPr>
          <a:xfrm>
            <a:off x="704850" y="847725"/>
            <a:ext cx="1104900" cy="76200"/>
          </a:xfrm>
          <a:prstGeom prst="rect">
            <a:avLst/>
          </a:prstGeom>
          <a:solidFill>
            <a:srgbClr val="F6C400"/>
          </a:solidFill>
          <a:ln w="0">
            <a:noFill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AACCD40-D401-4BBF-B14A-F30E1A0245E5}"/>
              </a:ext>
            </a:extLst>
          </p:cNvPr>
          <p:cNvSpPr>
            <a:spLocks noGrp="1"/>
          </p:cNvSpPr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F6C400"/>
          </a:solidFill>
          <a:ln w="0">
            <a:noFill/>
          </a:ln>
        </p:spPr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A4DFC51-6ACB-47ED-8E03-330B3F64C7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191750" y="295041"/>
            <a:ext cx="1285875" cy="400518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B528DC2F-8E23-46DE-B6E7-513F7F099B95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1333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5000"/>
          </a:bodyPr>
          <a:lstStyle>
            <a:defPPr>
              <a:defRPr sz="12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2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ISY1102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0A241C3-032C-4CC5-AD56-850610543CD8}"/>
              </a:ext>
            </a:extLst>
          </p:cNvPr>
          <p:cNvSpPr>
            <a:spLocks noGrp="1"/>
          </p:cNvSpPr>
          <p:nvPr/>
        </p:nvSpPr>
        <p:spPr>
          <a:xfrm>
            <a:off x="704850" y="1000125"/>
            <a:ext cx="91440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020"/>
          </a:bodyPr>
          <a:lstStyle>
            <a:defPPr>
              <a:defRPr sz="25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5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Dos miradas sobre la misma aplicación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6575EE4-F08E-474C-B968-E7A01A5BA346}"/>
              </a:ext>
            </a:extLst>
          </p:cNvPr>
          <p:cNvSpPr>
            <a:spLocks noGrp="1"/>
          </p:cNvSpPr>
          <p:nvPr/>
        </p:nvSpPr>
        <p:spPr>
          <a:xfrm>
            <a:off x="723900" y="158115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>
              <a:defRPr sz="135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El equipo necesita observar lo que hace el sistema y también cómo está construido.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B3FF421-A072-4B00-8F1D-74F50B4C6134}"/>
              </a:ext>
            </a:extLst>
          </p:cNvPr>
          <p:cNvSpPr>
            <a:spLocks noGrp="1"/>
          </p:cNvSpPr>
          <p:nvPr/>
        </p:nvSpPr>
        <p:spPr>
          <a:xfrm>
            <a:off x="723900" y="644842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8333"/>
          </a:bodyPr>
          <a:lstStyle>
            <a:defPPr>
              <a:defRPr sz="9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9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Unidad 2.3  |  SonarQube y QA  |  2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F47D848-A5CE-4544-B06F-9D6C63B4DCC8}"/>
              </a:ext>
            </a:extLst>
          </p:cNvPr>
          <p:cNvSpPr>
            <a:spLocks noGrp="1"/>
          </p:cNvSpPr>
          <p:nvPr/>
        </p:nvSpPr>
        <p:spPr>
          <a:xfrm>
            <a:off x="1047750" y="2428875"/>
            <a:ext cx="3714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795"/>
          </a:bodyPr>
          <a:lstStyle>
            <a:defPPr>
              <a:defRPr sz="19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9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Pruebas funcionales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9D9A0CC-EDBB-427F-94A8-379FB9FE176C}"/>
              </a:ext>
            </a:extLst>
          </p:cNvPr>
          <p:cNvSpPr>
            <a:spLocks noGrp="1"/>
          </p:cNvSpPr>
          <p:nvPr/>
        </p:nvSpPr>
        <p:spPr>
          <a:xfrm>
            <a:off x="1047750" y="3000375"/>
            <a:ext cx="4000500" cy="1714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El usuario ingresa, registra, busca, solicita o actualiza información.</a:t>
            </a:r>
          </a:p>
          <a:p>
            <a:endParaRPr sz="1725" b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El equipo verifica si el resultado coincide con lo esperado.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57F8513-932A-4F24-A052-BE053623B7A6}"/>
              </a:ext>
            </a:extLst>
          </p:cNvPr>
          <p:cNvSpPr>
            <a:spLocks noGrp="1"/>
          </p:cNvSpPr>
          <p:nvPr/>
        </p:nvSpPr>
        <p:spPr>
          <a:xfrm>
            <a:off x="6572250" y="2428875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795"/>
          </a:bodyPr>
          <a:lstStyle>
            <a:defPPr>
              <a:defRPr sz="19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9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SonarQube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B50A4EA-753B-435E-85A1-72424B587CFC}"/>
              </a:ext>
            </a:extLst>
          </p:cNvPr>
          <p:cNvSpPr>
            <a:spLocks noGrp="1"/>
          </p:cNvSpPr>
          <p:nvPr/>
        </p:nvSpPr>
        <p:spPr>
          <a:xfrm>
            <a:off x="6572250" y="3000375"/>
            <a:ext cx="4000500" cy="1714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El sistema revisa los archivos de código y señala patrones que pueden provocar errores, riesgos de seguridad o problemas de mantenimiento.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8EE822E-D76A-4778-AF8D-2131A5444FB7}"/>
              </a:ext>
            </a:extLst>
          </p:cNvPr>
          <p:cNvSpPr>
            <a:spLocks noGrp="1"/>
          </p:cNvSpPr>
          <p:nvPr/>
        </p:nvSpPr>
        <p:spPr>
          <a:xfrm>
            <a:off x="1333500" y="5572125"/>
            <a:ext cx="93345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424"/>
          </a:bodyPr>
          <a:lstStyle>
            <a:defPPr>
              <a:defRPr sz="16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Juntas, ambas evidencias ayudan a explicar por qué una aplicación puede fallar y qué debería revisar el equipo.</a:t>
            </a:r>
          </a:p>
        </p:txBody>
      </p:sp>
    </p:spTree>
    <p:extLst>
      <p:ext uri="{BB962C8B-B14F-4D97-AF65-F5344CB8AC3E}">
        <p14:creationId xmlns:p14="http://schemas.microsoft.com/office/powerpoint/2010/main" val="934615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16BCA535-B4DB-4AA1-9DCA-5DEA3C9926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3B5C"/>
          </a:solidFill>
          <a:ln w="0">
            <a:noFill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760261C-C249-4CAA-A266-72931FC2CBD2}"/>
              </a:ext>
            </a:extLst>
          </p:cNvPr>
          <p:cNvSpPr>
            <a:spLocks noGrp="1"/>
          </p:cNvSpPr>
          <p:nvPr/>
        </p:nvSpPr>
        <p:spPr>
          <a:xfrm>
            <a:off x="704850" y="847725"/>
            <a:ext cx="1104900" cy="76200"/>
          </a:xfrm>
          <a:prstGeom prst="rect">
            <a:avLst/>
          </a:prstGeom>
          <a:solidFill>
            <a:srgbClr val="F6C400"/>
          </a:solidFill>
          <a:ln w="0">
            <a:noFill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7D95F17-6100-40BF-8CD5-CF78C61F6153}"/>
              </a:ext>
            </a:extLst>
          </p:cNvPr>
          <p:cNvSpPr>
            <a:spLocks noGrp="1"/>
          </p:cNvSpPr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F6C400"/>
          </a:solidFill>
          <a:ln w="0">
            <a:noFill/>
          </a:ln>
        </p:spPr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7CE2978-5028-4A65-A367-EF2BC916A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191750" y="295041"/>
            <a:ext cx="1285875" cy="400518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DD83EF1F-79A2-4CC2-8B50-F9F914ED2402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1333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5000"/>
          </a:bodyPr>
          <a:lstStyle>
            <a:defPPr>
              <a:defRPr sz="12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2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ISY1102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6A68A60-9614-41BD-94F8-628622AA347B}"/>
              </a:ext>
            </a:extLst>
          </p:cNvPr>
          <p:cNvSpPr>
            <a:spLocks noGrp="1"/>
          </p:cNvSpPr>
          <p:nvPr/>
        </p:nvSpPr>
        <p:spPr>
          <a:xfrm>
            <a:off x="704850" y="1000125"/>
            <a:ext cx="91440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020"/>
          </a:bodyPr>
          <a:lstStyle>
            <a:defPPr>
              <a:defRPr sz="25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5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Qué aporta al caso que estamos probando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5C223ED-931C-4547-9D7F-76F53114C9E9}"/>
              </a:ext>
            </a:extLst>
          </p:cNvPr>
          <p:cNvSpPr>
            <a:spLocks noGrp="1"/>
          </p:cNvSpPr>
          <p:nvPr/>
        </p:nvSpPr>
        <p:spPr>
          <a:xfrm>
            <a:off x="723900" y="158115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>
              <a:defRPr sz="135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SonarQube transforma una revisión del código en información que QA puede usar.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3A1FA88-22CB-4786-9353-89C56EB5D838}"/>
              </a:ext>
            </a:extLst>
          </p:cNvPr>
          <p:cNvSpPr>
            <a:spLocks noGrp="1"/>
          </p:cNvSpPr>
          <p:nvPr/>
        </p:nvSpPr>
        <p:spPr>
          <a:xfrm>
            <a:off x="723900" y="644842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8333"/>
          </a:bodyPr>
          <a:lstStyle>
            <a:defPPr>
              <a:defRPr sz="9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9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Unidad 2.3  |  SonarQube y QA  |  3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B8A26FB-1FDE-4DE3-ABFD-CBADC83FF32D}"/>
              </a:ext>
            </a:extLst>
          </p:cNvPr>
          <p:cNvSpPr>
            <a:spLocks noGrp="1"/>
          </p:cNvSpPr>
          <p:nvPr/>
        </p:nvSpPr>
        <p:spPr>
          <a:xfrm>
            <a:off x="1143000" y="2238375"/>
            <a:ext cx="89535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1333"/>
          </a:bodyPr>
          <a:lstStyle>
            <a:defPPr>
              <a:defRPr sz="187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Cuando el panel muestra un hallazgo, el equipo puede preguntarse: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A8AD4EA-2170-44BF-B02B-73CC32956F8C}"/>
              </a:ext>
            </a:extLst>
          </p:cNvPr>
          <p:cNvSpPr>
            <a:spLocks noGrp="1"/>
          </p:cNvSpPr>
          <p:nvPr/>
        </p:nvSpPr>
        <p:spPr>
          <a:xfrm>
            <a:off x="1571625" y="2857500"/>
            <a:ext cx="8382000" cy="2286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>
              <a:defRPr sz="195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95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¿Puede afectar un dato que el usuario registra?</a:t>
            </a:r>
          </a:p>
          <a:p>
            <a:endParaRPr sz="1950" b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>
              <a:defRPr sz="195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¿Puede permitir acceso a información que no corresponde?</a:t>
            </a:r>
          </a:p>
          <a:p>
            <a:endParaRPr sz="1950" b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>
              <a:defRPr sz="195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¿Puede hacer difícil corregir un error más adelante?</a:t>
            </a:r>
          </a:p>
          <a:p>
            <a:endParaRPr sz="1950" b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>
              <a:defRPr sz="195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¿Debemos agregar o ajustar un caso de prueba?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CCA2067-8B9F-44C2-BD6F-85C20E19012C}"/>
              </a:ext>
            </a:extLst>
          </p:cNvPr>
          <p:cNvSpPr>
            <a:spLocks noGrp="1"/>
          </p:cNvSpPr>
          <p:nvPr/>
        </p:nvSpPr>
        <p:spPr>
          <a:xfrm>
            <a:off x="1285875" y="5715000"/>
            <a:ext cx="94297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952"/>
          </a:bodyPr>
          <a:lstStyle>
            <a:defPPr>
              <a:defRPr sz="157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57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La idea no es memorizar reglas: es relacionar el hallazgo con un riesgo real de Atlas o Conecta+.</a:t>
            </a:r>
          </a:p>
        </p:txBody>
      </p:sp>
    </p:spTree>
    <p:extLst>
      <p:ext uri="{BB962C8B-B14F-4D97-AF65-F5344CB8AC3E}">
        <p14:creationId xmlns:p14="http://schemas.microsoft.com/office/powerpoint/2010/main" val="2011906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429169D8-FE8F-4E38-919E-BFA18D1C07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3B5C"/>
          </a:solidFill>
          <a:ln w="0">
            <a:noFill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166DB90-99B5-445B-A20A-8999EFD43C51}"/>
              </a:ext>
            </a:extLst>
          </p:cNvPr>
          <p:cNvSpPr>
            <a:spLocks noGrp="1"/>
          </p:cNvSpPr>
          <p:nvPr/>
        </p:nvSpPr>
        <p:spPr>
          <a:xfrm>
            <a:off x="704850" y="847725"/>
            <a:ext cx="1104900" cy="76200"/>
          </a:xfrm>
          <a:prstGeom prst="rect">
            <a:avLst/>
          </a:prstGeom>
          <a:solidFill>
            <a:srgbClr val="F6C400"/>
          </a:solidFill>
          <a:ln w="0">
            <a:noFill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9CB101B-5498-44C0-9CA8-FF2D72D9A4A9}"/>
              </a:ext>
            </a:extLst>
          </p:cNvPr>
          <p:cNvSpPr>
            <a:spLocks noGrp="1"/>
          </p:cNvSpPr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F6C400"/>
          </a:solidFill>
          <a:ln w="0">
            <a:noFill/>
          </a:ln>
        </p:spPr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7941B9A-6525-4FB7-BF08-EA0360277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191750" y="295041"/>
            <a:ext cx="1285875" cy="400518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197CF5B2-F8EA-49D3-A85A-738BAA4DFE89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1333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5000"/>
          </a:bodyPr>
          <a:lstStyle>
            <a:defPPr>
              <a:defRPr sz="12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2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ISY1102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685D923-EB37-4E4A-8C39-2F23BC89B625}"/>
              </a:ext>
            </a:extLst>
          </p:cNvPr>
          <p:cNvSpPr>
            <a:spLocks noGrp="1"/>
          </p:cNvSpPr>
          <p:nvPr/>
        </p:nvSpPr>
        <p:spPr>
          <a:xfrm>
            <a:off x="704850" y="1000125"/>
            <a:ext cx="91440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020"/>
          </a:bodyPr>
          <a:lstStyle>
            <a:defPPr>
              <a:defRPr sz="25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5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Tipos de hallazgos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E7B9D1C-19B2-428D-9FBB-F9E076864CA7}"/>
              </a:ext>
            </a:extLst>
          </p:cNvPr>
          <p:cNvSpPr>
            <a:spLocks noGrp="1"/>
          </p:cNvSpPr>
          <p:nvPr/>
        </p:nvSpPr>
        <p:spPr>
          <a:xfrm>
            <a:off x="723900" y="158115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>
              <a:defRPr sz="135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El panel agrupa los problemas para ayudar a decidir qué mirar primero.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8A84C57-DC70-46B8-8116-19F2DFB2C123}"/>
              </a:ext>
            </a:extLst>
          </p:cNvPr>
          <p:cNvSpPr>
            <a:spLocks noGrp="1"/>
          </p:cNvSpPr>
          <p:nvPr/>
        </p:nvSpPr>
        <p:spPr>
          <a:xfrm>
            <a:off x="723900" y="644842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8333"/>
          </a:bodyPr>
          <a:lstStyle>
            <a:defPPr>
              <a:defRPr sz="9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9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Unidad 2.3  |  SonarQube y QA  |  4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3839C33-7223-40FD-B792-8B697934DE39}"/>
              </a:ext>
            </a:extLst>
          </p:cNvPr>
          <p:cNvSpPr>
            <a:spLocks noGrp="1"/>
          </p:cNvSpPr>
          <p:nvPr/>
        </p:nvSpPr>
        <p:spPr>
          <a:xfrm>
            <a:off x="1000125" y="2333625"/>
            <a:ext cx="41910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>
              <a:defRPr sz="16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Bugs</a:t>
            </a:r>
          </a:p>
          <a:p>
            <a:pPr>
              <a:defRPr sz="16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Posibles errores en la lógica del programa.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D051FCB-6CA2-4443-A59E-9C52CD566594}"/>
              </a:ext>
            </a:extLst>
          </p:cNvPr>
          <p:cNvSpPr>
            <a:spLocks noGrp="1"/>
          </p:cNvSpPr>
          <p:nvPr/>
        </p:nvSpPr>
        <p:spPr>
          <a:xfrm>
            <a:off x="1000125" y="3476625"/>
            <a:ext cx="43815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>
              <a:defRPr sz="16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Vulnerabilities</a:t>
            </a:r>
          </a:p>
          <a:p>
            <a:pPr>
              <a:defRPr sz="16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Riesgos que pueden afectar la seguridad.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23A3855-F3B9-475C-AFAE-A2BA8A9ACD2F}"/>
              </a:ext>
            </a:extLst>
          </p:cNvPr>
          <p:cNvSpPr>
            <a:spLocks noGrp="1"/>
          </p:cNvSpPr>
          <p:nvPr/>
        </p:nvSpPr>
        <p:spPr>
          <a:xfrm>
            <a:off x="1000125" y="4619625"/>
            <a:ext cx="47625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>
              <a:defRPr sz="16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Security Hotspots</a:t>
            </a:r>
          </a:p>
          <a:p>
            <a:pPr>
              <a:defRPr sz="16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Código sensible que una persona debe revisar.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824435C-4C90-4373-AEF1-F29560AC8882}"/>
              </a:ext>
            </a:extLst>
          </p:cNvPr>
          <p:cNvSpPr>
            <a:spLocks noGrp="1"/>
          </p:cNvSpPr>
          <p:nvPr/>
        </p:nvSpPr>
        <p:spPr>
          <a:xfrm>
            <a:off x="6572250" y="2333625"/>
            <a:ext cx="409575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>
              <a:defRPr sz="16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Code Smells</a:t>
            </a:r>
          </a:p>
          <a:p>
            <a:pPr>
              <a:defRPr sz="16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Código difícil de entender o mantener.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F01877C-18DB-4189-B04B-44A04F28C433}"/>
              </a:ext>
            </a:extLst>
          </p:cNvPr>
          <p:cNvSpPr>
            <a:spLocks noGrp="1"/>
          </p:cNvSpPr>
          <p:nvPr/>
        </p:nvSpPr>
        <p:spPr>
          <a:xfrm>
            <a:off x="6572250" y="3476625"/>
            <a:ext cx="45720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889"/>
          </a:bodyPr>
          <a:lstStyle>
            <a:defPPr>
              <a:defRPr sz="16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Duplicación</a:t>
            </a:r>
          </a:p>
          <a:p>
            <a:pPr>
              <a:defRPr sz="16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Fragmentos muy parecidos que pueden generar errores al modificar.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779AC21-7A0A-4417-A361-9F86522BF9ED}"/>
              </a:ext>
            </a:extLst>
          </p:cNvPr>
          <p:cNvSpPr>
            <a:spLocks noGrp="1"/>
          </p:cNvSpPr>
          <p:nvPr/>
        </p:nvSpPr>
        <p:spPr>
          <a:xfrm>
            <a:off x="6572250" y="4619625"/>
            <a:ext cx="45720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889"/>
          </a:bodyPr>
          <a:lstStyle>
            <a:defPPr>
              <a:defRPr sz="16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Coverage</a:t>
            </a:r>
          </a:p>
          <a:p>
            <a:pPr>
              <a:defRPr sz="16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Información sobre pruebas automatizadas, si el proyecto las informa.</a:t>
            </a:r>
          </a:p>
        </p:txBody>
      </p:sp>
    </p:spTree>
    <p:extLst>
      <p:ext uri="{BB962C8B-B14F-4D97-AF65-F5344CB8AC3E}">
        <p14:creationId xmlns:p14="http://schemas.microsoft.com/office/powerpoint/2010/main" val="740346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6D4804C3-7BEB-4660-B53C-E16157CA69C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3B5C"/>
          </a:solidFill>
          <a:ln w="0">
            <a:noFill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86A5F79-6C3A-474F-B788-BC3B6C96C09C}"/>
              </a:ext>
            </a:extLst>
          </p:cNvPr>
          <p:cNvSpPr>
            <a:spLocks noGrp="1"/>
          </p:cNvSpPr>
          <p:nvPr/>
        </p:nvSpPr>
        <p:spPr>
          <a:xfrm>
            <a:off x="704850" y="847725"/>
            <a:ext cx="1104900" cy="76200"/>
          </a:xfrm>
          <a:prstGeom prst="rect">
            <a:avLst/>
          </a:prstGeom>
          <a:solidFill>
            <a:srgbClr val="F6C400"/>
          </a:solidFill>
          <a:ln w="0">
            <a:noFill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A0A8EC8-82F2-476D-AC64-0EE34B764214}"/>
              </a:ext>
            </a:extLst>
          </p:cNvPr>
          <p:cNvSpPr>
            <a:spLocks noGrp="1"/>
          </p:cNvSpPr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F6C400"/>
          </a:solidFill>
          <a:ln w="0">
            <a:noFill/>
          </a:ln>
        </p:spPr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5951D58-9EDB-4B2A-8F90-7297E78A4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191750" y="295041"/>
            <a:ext cx="1285875" cy="400518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94DE7F6E-BCDC-4379-A3D4-0847091A425C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1333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5000"/>
          </a:bodyPr>
          <a:lstStyle>
            <a:defPPr>
              <a:defRPr sz="12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2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ISY1102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73D80FF-C48F-47D9-A423-9B385BD80CB3}"/>
              </a:ext>
            </a:extLst>
          </p:cNvPr>
          <p:cNvSpPr>
            <a:spLocks noGrp="1"/>
          </p:cNvSpPr>
          <p:nvPr/>
        </p:nvSpPr>
        <p:spPr>
          <a:xfrm>
            <a:off x="704850" y="1000125"/>
            <a:ext cx="91440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020"/>
          </a:bodyPr>
          <a:lstStyle>
            <a:defPPr>
              <a:defRPr sz="25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5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Ejemplos que conectan código y pruebas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C94CB81-530A-4B4C-AF2C-CB58399570EE}"/>
              </a:ext>
            </a:extLst>
          </p:cNvPr>
          <p:cNvSpPr>
            <a:spLocks noGrp="1"/>
          </p:cNvSpPr>
          <p:nvPr/>
        </p:nvSpPr>
        <p:spPr>
          <a:xfrm>
            <a:off x="723900" y="158115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>
              <a:defRPr sz="135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Los ejemplos orientan la conversación. Cada grupo debe revisar su aplicación real.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D69F34A-C6C9-4561-9175-AE1D0843092B}"/>
              </a:ext>
            </a:extLst>
          </p:cNvPr>
          <p:cNvSpPr>
            <a:spLocks noGrp="1"/>
          </p:cNvSpPr>
          <p:nvPr/>
        </p:nvSpPr>
        <p:spPr>
          <a:xfrm>
            <a:off x="723900" y="644842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8333"/>
          </a:bodyPr>
          <a:lstStyle>
            <a:defPPr>
              <a:defRPr sz="9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9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Unidad 2.3  |  SonarQube y QA  |  5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73ED72B-3BDC-4382-B0FB-C2977FB66AAE}"/>
              </a:ext>
            </a:extLst>
          </p:cNvPr>
          <p:cNvSpPr>
            <a:spLocks noGrp="1"/>
          </p:cNvSpPr>
          <p:nvPr/>
        </p:nvSpPr>
        <p:spPr>
          <a:xfrm>
            <a:off x="1047750" y="2333625"/>
            <a:ext cx="3714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4667"/>
          </a:bodyPr>
          <a:lstStyle>
            <a:defPPr>
              <a:defRPr sz="187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Ejemplo de seguridad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E2B6784-56A4-4DEA-AF60-5FEE80BB2B90}"/>
              </a:ext>
            </a:extLst>
          </p:cNvPr>
          <p:cNvSpPr>
            <a:spLocks noGrp="1"/>
          </p:cNvSpPr>
          <p:nvPr/>
        </p:nvSpPr>
        <p:spPr>
          <a:xfrm>
            <a:off x="1047750" y="2905125"/>
            <a:ext cx="4048125" cy="1762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>
              <a:defRPr sz="165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Si SonarQube marca una parte sensible relacionada con datos o credenciales, QA revisa el caso de acceso, permisos o protección de información.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C729A27-BB2C-4871-872A-1D4627C58DA8}"/>
              </a:ext>
            </a:extLst>
          </p:cNvPr>
          <p:cNvSpPr>
            <a:spLocks noGrp="1"/>
          </p:cNvSpPr>
          <p:nvPr/>
        </p:nvSpPr>
        <p:spPr>
          <a:xfrm>
            <a:off x="6477000" y="2333625"/>
            <a:ext cx="3714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4667"/>
          </a:bodyPr>
          <a:lstStyle>
            <a:defPPr>
              <a:defRPr sz="187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Ejemplo de calidad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0345F53-53D6-471A-BE08-A9040F0AA19F}"/>
              </a:ext>
            </a:extLst>
          </p:cNvPr>
          <p:cNvSpPr>
            <a:spLocks noGrp="1"/>
          </p:cNvSpPr>
          <p:nvPr/>
        </p:nvSpPr>
        <p:spPr>
          <a:xfrm>
            <a:off x="6477000" y="2905125"/>
            <a:ext cx="4048125" cy="1762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>
              <a:defRPr sz="165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Si el sistema detecta código repetido o difícil de mantener, el equipo identifica qué funcionalidad podría verse afectada cuando se modifique ese código.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6A8C272-77EA-4862-9246-5C5413EFC1CC}"/>
              </a:ext>
            </a:extLst>
          </p:cNvPr>
          <p:cNvSpPr>
            <a:spLocks noGrp="1"/>
          </p:cNvSpPr>
          <p:nvPr/>
        </p:nvSpPr>
        <p:spPr>
          <a:xfrm>
            <a:off x="1143000" y="5619750"/>
            <a:ext cx="97155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057"/>
          </a:bodyPr>
          <a:lstStyle>
            <a:defPPr>
              <a:defRPr sz="16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El hallazgo no confirma por sí solo que la pantalla fallará. Indica dónde conviene revisar y qué riesgo documentar.</a:t>
            </a:r>
          </a:p>
        </p:txBody>
      </p:sp>
    </p:spTree>
    <p:extLst>
      <p:ext uri="{BB962C8B-B14F-4D97-AF65-F5344CB8AC3E}">
        <p14:creationId xmlns:p14="http://schemas.microsoft.com/office/powerpoint/2010/main" val="516332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65C61C1E-18BD-4625-9D9F-DC476BD171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3B5C"/>
          </a:solidFill>
          <a:ln w="0">
            <a:noFill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507992A-7F02-4610-BD1D-3FCAB51B3DB2}"/>
              </a:ext>
            </a:extLst>
          </p:cNvPr>
          <p:cNvSpPr>
            <a:spLocks noGrp="1"/>
          </p:cNvSpPr>
          <p:nvPr/>
        </p:nvSpPr>
        <p:spPr>
          <a:xfrm>
            <a:off x="704850" y="847725"/>
            <a:ext cx="1104900" cy="76200"/>
          </a:xfrm>
          <a:prstGeom prst="rect">
            <a:avLst/>
          </a:prstGeom>
          <a:solidFill>
            <a:srgbClr val="F6C400"/>
          </a:solidFill>
          <a:ln w="0">
            <a:noFill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4FAEBE2-EAE3-4A4C-BA19-71931380665F}"/>
              </a:ext>
            </a:extLst>
          </p:cNvPr>
          <p:cNvSpPr>
            <a:spLocks noGrp="1"/>
          </p:cNvSpPr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F6C400"/>
          </a:solidFill>
          <a:ln w="0">
            <a:noFill/>
          </a:ln>
        </p:spPr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C8CF5A9-B76F-41AB-BCEF-A9B4AC686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191750" y="295041"/>
            <a:ext cx="1285875" cy="400518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6489EE1C-A6FA-4D70-B661-1B3DC8CE9C9F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1333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5000"/>
          </a:bodyPr>
          <a:lstStyle>
            <a:defPPr>
              <a:defRPr sz="12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2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ISY1102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90D4380-83FF-4BA6-9442-597AB3048A7C}"/>
              </a:ext>
            </a:extLst>
          </p:cNvPr>
          <p:cNvSpPr>
            <a:spLocks noGrp="1"/>
          </p:cNvSpPr>
          <p:nvPr/>
        </p:nvSpPr>
        <p:spPr>
          <a:xfrm>
            <a:off x="704850" y="1000125"/>
            <a:ext cx="91440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020"/>
          </a:bodyPr>
          <a:lstStyle>
            <a:defPPr>
              <a:defRPr sz="25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5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Cómo leer un hallazgo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F5D07B5-C22D-4E28-A341-0DD6B0DCD8BB}"/>
              </a:ext>
            </a:extLst>
          </p:cNvPr>
          <p:cNvSpPr>
            <a:spLocks noGrp="1"/>
          </p:cNvSpPr>
          <p:nvPr/>
        </p:nvSpPr>
        <p:spPr>
          <a:xfrm>
            <a:off x="723900" y="158115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>
              <a:defRPr sz="135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Antes de registrar una incidencia, el equipo debe comprender qué encontró SonarQube.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390A810-DA7B-4EDC-A643-80A8DC3B569E}"/>
              </a:ext>
            </a:extLst>
          </p:cNvPr>
          <p:cNvSpPr>
            <a:spLocks noGrp="1"/>
          </p:cNvSpPr>
          <p:nvPr/>
        </p:nvSpPr>
        <p:spPr>
          <a:xfrm>
            <a:off x="723900" y="644842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8333"/>
          </a:bodyPr>
          <a:lstStyle>
            <a:defPPr>
              <a:defRPr sz="9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9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Unidad 2.3  |  SonarQube y QA  |  6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ADC7435-F995-4BDB-A0D3-F7DDBD65F130}"/>
              </a:ext>
            </a:extLst>
          </p:cNvPr>
          <p:cNvSpPr>
            <a:spLocks noGrp="1"/>
          </p:cNvSpPr>
          <p:nvPr/>
        </p:nvSpPr>
        <p:spPr>
          <a:xfrm>
            <a:off x="1381125" y="2333625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7778"/>
          </a:bodyPr>
          <a:lstStyle>
            <a:defPPr>
              <a:defRPr sz="18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1. Lee el nombre de la regla.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DE5E95E-0F0B-4D19-9EC1-140A330AB026}"/>
              </a:ext>
            </a:extLst>
          </p:cNvPr>
          <p:cNvSpPr>
            <a:spLocks noGrp="1"/>
          </p:cNvSpPr>
          <p:nvPr/>
        </p:nvSpPr>
        <p:spPr>
          <a:xfrm>
            <a:off x="1381125" y="3000375"/>
            <a:ext cx="58102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7778"/>
          </a:bodyPr>
          <a:lstStyle>
            <a:defPPr>
              <a:defRPr sz="18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2. Identifica el archivo y la línea señalada.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C4D87E3-3492-4A0D-85DF-D53B93E524E3}"/>
              </a:ext>
            </a:extLst>
          </p:cNvPr>
          <p:cNvSpPr>
            <a:spLocks noGrp="1"/>
          </p:cNvSpPr>
          <p:nvPr/>
        </p:nvSpPr>
        <p:spPr>
          <a:xfrm>
            <a:off x="1381125" y="3667125"/>
            <a:ext cx="5143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7778"/>
          </a:bodyPr>
          <a:lstStyle>
            <a:defPPr>
              <a:defRPr sz="18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3. Revisa la severidad y la explicación.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1FFC55D-1B06-46FF-BB6C-E984BD4EF92A}"/>
              </a:ext>
            </a:extLst>
          </p:cNvPr>
          <p:cNvSpPr>
            <a:spLocks noGrp="1"/>
          </p:cNvSpPr>
          <p:nvPr/>
        </p:nvSpPr>
        <p:spPr>
          <a:xfrm>
            <a:off x="1381125" y="4333875"/>
            <a:ext cx="80010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7778"/>
          </a:bodyPr>
          <a:lstStyle>
            <a:defPPr>
              <a:defRPr sz="18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4. Piensa qué función de Atlas o Conecta+ puede relacionarse con ese código.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EACAC32-16B7-497F-B6F4-F3ED780CE59E}"/>
              </a:ext>
            </a:extLst>
          </p:cNvPr>
          <p:cNvSpPr>
            <a:spLocks noGrp="1"/>
          </p:cNvSpPr>
          <p:nvPr/>
        </p:nvSpPr>
        <p:spPr>
          <a:xfrm>
            <a:off x="1381125" y="5000625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7778"/>
          </a:bodyPr>
          <a:lstStyle>
            <a:defPPr>
              <a:defRPr sz="18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5. Escribe una recomendación concreta para el equipo de desarrollo.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DBB6683-EE43-42F8-AF9C-CCB7127B6E99}"/>
              </a:ext>
            </a:extLst>
          </p:cNvPr>
          <p:cNvSpPr>
            <a:spLocks noGrp="1"/>
          </p:cNvSpPr>
          <p:nvPr/>
        </p:nvSpPr>
        <p:spPr>
          <a:xfrm>
            <a:off x="1381125" y="5734050"/>
            <a:ext cx="9239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000"/>
          </a:bodyPr>
          <a:lstStyle>
            <a:defPPr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No marques un hallazgo como grave solo por su nombre. Explica el impacto usando el contexto de la aplicación.</a:t>
            </a:r>
          </a:p>
        </p:txBody>
      </p:sp>
    </p:spTree>
    <p:extLst>
      <p:ext uri="{BB962C8B-B14F-4D97-AF65-F5344CB8AC3E}">
        <p14:creationId xmlns:p14="http://schemas.microsoft.com/office/powerpoint/2010/main" val="235773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AE05680D-ED3F-4910-A9EC-704B2DF483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3B5C"/>
          </a:solidFill>
          <a:ln w="0">
            <a:noFill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F198FB7-D80E-4F5D-98E3-06EF1E2A4CE7}"/>
              </a:ext>
            </a:extLst>
          </p:cNvPr>
          <p:cNvSpPr>
            <a:spLocks noGrp="1"/>
          </p:cNvSpPr>
          <p:nvPr/>
        </p:nvSpPr>
        <p:spPr>
          <a:xfrm>
            <a:off x="704850" y="847725"/>
            <a:ext cx="1104900" cy="76200"/>
          </a:xfrm>
          <a:prstGeom prst="rect">
            <a:avLst/>
          </a:prstGeom>
          <a:solidFill>
            <a:srgbClr val="F6C400"/>
          </a:solidFill>
          <a:ln w="0">
            <a:noFill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81DEAEB-65D8-458F-BACE-F3A122F17703}"/>
              </a:ext>
            </a:extLst>
          </p:cNvPr>
          <p:cNvSpPr>
            <a:spLocks noGrp="1"/>
          </p:cNvSpPr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F6C400"/>
          </a:solidFill>
          <a:ln w="0">
            <a:noFill/>
          </a:ln>
        </p:spPr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1EDC30B-6FAB-4D1B-8510-B83D06334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191750" y="295041"/>
            <a:ext cx="1285875" cy="400518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A628BF0E-2A0F-448F-942B-8DE708F8B4F7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1333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5000"/>
          </a:bodyPr>
          <a:lstStyle>
            <a:defPPr>
              <a:defRPr sz="12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2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ISY1102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A9BA646-3733-4025-8D34-5287C2F94208}"/>
              </a:ext>
            </a:extLst>
          </p:cNvPr>
          <p:cNvSpPr>
            <a:spLocks noGrp="1"/>
          </p:cNvSpPr>
          <p:nvPr/>
        </p:nvSpPr>
        <p:spPr>
          <a:xfrm>
            <a:off x="704850" y="1000125"/>
            <a:ext cx="91440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020"/>
          </a:bodyPr>
          <a:lstStyle>
            <a:defPPr>
              <a:defRPr sz="25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5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Del hallazgo a una acción QA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10E34B3-AC24-4F79-B1C5-5F7E485C1F07}"/>
              </a:ext>
            </a:extLst>
          </p:cNvPr>
          <p:cNvSpPr>
            <a:spLocks noGrp="1"/>
          </p:cNvSpPr>
          <p:nvPr/>
        </p:nvSpPr>
        <p:spPr>
          <a:xfrm>
            <a:off x="723900" y="158115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>
              <a:defRPr sz="135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SonarQube aporta una pista técnica. QA la convierte en evidencia útil para el proyecto.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FF8E303-AD25-406A-85F9-835960D0E944}"/>
              </a:ext>
            </a:extLst>
          </p:cNvPr>
          <p:cNvSpPr>
            <a:spLocks noGrp="1"/>
          </p:cNvSpPr>
          <p:nvPr/>
        </p:nvSpPr>
        <p:spPr>
          <a:xfrm>
            <a:off x="723900" y="644842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8333"/>
          </a:bodyPr>
          <a:lstStyle>
            <a:defPPr>
              <a:defRPr sz="9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9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Unidad 2.3  |  SonarQube y QA  |  7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C623576-96C9-47A7-A8DC-417D2506C87D}"/>
              </a:ext>
            </a:extLst>
          </p:cNvPr>
          <p:cNvSpPr>
            <a:spLocks noGrp="1"/>
          </p:cNvSpPr>
          <p:nvPr/>
        </p:nvSpPr>
        <p:spPr>
          <a:xfrm>
            <a:off x="1476375" y="2238375"/>
            <a:ext cx="8572500" cy="3143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>
              <a:defRPr sz="18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1. Ejecutar el análisis de código.</a:t>
            </a:r>
          </a:p>
          <a:p>
            <a:endParaRPr sz="1875" b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>
              <a:defRPr sz="18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2. Elegir un hallazgo que se relacione con una función del caso.</a:t>
            </a:r>
          </a:p>
          <a:p>
            <a:endParaRPr sz="1875" b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>
              <a:defRPr sz="18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3. Revisar la prueba funcional asociada o crear una pregunta de prueba.</a:t>
            </a:r>
          </a:p>
          <a:p>
            <a:endParaRPr sz="1875" b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>
              <a:defRPr sz="18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4. Registrar el riesgo, la evidencia y una recomendación.</a:t>
            </a:r>
          </a:p>
          <a:p>
            <a:endParaRPr sz="1875" b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>
              <a:defRPr sz="18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5. Incorporar el resultado al Plan Maestro.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BC49E6B-BD58-4BF1-8AF2-EB0DC5D1D8D7}"/>
              </a:ext>
            </a:extLst>
          </p:cNvPr>
          <p:cNvSpPr>
            <a:spLocks noGrp="1"/>
          </p:cNvSpPr>
          <p:nvPr/>
        </p:nvSpPr>
        <p:spPr>
          <a:xfrm>
            <a:off x="1381125" y="5829300"/>
            <a:ext cx="9334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3016"/>
          </a:bodyPr>
          <a:lstStyle>
            <a:defPPr>
              <a:defRPr sz="157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57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El producto final de QA es una decisión informada, no solo una lista de números.</a:t>
            </a:r>
          </a:p>
        </p:txBody>
      </p:sp>
    </p:spTree>
    <p:extLst>
      <p:ext uri="{BB962C8B-B14F-4D97-AF65-F5344CB8AC3E}">
        <p14:creationId xmlns:p14="http://schemas.microsoft.com/office/powerpoint/2010/main" val="1614369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FF08FA3D-1CA1-4E5E-BDC2-21EA47CC7F5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3B5C"/>
          </a:solidFill>
          <a:ln w="0">
            <a:noFill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382D53F-DEA4-4FAC-9DF2-0F72015B7F82}"/>
              </a:ext>
            </a:extLst>
          </p:cNvPr>
          <p:cNvSpPr>
            <a:spLocks noGrp="1"/>
          </p:cNvSpPr>
          <p:nvPr/>
        </p:nvSpPr>
        <p:spPr>
          <a:xfrm>
            <a:off x="704850" y="847725"/>
            <a:ext cx="1104900" cy="76200"/>
          </a:xfrm>
          <a:prstGeom prst="rect">
            <a:avLst/>
          </a:prstGeom>
          <a:solidFill>
            <a:srgbClr val="F6C400"/>
          </a:solidFill>
          <a:ln w="0">
            <a:noFill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F439B9E-55F3-4EDD-95E7-13370C63778E}"/>
              </a:ext>
            </a:extLst>
          </p:cNvPr>
          <p:cNvSpPr>
            <a:spLocks noGrp="1"/>
          </p:cNvSpPr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F6C400"/>
          </a:solidFill>
          <a:ln w="0">
            <a:noFill/>
          </a:ln>
        </p:spPr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C4BA4E7-2FBE-4081-8919-7F3D546B9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191750" y="295041"/>
            <a:ext cx="1285875" cy="400518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21911A84-5E39-404E-9B66-F88125FE9DEA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1333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5000"/>
          </a:bodyPr>
          <a:lstStyle>
            <a:defPPr>
              <a:defRPr sz="12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2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ISY1102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533977E-1715-464C-9592-F17815B80F5C}"/>
              </a:ext>
            </a:extLst>
          </p:cNvPr>
          <p:cNvSpPr>
            <a:spLocks noGrp="1"/>
          </p:cNvSpPr>
          <p:nvPr/>
        </p:nvSpPr>
        <p:spPr>
          <a:xfrm>
            <a:off x="704850" y="1000125"/>
            <a:ext cx="91440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020"/>
          </a:bodyPr>
          <a:lstStyle>
            <a:defPPr>
              <a:defRPr sz="25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5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Registro en el Plan Maestro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CE7CC4D-E00B-4136-B40A-111B62C9DCC7}"/>
              </a:ext>
            </a:extLst>
          </p:cNvPr>
          <p:cNvSpPr>
            <a:spLocks noGrp="1"/>
          </p:cNvSpPr>
          <p:nvPr/>
        </p:nvSpPr>
        <p:spPr>
          <a:xfrm>
            <a:off x="723900" y="158115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>
              <a:defRPr sz="135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Cada equipo deja un registro corto que otra persona pueda entender.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5B44E3E-8165-43AF-B3DC-3465A1297F45}"/>
              </a:ext>
            </a:extLst>
          </p:cNvPr>
          <p:cNvSpPr>
            <a:spLocks noGrp="1"/>
          </p:cNvSpPr>
          <p:nvPr/>
        </p:nvSpPr>
        <p:spPr>
          <a:xfrm>
            <a:off x="723900" y="644842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8333"/>
          </a:bodyPr>
          <a:lstStyle>
            <a:defPPr>
              <a:defRPr sz="9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9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Unidad 2.3  |  SonarQube y QA  |  8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226B1E5-92A9-4324-A789-125479FBACDD}"/>
              </a:ext>
            </a:extLst>
          </p:cNvPr>
          <p:cNvSpPr>
            <a:spLocks noGrp="1"/>
          </p:cNvSpPr>
          <p:nvPr/>
        </p:nvSpPr>
        <p:spPr>
          <a:xfrm>
            <a:off x="1190625" y="238125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795"/>
          </a:bodyPr>
          <a:lstStyle>
            <a:defPPr>
              <a:defRPr sz="19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9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Debe incluir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F36944A-711A-43C1-A060-27FD5A32878C}"/>
              </a:ext>
            </a:extLst>
          </p:cNvPr>
          <p:cNvSpPr>
            <a:spLocks noGrp="1"/>
          </p:cNvSpPr>
          <p:nvPr/>
        </p:nvSpPr>
        <p:spPr>
          <a:xfrm>
            <a:off x="1190625" y="3000375"/>
            <a:ext cx="3333750" cy="1714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Archivo o componente</a:t>
            </a:r>
          </a:p>
          <a:p>
            <a:pPr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Tipo de hallazgo</a:t>
            </a:r>
          </a:p>
          <a:p>
            <a:pPr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Severidad</a:t>
            </a:r>
          </a:p>
          <a:p>
            <a:pPr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Captura o evidencia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7FCFA02-D123-4E23-81DA-A8424EFA9C35}"/>
              </a:ext>
            </a:extLst>
          </p:cNvPr>
          <p:cNvSpPr>
            <a:spLocks noGrp="1"/>
          </p:cNvSpPr>
          <p:nvPr/>
        </p:nvSpPr>
        <p:spPr>
          <a:xfrm>
            <a:off x="6667500" y="238125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795"/>
          </a:bodyPr>
          <a:lstStyle>
            <a:defPPr>
              <a:defRPr sz="19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9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Debe explicar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2676BBD-F861-4584-A01D-F71B68E57652}"/>
              </a:ext>
            </a:extLst>
          </p:cNvPr>
          <p:cNvSpPr>
            <a:spLocks noGrp="1"/>
          </p:cNvSpPr>
          <p:nvPr/>
        </p:nvSpPr>
        <p:spPr>
          <a:xfrm>
            <a:off x="6667500" y="3000375"/>
            <a:ext cx="3714750" cy="1762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Riesgo para la aplicación</a:t>
            </a:r>
          </a:p>
          <a:p>
            <a:pPr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Caso de prueba relacionado</a:t>
            </a:r>
          </a:p>
          <a:p>
            <a:pPr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Recomendación QA</a:t>
            </a:r>
          </a:p>
          <a:p>
            <a:pPr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Responsable o siguiente paso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80995DF-3F4C-4D8D-B932-53094C0A608A}"/>
              </a:ext>
            </a:extLst>
          </p:cNvPr>
          <p:cNvSpPr>
            <a:spLocks noGrp="1"/>
          </p:cNvSpPr>
          <p:nvPr/>
        </p:nvSpPr>
        <p:spPr>
          <a:xfrm>
            <a:off x="1190625" y="561975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052"/>
          </a:bodyPr>
          <a:lstStyle>
            <a:defPPr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Ejemplo: “Revisar la validación de acceso porque el hallazgo se relaciona con la función de consulta de datos de usuarios.”</a:t>
            </a:r>
          </a:p>
        </p:txBody>
      </p:sp>
    </p:spTree>
    <p:extLst>
      <p:ext uri="{BB962C8B-B14F-4D97-AF65-F5344CB8AC3E}">
        <p14:creationId xmlns:p14="http://schemas.microsoft.com/office/powerpoint/2010/main" val="1625259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E033F12B-009D-4090-9A40-C648965C54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3B5C"/>
          </a:solidFill>
          <a:ln w="0">
            <a:noFill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CF02F80-4D8D-4443-8802-B4FD9EE38E50}"/>
              </a:ext>
            </a:extLst>
          </p:cNvPr>
          <p:cNvSpPr>
            <a:spLocks noGrp="1"/>
          </p:cNvSpPr>
          <p:nvPr/>
        </p:nvSpPr>
        <p:spPr>
          <a:xfrm>
            <a:off x="704850" y="847725"/>
            <a:ext cx="1104900" cy="76200"/>
          </a:xfrm>
          <a:prstGeom prst="rect">
            <a:avLst/>
          </a:prstGeom>
          <a:solidFill>
            <a:srgbClr val="F6C400"/>
          </a:solidFill>
          <a:ln w="0">
            <a:noFill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4C2B8BE-8A92-4D40-A939-0EF6B8CCF812}"/>
              </a:ext>
            </a:extLst>
          </p:cNvPr>
          <p:cNvSpPr>
            <a:spLocks noGrp="1"/>
          </p:cNvSpPr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F6C400"/>
          </a:solidFill>
          <a:ln w="0">
            <a:noFill/>
          </a:ln>
        </p:spPr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27B0A29-4A96-4B4D-8CF5-C1470088B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191750" y="295041"/>
            <a:ext cx="1285875" cy="400518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71A1228A-631A-48B7-BFE8-C88FE260E60D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1333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5000"/>
          </a:bodyPr>
          <a:lstStyle>
            <a:defPPr>
              <a:defRPr sz="12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2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ISY1102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58AB61D-365C-4A3F-BF63-C609BE0C5581}"/>
              </a:ext>
            </a:extLst>
          </p:cNvPr>
          <p:cNvSpPr>
            <a:spLocks noGrp="1"/>
          </p:cNvSpPr>
          <p:nvPr/>
        </p:nvSpPr>
        <p:spPr>
          <a:xfrm>
            <a:off x="704850" y="1000125"/>
            <a:ext cx="91440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020"/>
          </a:bodyPr>
          <a:lstStyle>
            <a:defPPr>
              <a:defRPr sz="25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5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Trabajo de hoy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FD79EF7-5110-4661-9408-939AA7C287B1}"/>
              </a:ext>
            </a:extLst>
          </p:cNvPr>
          <p:cNvSpPr>
            <a:spLocks noGrp="1"/>
          </p:cNvSpPr>
          <p:nvPr/>
        </p:nvSpPr>
        <p:spPr>
          <a:xfrm>
            <a:off x="723900" y="158115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>
              <a:defRPr sz="135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Duración sugerida: 80 minutos por equipo.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D15059C-C7D5-4B18-AFAF-B6219DC1481D}"/>
              </a:ext>
            </a:extLst>
          </p:cNvPr>
          <p:cNvSpPr>
            <a:spLocks noGrp="1"/>
          </p:cNvSpPr>
          <p:nvPr/>
        </p:nvSpPr>
        <p:spPr>
          <a:xfrm>
            <a:off x="723900" y="644842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8333"/>
          </a:bodyPr>
          <a:lstStyle>
            <a:defPPr>
              <a:defRPr sz="9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9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Unidad 2.3  |  SonarQube y QA  |  9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A7B12AA-4404-43ED-BA33-4E2454D7FF6B}"/>
              </a:ext>
            </a:extLst>
          </p:cNvPr>
          <p:cNvSpPr>
            <a:spLocks noGrp="1"/>
          </p:cNvSpPr>
          <p:nvPr/>
        </p:nvSpPr>
        <p:spPr>
          <a:xfrm>
            <a:off x="1428750" y="2238375"/>
            <a:ext cx="8858250" cy="3143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>
              <a:defRPr sz="18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10 min  Comprender qué hallazgos muestra SonarQube</a:t>
            </a:r>
          </a:p>
          <a:p>
            <a:endParaRPr sz="1800" b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>
              <a:defRPr sz="18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15 min  Abrir el panel y observar los indicadores del proyecto</a:t>
            </a:r>
          </a:p>
          <a:p>
            <a:endParaRPr sz="1800" b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>
              <a:defRPr sz="18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25 min  Revisar dos hallazgos y seleccionar uno para documentar</a:t>
            </a:r>
          </a:p>
          <a:p>
            <a:endParaRPr sz="1800" b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>
              <a:defRPr sz="18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20 min  Relacionar el hallazgo con un caso de prueba de Atlas o Conecta+</a:t>
            </a:r>
          </a:p>
          <a:p>
            <a:endParaRPr sz="1800" b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>
              <a:defRPr sz="18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10 min  Completar la evidencia y recomendación en el Plan Maestro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AAC2C29-E1E3-40E5-A1FA-9FB26E72B3DE}"/>
              </a:ext>
            </a:extLst>
          </p:cNvPr>
          <p:cNvSpPr>
            <a:spLocks noGrp="1"/>
          </p:cNvSpPr>
          <p:nvPr/>
        </p:nvSpPr>
        <p:spPr>
          <a:xfrm>
            <a:off x="1285875" y="5810250"/>
            <a:ext cx="9525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000"/>
          </a:bodyPr>
          <a:lstStyle>
            <a:defPPr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Mientras un integrante revisa el panel, otro puede ubicar el caso de prueba relacionado en el Plan Maestro.</a:t>
            </a:r>
          </a:p>
        </p:txBody>
      </p:sp>
    </p:spTree>
    <p:extLst>
      <p:ext uri="{BB962C8B-B14F-4D97-AF65-F5344CB8AC3E}">
        <p14:creationId xmlns:p14="http://schemas.microsoft.com/office/powerpoint/2010/main" val="19652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1D10C1BB-B7D8-4BA8-B24F-C45B5E86B55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3B5C"/>
          </a:solidFill>
          <a:ln w="0">
            <a:noFill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A9FA81A-944F-430A-BBCE-1F0DBDB7222A}"/>
              </a:ext>
            </a:extLst>
          </p:cNvPr>
          <p:cNvSpPr>
            <a:spLocks noGrp="1"/>
          </p:cNvSpPr>
          <p:nvPr/>
        </p:nvSpPr>
        <p:spPr>
          <a:xfrm>
            <a:off x="704850" y="847725"/>
            <a:ext cx="1104900" cy="76200"/>
          </a:xfrm>
          <a:prstGeom prst="rect">
            <a:avLst/>
          </a:prstGeom>
          <a:solidFill>
            <a:srgbClr val="F6C400"/>
          </a:solidFill>
          <a:ln w="0">
            <a:noFill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93E4EEC-3182-4D0A-A54C-C67A93D716BF}"/>
              </a:ext>
            </a:extLst>
          </p:cNvPr>
          <p:cNvSpPr>
            <a:spLocks noGrp="1"/>
          </p:cNvSpPr>
          <p:nvPr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F6C400"/>
          </a:solidFill>
          <a:ln w="0">
            <a:noFill/>
          </a:ln>
        </p:spPr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47CFDE6-2B08-4C8E-A6F6-789ACD08D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191750" y="295041"/>
            <a:ext cx="1285875" cy="400518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5D97E75A-53EC-461D-9055-F0702809100E}"/>
              </a:ext>
            </a:extLst>
          </p:cNvPr>
          <p:cNvSpPr>
            <a:spLocks noGrp="1"/>
          </p:cNvSpPr>
          <p:nvPr/>
        </p:nvSpPr>
        <p:spPr>
          <a:xfrm>
            <a:off x="704850" y="400050"/>
            <a:ext cx="1333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5000"/>
          </a:bodyPr>
          <a:lstStyle>
            <a:defPPr>
              <a:defRPr sz="12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2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ISY1102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1F8C018-B14F-4FF5-AC89-1AB8941187FB}"/>
              </a:ext>
            </a:extLst>
          </p:cNvPr>
          <p:cNvSpPr>
            <a:spLocks noGrp="1"/>
          </p:cNvSpPr>
          <p:nvPr/>
        </p:nvSpPr>
        <p:spPr>
          <a:xfrm>
            <a:off x="704850" y="1000125"/>
            <a:ext cx="91440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020"/>
          </a:bodyPr>
          <a:lstStyle>
            <a:defPPr>
              <a:defRPr sz="25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5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Qué puede y qué no puede confirmar SonarQube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39CE0CA-A76D-4437-A6D6-2AC45590E67A}"/>
              </a:ext>
            </a:extLst>
          </p:cNvPr>
          <p:cNvSpPr>
            <a:spLocks noGrp="1"/>
          </p:cNvSpPr>
          <p:nvPr/>
        </p:nvSpPr>
        <p:spPr>
          <a:xfrm>
            <a:off x="723900" y="158115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>
              <a:defRPr sz="135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Comprender este límite evita confundir análisis de código con pruebas de uso.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FBC4827-CAA8-42F6-B8D1-3A009F953F39}"/>
              </a:ext>
            </a:extLst>
          </p:cNvPr>
          <p:cNvSpPr>
            <a:spLocks noGrp="1"/>
          </p:cNvSpPr>
          <p:nvPr/>
        </p:nvSpPr>
        <p:spPr>
          <a:xfrm>
            <a:off x="723900" y="644842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8333"/>
          </a:bodyPr>
          <a:lstStyle>
            <a:defPPr>
              <a:defRPr sz="9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9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Unidad 2.3  |  SonarQube y QA  |  10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BE71793-EEB8-4FC8-93C8-1DCF51302DCE}"/>
              </a:ext>
            </a:extLst>
          </p:cNvPr>
          <p:cNvSpPr>
            <a:spLocks noGrp="1"/>
          </p:cNvSpPr>
          <p:nvPr/>
        </p:nvSpPr>
        <p:spPr>
          <a:xfrm>
            <a:off x="1000125" y="2333625"/>
            <a:ext cx="41910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4667"/>
          </a:bodyPr>
          <a:lstStyle>
            <a:defPPr>
              <a:defRPr sz="187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SonarQube ayuda a identificar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54DDABB-E582-4A42-86DE-FBE693F546E4}"/>
              </a:ext>
            </a:extLst>
          </p:cNvPr>
          <p:cNvSpPr>
            <a:spLocks noGrp="1"/>
          </p:cNvSpPr>
          <p:nvPr/>
        </p:nvSpPr>
        <p:spPr>
          <a:xfrm>
            <a:off x="1000125" y="2905125"/>
            <a:ext cx="4143375" cy="1905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Riesgos en el código</a:t>
            </a:r>
          </a:p>
          <a:p>
            <a:pPr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Partes difíciles de mantener</a:t>
            </a:r>
          </a:p>
          <a:p>
            <a:pPr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Señales de seguridad que requieren revisión</a:t>
            </a:r>
          </a:p>
          <a:p>
            <a:pPr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Información para priorizar pruebas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6724214-B719-4096-925E-DFD422073222}"/>
              </a:ext>
            </a:extLst>
          </p:cNvPr>
          <p:cNvSpPr>
            <a:spLocks noGrp="1"/>
          </p:cNvSpPr>
          <p:nvPr/>
        </p:nvSpPr>
        <p:spPr>
          <a:xfrm>
            <a:off x="6572250" y="2333625"/>
            <a:ext cx="4000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4667"/>
          </a:bodyPr>
          <a:lstStyle>
            <a:defPPr>
              <a:defRPr sz="187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QA debe confirmar además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EA2F30A-DFA8-4E66-91E9-FA0A39470BB7}"/>
              </a:ext>
            </a:extLst>
          </p:cNvPr>
          <p:cNvSpPr>
            <a:spLocks noGrp="1"/>
          </p:cNvSpPr>
          <p:nvPr/>
        </p:nvSpPr>
        <p:spPr>
          <a:xfrm>
            <a:off x="6572250" y="2905125"/>
            <a:ext cx="3952875" cy="1905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>
            <a:defPPr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Que los flujos funcionen</a:t>
            </a:r>
          </a:p>
          <a:p>
            <a:pPr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Que los datos se validen</a:t>
            </a:r>
          </a:p>
          <a:p>
            <a:pPr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Que los permisos se respeten</a:t>
            </a:r>
          </a:p>
          <a:p>
            <a:pPr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Que el usuario reciba el resultado esperado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AF2A3F5-A87B-4BAF-B895-B5006D3FE583}"/>
              </a:ext>
            </a:extLst>
          </p:cNvPr>
          <p:cNvSpPr>
            <a:spLocks noGrp="1"/>
          </p:cNvSpPr>
          <p:nvPr/>
        </p:nvSpPr>
        <p:spPr>
          <a:xfrm>
            <a:off x="1190625" y="5715000"/>
            <a:ext cx="9715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848"/>
          </a:bodyPr>
          <a:lstStyle>
            <a:defPPr>
              <a:defRPr sz="16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La mejor evidencia combina los hallazgos del código con los resultados de ejecución del sistema.</a:t>
            </a:r>
          </a:p>
        </p:txBody>
      </p:sp>
    </p:spTree>
    <p:extLst>
      <p:ext uri="{BB962C8B-B14F-4D97-AF65-F5344CB8AC3E}">
        <p14:creationId xmlns:p14="http://schemas.microsoft.com/office/powerpoint/2010/main" val="166987494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904</Words>
  <Application>Microsoft Office PowerPoint</Application>
  <DocSecurity>0</DocSecurity>
  <PresentationFormat>Panorámica</PresentationFormat>
  <Paragraphs>121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2" baseType="lpstr">
      <vt:lpstr>Aptos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Luis Yagi</cp:lastModifiedBy>
  <cp:revision>1</cp:revision>
  <dcterms:created xsi:type="dcterms:W3CDTF">2026-10-13T12:41:33Z</dcterms:created>
  <dcterms:modified xsi:type="dcterms:W3CDTF">2026-10-13T13:20:58Z</dcterms:modified>
</cp:coreProperties>
</file>